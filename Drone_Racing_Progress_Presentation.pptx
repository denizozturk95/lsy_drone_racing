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9" r:id="rId2"/>
    <p:sldId id="260" r:id="rId3"/>
    <p:sldId id="261" r:id="rId4"/>
    <p:sldId id="262" r:id="rId5"/>
    <p:sldId id="265"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86013" autoAdjust="0"/>
  </p:normalViewPr>
  <p:slideViewPr>
    <p:cSldViewPr snapToGrid="0">
      <p:cViewPr varScale="1">
        <p:scale>
          <a:sx n="67" d="100"/>
          <a:sy n="67" d="100"/>
        </p:scale>
        <p:origin x="1176" y="62"/>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30948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Good afternoon</a:t>
            </a:r>
            <a:r>
              <a:rPr lang="tr-TR" dirty="0"/>
              <a:t> </a:t>
            </a:r>
            <a:r>
              <a:rPr lang="tr-TR" dirty="0" err="1"/>
              <a:t>everybody</a:t>
            </a:r>
            <a:r>
              <a:rPr lang="tr-TR" dirty="0"/>
              <a:t>. My name is Arda </a:t>
            </a:r>
            <a:r>
              <a:rPr lang="tr-TR" dirty="0" err="1"/>
              <a:t>and</a:t>
            </a:r>
            <a:r>
              <a:rPr lang="tr-TR" dirty="0"/>
              <a:t> </a:t>
            </a:r>
            <a:r>
              <a:rPr lang="tr-TR" dirty="0" err="1"/>
              <a:t>this</a:t>
            </a:r>
            <a:r>
              <a:rPr lang="tr-TR" dirty="0"/>
              <a:t> is </a:t>
            </a:r>
            <a:r>
              <a:rPr lang="tr-TR" dirty="0" err="1"/>
              <a:t>my</a:t>
            </a:r>
            <a:r>
              <a:rPr lang="tr-TR" dirty="0"/>
              <a:t> </a:t>
            </a:r>
            <a:r>
              <a:rPr lang="tr-TR" dirty="0" err="1"/>
              <a:t>team</a:t>
            </a:r>
            <a:r>
              <a:rPr lang="tr-TR" dirty="0"/>
              <a:t> </a:t>
            </a:r>
            <a:r>
              <a:rPr lang="tr-TR" dirty="0" err="1"/>
              <a:t>mate</a:t>
            </a:r>
            <a:r>
              <a:rPr lang="tr-TR" dirty="0"/>
              <a:t> Deniz. </a:t>
            </a:r>
            <a:r>
              <a:rPr lang="tr-TR" dirty="0" err="1"/>
              <a:t>Today</a:t>
            </a:r>
            <a:r>
              <a:rPr lang="tr-TR" dirty="0"/>
              <a:t> </a:t>
            </a:r>
            <a:r>
              <a:rPr lang="tr-TR" dirty="0" err="1"/>
              <a:t>we</a:t>
            </a:r>
            <a:r>
              <a:rPr lang="tr-TR" dirty="0"/>
              <a:t> </a:t>
            </a:r>
            <a:r>
              <a:rPr lang="tr-TR" dirty="0" err="1"/>
              <a:t>are</a:t>
            </a:r>
            <a:r>
              <a:rPr lang="tr-TR" dirty="0"/>
              <a:t> </a:t>
            </a:r>
            <a:r>
              <a:rPr lang="tr-TR" dirty="0" err="1"/>
              <a:t>going</a:t>
            </a:r>
            <a:r>
              <a:rPr lang="tr-TR" dirty="0"/>
              <a:t> </a:t>
            </a:r>
            <a:r>
              <a:rPr lang="tr-TR" dirty="0" err="1"/>
              <a:t>to</a:t>
            </a:r>
            <a:r>
              <a:rPr lang="tr-TR" dirty="0"/>
              <a:t> talk </a:t>
            </a:r>
            <a:r>
              <a:rPr lang="tr-TR" dirty="0" err="1"/>
              <a:t>about</a:t>
            </a:r>
            <a:r>
              <a:rPr lang="tr-TR" dirty="0"/>
              <a:t> </a:t>
            </a:r>
            <a:r>
              <a:rPr lang="tr-TR" dirty="0" err="1"/>
              <a:t>the</a:t>
            </a:r>
            <a:r>
              <a:rPr lang="tr-TR" dirty="0"/>
              <a:t> </a:t>
            </a:r>
            <a:r>
              <a:rPr lang="tr-TR" dirty="0" err="1"/>
              <a:t>methodology</a:t>
            </a:r>
            <a:r>
              <a:rPr lang="tr-TR" dirty="0"/>
              <a:t> </a:t>
            </a:r>
            <a:r>
              <a:rPr lang="tr-TR" dirty="0" err="1"/>
              <a:t>and</a:t>
            </a:r>
            <a:r>
              <a:rPr lang="tr-TR" dirty="0"/>
              <a:t> </a:t>
            </a:r>
            <a:r>
              <a:rPr lang="tr-TR" dirty="0" err="1"/>
              <a:t>progress</a:t>
            </a:r>
            <a:r>
              <a:rPr lang="tr-TR" dirty="0"/>
              <a:t> of </a:t>
            </a:r>
            <a:r>
              <a:rPr lang="tr-TR" dirty="0" err="1"/>
              <a:t>our</a:t>
            </a:r>
            <a:r>
              <a:rPr lang="tr-TR" dirty="0"/>
              <a:t> Project.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a:t>Here is the whole system in one line. First, an honest scoping: the course gives every team the simulator, the environment, the observation-action interface, and an empty base controller -- the grey boxes. None of that is ours. What we built sits on top: the online spline planner and the cascaded-PID tracker -- the green boxes. The loop is simple but unforgiving: every 20 milliseconds we read the state, plan, track, and output an attitude command -- roll, pitch, yaw, thrust. The data that drives it is in the blue box: our own pose, the target-gate index, and the gate and obstacle poses, revealed within a 0.7-metre sensor range. The key constraint: the gate opening gives only a 20-centimetre half-width margin, so a few </a:t>
            </a:r>
            <a:r>
              <a:rPr sz="1200" dirty="0" err="1"/>
              <a:t>centimetres</a:t>
            </a:r>
            <a:r>
              <a:rPr sz="1200" dirty="0"/>
              <a:t> of error means a destroyed rotor. We chose planner-plus-PID for one reason: simple and robust on real hardware, no fragile online </a:t>
            </a:r>
            <a:r>
              <a:rPr sz="1200" dirty="0" err="1"/>
              <a:t>optimisation</a:t>
            </a:r>
            <a:r>
              <a:rPr sz="1200" dirty="0"/>
              <a:t> in the loop.  [~60 s — Presenter A]</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Now, how does it actually fly? We build one smooth cubic spline through all the remaining gates -- that gives a position, velocity, and acceleration reference at any time. We track it with a cascaded PID: the outer loop turns position error into a velocity target; the inner loop turns velocity error into a force command, with anti-windup and a filtered derivative for stability. We add feedforward -- sixty percent of the reference acceleration plus gravity -- and convert that force vector into the attitude command. We look 0.20 seconds ahead on the spline so we do not cut corners. The command runs at 50 hertz, the inner attitude loop at 500. Cruise speeds: 1.4 </a:t>
            </a:r>
            <a:r>
              <a:rPr dirty="0" err="1"/>
              <a:t>metres</a:t>
            </a:r>
            <a:r>
              <a:rPr dirty="0"/>
              <a:t> per second near gates, 1.6 between them, capped at 1.9. Why PID and not MPC? Robustness -- our </a:t>
            </a:r>
            <a:r>
              <a:rPr dirty="0" err="1"/>
              <a:t>acados</a:t>
            </a:r>
            <a:r>
              <a:rPr dirty="0"/>
              <a:t> MPC build does not run on the deployment machine, and a controller that always runs beats one that is optimal on paper. With that, I hand over to my colleague.  [~65 s — Presenter A]</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Thanks. So how does the drone see the track? Because we measure the whole course beforehand with the Vicon motion-capture system, the poses are known from the start -- the drone plans straight through all gates, no blind searching. The 0.7-metre sensor range reveals a gate's true pose up close; here it simply confirms what we already measured. The clever part is obstacle handling. A gate frame has solid bars on each side of the opening, so for every gate we inject two virtual obstacle columns, 30 </a:t>
            </a:r>
            <a:r>
              <a:rPr dirty="0" err="1"/>
              <a:t>centimetres</a:t>
            </a:r>
            <a:r>
              <a:rPr dirty="0"/>
              <a:t> to each side. The planner treats them as no-go zones, which funnels the line cleanly through the </a:t>
            </a:r>
            <a:r>
              <a:rPr dirty="0" err="1"/>
              <a:t>centre</a:t>
            </a:r>
            <a:r>
              <a:rPr dirty="0"/>
              <a:t> instead of clipping a bar. We re-plan globally only if an observed pose drifts more than 5 </a:t>
            </a:r>
            <a:r>
              <a:rPr dirty="0" err="1"/>
              <a:t>centimetres</a:t>
            </a:r>
            <a:r>
              <a:rPr dirty="0"/>
              <a:t>. One segment is consistently the hardest -- the sharp U-turn at gate 2 -- and that is exactly the story of our progress.  [~55 s — Presenter B]</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8B2C8-28D6-DC60-2062-8D6FC5ED47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ED1378-83D0-9044-D912-53E5E377F68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D876B24-7296-C741-C837-20013E560AD7}"/>
              </a:ext>
            </a:extLst>
          </p:cNvPr>
          <p:cNvSpPr>
            <a:spLocks noGrp="1"/>
          </p:cNvSpPr>
          <p:nvPr>
            <p:ph type="body" sz="quarter" idx="3"/>
          </p:nvPr>
        </p:nvSpPr>
        <p:spPr/>
        <p:txBody>
          <a:bodyPr/>
          <a:lstStyle/>
          <a:p>
            <a:r>
              <a:t>Finally, the plan. Three milestones. First, Member A generalises the gate-2 fix into automatic per-gate calibration -- probe the lag at all four gates, keep the max miss under 5 centimetres. Second, Member B replaces the static bias with iterative learning control that cancels the lag every lap and reclaims the roughly 0.8 seconds still locked up in the U-turn, while staying at 100 percent. Third, together, we harden the truly-blind random-track case, still only around 40 percent, targeting 70. Reviving the acados MPC is a stretch goal. Note: the names and dates here are placeholders for us to finalise. Thank you -- happy to take questions.  [~40 s — Presenter B]</a:t>
            </a:r>
          </a:p>
        </p:txBody>
      </p:sp>
      <p:sp>
        <p:nvSpPr>
          <p:cNvPr id="4" name="Slide Number Placeholder 3">
            <a:extLst>
              <a:ext uri="{FF2B5EF4-FFF2-40B4-BE49-F238E27FC236}">
                <a16:creationId xmlns:a16="http://schemas.microsoft.com/office/drawing/2014/main" id="{EAC25B54-F8D3-C609-97C3-81C1415ED5BE}"/>
              </a:ext>
            </a:extLst>
          </p:cNvPr>
          <p:cNvSpPr>
            <a:spLocks noGrp="1"/>
          </p:cNvSpPr>
          <p:nvPr>
            <p:ph type="sldNum" sz="quarter" idx="5"/>
          </p:nvPr>
        </p:nvSpPr>
        <p:spPr/>
      </p:sp>
    </p:spTree>
    <p:extLst>
      <p:ext uri="{BB962C8B-B14F-4D97-AF65-F5344CB8AC3E}">
        <p14:creationId xmlns:p14="http://schemas.microsoft.com/office/powerpoint/2010/main" val="25537315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the plan. Three milestones. First, Member A generalises the gate-2 fix into automatic per-gate calibration -- probe the lag at all four gates, keep the max miss under 5 centimetres. Second, Member B replaces the static bias with iterative learning control that cancels the lag every lap and reclaims the roughly 0.8 seconds still locked up in the U-turn, while staying at 100 percent. Third, together, we harden the truly-blind random-track case, still only around 40 percent, targeting 70. Reviving the acados MPC is a stretch goal. Note: the names and dates here are placeholders for us to finalise. Thank you -- happy to take questions.  [~40 s — Presenter B]</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folie_LSY">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4" name="Line 3">
            <a:extLst>
              <a:ext uri="{FF2B5EF4-FFF2-40B4-BE49-F238E27FC236}">
                <a16:creationId xmlns:a16="http://schemas.microsoft.com/office/drawing/2014/main" id="{332D703C-206C-9013-9F25-15D75630A722}"/>
              </a:ext>
            </a:extLst>
          </p:cNvPr>
          <p:cNvSpPr>
            <a:spLocks noChangeShapeType="1"/>
          </p:cNvSpPr>
          <p:nvPr/>
        </p:nvSpPr>
        <p:spPr bwMode="auto">
          <a:xfrm rot="10800000" flipH="1">
            <a:off x="552244" y="2867524"/>
            <a:ext cx="10958652" cy="0"/>
          </a:xfrm>
          <a:prstGeom prst="line">
            <a:avLst/>
          </a:prstGeom>
          <a:noFill/>
          <a:ln w="38100">
            <a:gradFill flip="none" rotWithShape="1">
              <a:gsLst>
                <a:gs pos="0">
                  <a:schemeClr val="bg1"/>
                </a:gs>
                <a:gs pos="64000">
                  <a:srgbClr val="7AB51D"/>
                </a:gs>
              </a:gsLst>
              <a:lin ang="10800000" scaled="1"/>
              <a:tileRect/>
            </a:gradFill>
            <a:miter lim="800000"/>
            <a:headEnd/>
            <a:tailEnd/>
          </a:ln>
          <a:effectLst>
            <a:softEdge rad="0"/>
          </a:effectLst>
        </p:spPr>
        <p:txBody>
          <a:bodyPr lIns="0" tIns="0" rIns="0" bIns="0">
            <a:prstTxWarp prst="textNoShape">
              <a:avLst/>
            </a:prstTxWarp>
          </a:bodyPr>
          <a:lstStyle/>
          <a:p>
            <a:pPr>
              <a:defRPr/>
            </a:pPr>
            <a:endParaRPr lang="en-US" sz="1266" b="1">
              <a:latin typeface="Calibri" panose="020F0502020204030204" pitchFamily="34" charset="0"/>
            </a:endParaRPr>
          </a:p>
        </p:txBody>
      </p:sp>
      <p:pic>
        <p:nvPicPr>
          <p:cNvPr id="5" name="Picture 13">
            <a:extLst>
              <a:ext uri="{FF2B5EF4-FFF2-40B4-BE49-F238E27FC236}">
                <a16:creationId xmlns:a16="http://schemas.microsoft.com/office/drawing/2014/main" id="{5112925D-60A9-ED3F-9E7E-67890E2D0B8F}"/>
              </a:ext>
            </a:extLst>
          </p:cNvPr>
          <p:cNvPicPr>
            <a:picLocks noChangeAspect="1"/>
          </p:cNvPicPr>
          <p:nvPr/>
        </p:nvPicPr>
        <p:blipFill>
          <a:blip r:embed="rId2"/>
          <a:srcRect/>
          <a:stretch/>
        </p:blipFill>
        <p:spPr>
          <a:xfrm>
            <a:off x="10167870" y="4926526"/>
            <a:ext cx="1968195" cy="1931474"/>
          </a:xfrm>
          <a:prstGeom prst="rect">
            <a:avLst/>
          </a:prstGeom>
        </p:spPr>
      </p:pic>
      <p:pic>
        <p:nvPicPr>
          <p:cNvPr id="6" name="Picture 11" descr="A blue and black rectangles&#10;&#10;Description automatically generated with low confidence">
            <a:extLst>
              <a:ext uri="{FF2B5EF4-FFF2-40B4-BE49-F238E27FC236}">
                <a16:creationId xmlns:a16="http://schemas.microsoft.com/office/drawing/2014/main" id="{095E8400-2D38-B2FA-8821-543D2A733C57}"/>
              </a:ext>
            </a:extLst>
          </p:cNvPr>
          <p:cNvPicPr>
            <a:picLocks noChangeAspect="1"/>
          </p:cNvPicPr>
          <p:nvPr/>
        </p:nvPicPr>
        <p:blipFill>
          <a:blip r:embed="rId3"/>
          <a:stretch>
            <a:fillRect/>
          </a:stretch>
        </p:blipFill>
        <p:spPr>
          <a:xfrm>
            <a:off x="552244" y="5780200"/>
            <a:ext cx="1538189" cy="799137"/>
          </a:xfrm>
          <a:prstGeom prst="rect">
            <a:avLst/>
          </a:prstGeom>
        </p:spPr>
      </p:pic>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494188" y="1787523"/>
            <a:ext cx="11520000" cy="1080000"/>
          </a:xfrm>
          <a:prstGeom prst="rect">
            <a:avLst/>
          </a:prstGeom>
        </p:spPr>
        <p:txBody>
          <a:bodyPr anchor="b">
            <a:noAutofit/>
          </a:bodyPr>
          <a:lstStyle>
            <a:lvl1pPr>
              <a:defRPr sz="3200">
                <a:solidFill>
                  <a:schemeClr val="tx1">
                    <a:lumMod val="65000"/>
                    <a:lumOff val="35000"/>
                  </a:schemeClr>
                </a:solidFill>
              </a:defRPr>
            </a:lvl1pPr>
          </a:lstStyle>
          <a:p>
            <a:r>
              <a:rPr lang="de-DE"/>
              <a:t>Mastertitelformat bearbeiten</a:t>
            </a:r>
            <a:endParaRPr lang="de-DE" dirty="0"/>
          </a:p>
        </p:txBody>
      </p:sp>
      <p:sp>
        <p:nvSpPr>
          <p:cNvPr id="10" name="Inhaltsplatzhalter 9">
            <a:extLst>
              <a:ext uri="{FF2B5EF4-FFF2-40B4-BE49-F238E27FC236}">
                <a16:creationId xmlns:a16="http://schemas.microsoft.com/office/drawing/2014/main" id="{D4C5DFDD-7F34-717D-AEF3-A18C4F2AB5AB}"/>
              </a:ext>
            </a:extLst>
          </p:cNvPr>
          <p:cNvSpPr>
            <a:spLocks noGrp="1"/>
          </p:cNvSpPr>
          <p:nvPr>
            <p:ph sz="quarter" idx="10" hasCustomPrompt="1"/>
          </p:nvPr>
        </p:nvSpPr>
        <p:spPr>
          <a:xfrm>
            <a:off x="494188" y="2972414"/>
            <a:ext cx="11520000" cy="312936"/>
          </a:xfrm>
        </p:spPr>
        <p:txBody>
          <a:bodyPr>
            <a:noAutofit/>
          </a:bodyPr>
          <a:lstStyle>
            <a:lvl1pPr marL="0" indent="0">
              <a:buNone/>
              <a:defRPr sz="2000" i="1">
                <a:latin typeface="+mn-lt"/>
              </a:defRPr>
            </a:lvl1pPr>
          </a:lstStyle>
          <a:p>
            <a:pPr lvl="0"/>
            <a:r>
              <a:rPr lang="de-DE" dirty="0" err="1"/>
              <a:t>Subtitle</a:t>
            </a:r>
            <a:endParaRPr lang="de-DE" dirty="0"/>
          </a:p>
        </p:txBody>
      </p:sp>
      <p:sp>
        <p:nvSpPr>
          <p:cNvPr id="11" name="Inhaltsplatzhalter 9">
            <a:extLst>
              <a:ext uri="{FF2B5EF4-FFF2-40B4-BE49-F238E27FC236}">
                <a16:creationId xmlns:a16="http://schemas.microsoft.com/office/drawing/2014/main" id="{6447E8E3-03B3-CD18-A5BB-BDEE17125F72}"/>
              </a:ext>
            </a:extLst>
          </p:cNvPr>
          <p:cNvSpPr>
            <a:spLocks noGrp="1"/>
          </p:cNvSpPr>
          <p:nvPr>
            <p:ph sz="quarter" idx="11" hasCustomPrompt="1"/>
          </p:nvPr>
        </p:nvSpPr>
        <p:spPr>
          <a:xfrm>
            <a:off x="494188" y="3325925"/>
            <a:ext cx="11520000" cy="312936"/>
          </a:xfrm>
        </p:spPr>
        <p:txBody>
          <a:bodyPr>
            <a:noAutofit/>
          </a:bodyPr>
          <a:lstStyle>
            <a:lvl1pPr marL="0" indent="0">
              <a:buNone/>
              <a:defRPr sz="2000" i="0">
                <a:latin typeface="+mn-lt"/>
              </a:defRPr>
            </a:lvl1pPr>
          </a:lstStyle>
          <a:p>
            <a:pPr lvl="0"/>
            <a:r>
              <a:rPr lang="de-DE" dirty="0"/>
              <a:t>Date</a:t>
            </a:r>
          </a:p>
        </p:txBody>
      </p:sp>
      <p:sp>
        <p:nvSpPr>
          <p:cNvPr id="12" name="Inhaltsplatzhalter 9">
            <a:extLst>
              <a:ext uri="{FF2B5EF4-FFF2-40B4-BE49-F238E27FC236}">
                <a16:creationId xmlns:a16="http://schemas.microsoft.com/office/drawing/2014/main" id="{90B7E13C-6AED-A96A-DFFD-29A7DF10E4E3}"/>
              </a:ext>
            </a:extLst>
          </p:cNvPr>
          <p:cNvSpPr>
            <a:spLocks noGrp="1"/>
          </p:cNvSpPr>
          <p:nvPr>
            <p:ph sz="quarter" idx="12" hasCustomPrompt="1"/>
          </p:nvPr>
        </p:nvSpPr>
        <p:spPr>
          <a:xfrm>
            <a:off x="494188" y="4297363"/>
            <a:ext cx="11520000" cy="312936"/>
          </a:xfrm>
        </p:spPr>
        <p:txBody>
          <a:bodyPr>
            <a:noAutofit/>
          </a:bodyPr>
          <a:lstStyle>
            <a:lvl1pPr marL="0" indent="0">
              <a:buNone/>
              <a:defRPr sz="2000" i="0">
                <a:latin typeface="+mn-lt"/>
              </a:defRPr>
            </a:lvl1pPr>
          </a:lstStyle>
          <a:p>
            <a:pPr lvl="0"/>
            <a:r>
              <a:rPr lang="de-DE" dirty="0" err="1"/>
              <a:t>Your</a:t>
            </a:r>
            <a:r>
              <a:rPr lang="de-DE" dirty="0"/>
              <a:t> Name</a:t>
            </a:r>
          </a:p>
        </p:txBody>
      </p:sp>
      <p:sp>
        <p:nvSpPr>
          <p:cNvPr id="14" name="Textfeld 13">
            <a:extLst>
              <a:ext uri="{FF2B5EF4-FFF2-40B4-BE49-F238E27FC236}">
                <a16:creationId xmlns:a16="http://schemas.microsoft.com/office/drawing/2014/main" id="{CEA38894-2CF7-EB1B-6E8A-7395C31C1928}"/>
              </a:ext>
            </a:extLst>
          </p:cNvPr>
          <p:cNvSpPr txBox="1"/>
          <p:nvPr/>
        </p:nvSpPr>
        <p:spPr>
          <a:xfrm>
            <a:off x="494188" y="4618947"/>
            <a:ext cx="11520000" cy="400110"/>
          </a:xfrm>
          <a:prstGeom prst="rect">
            <a:avLst/>
          </a:prstGeom>
          <a:noFill/>
        </p:spPr>
        <p:txBody>
          <a:bodyPr wrap="square" rtlCol="0">
            <a:spAutoFit/>
          </a:bodyPr>
          <a:lstStyle/>
          <a:p>
            <a:r>
              <a:rPr lang="de-DE" sz="2000" i="1" dirty="0">
                <a:solidFill>
                  <a:schemeClr val="tx1">
                    <a:lumMod val="65000"/>
                    <a:lumOff val="35000"/>
                  </a:schemeClr>
                </a:solidFill>
              </a:rPr>
              <a:t>Learning Systems and Robotics Laboratory</a:t>
            </a:r>
          </a:p>
        </p:txBody>
      </p:sp>
    </p:spTree>
    <p:extLst>
      <p:ext uri="{BB962C8B-B14F-4D97-AF65-F5344CB8AC3E}">
        <p14:creationId xmlns:p14="http://schemas.microsoft.com/office/powerpoint/2010/main" val="35146661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folie_Chai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4" name="Line 3">
            <a:extLst>
              <a:ext uri="{FF2B5EF4-FFF2-40B4-BE49-F238E27FC236}">
                <a16:creationId xmlns:a16="http://schemas.microsoft.com/office/drawing/2014/main" id="{332D703C-206C-9013-9F25-15D75630A722}"/>
              </a:ext>
            </a:extLst>
          </p:cNvPr>
          <p:cNvSpPr>
            <a:spLocks noChangeShapeType="1"/>
          </p:cNvSpPr>
          <p:nvPr/>
        </p:nvSpPr>
        <p:spPr bwMode="auto">
          <a:xfrm rot="10800000" flipH="1">
            <a:off x="552244" y="2867524"/>
            <a:ext cx="10958652" cy="0"/>
          </a:xfrm>
          <a:prstGeom prst="line">
            <a:avLst/>
          </a:prstGeom>
          <a:noFill/>
          <a:ln w="38100">
            <a:gradFill flip="none" rotWithShape="1">
              <a:gsLst>
                <a:gs pos="0">
                  <a:schemeClr val="bg1"/>
                </a:gs>
                <a:gs pos="64000">
                  <a:srgbClr val="7AB51D"/>
                </a:gs>
              </a:gsLst>
              <a:lin ang="10800000" scaled="1"/>
              <a:tileRect/>
            </a:gradFill>
            <a:miter lim="800000"/>
            <a:headEnd/>
            <a:tailEnd/>
          </a:ln>
          <a:effectLst>
            <a:softEdge rad="0"/>
          </a:effectLst>
        </p:spPr>
        <p:txBody>
          <a:bodyPr lIns="0" tIns="0" rIns="0" bIns="0">
            <a:prstTxWarp prst="textNoShape">
              <a:avLst/>
            </a:prstTxWarp>
          </a:bodyPr>
          <a:lstStyle/>
          <a:p>
            <a:pPr>
              <a:defRPr/>
            </a:pPr>
            <a:endParaRPr lang="en-US" sz="1266" b="1">
              <a:latin typeface="Calibri" panose="020F0502020204030204" pitchFamily="34" charset="0"/>
            </a:endParaRPr>
          </a:p>
        </p:txBody>
      </p:sp>
      <p:pic>
        <p:nvPicPr>
          <p:cNvPr id="5" name="Picture 13">
            <a:extLst>
              <a:ext uri="{FF2B5EF4-FFF2-40B4-BE49-F238E27FC236}">
                <a16:creationId xmlns:a16="http://schemas.microsoft.com/office/drawing/2014/main" id="{5112925D-60A9-ED3F-9E7E-67890E2D0B8F}"/>
              </a:ext>
            </a:extLst>
          </p:cNvPr>
          <p:cNvPicPr>
            <a:picLocks noChangeAspect="1"/>
          </p:cNvPicPr>
          <p:nvPr/>
        </p:nvPicPr>
        <p:blipFill>
          <a:blip r:embed="rId2"/>
          <a:srcRect/>
          <a:stretch/>
        </p:blipFill>
        <p:spPr>
          <a:xfrm>
            <a:off x="10167870" y="4926526"/>
            <a:ext cx="1968195" cy="1931474"/>
          </a:xfrm>
          <a:prstGeom prst="rect">
            <a:avLst/>
          </a:prstGeom>
        </p:spPr>
      </p:pic>
      <p:pic>
        <p:nvPicPr>
          <p:cNvPr id="6" name="Picture 11" descr="A blue and black rectangles&#10;&#10;Description automatically generated with low confidence">
            <a:extLst>
              <a:ext uri="{FF2B5EF4-FFF2-40B4-BE49-F238E27FC236}">
                <a16:creationId xmlns:a16="http://schemas.microsoft.com/office/drawing/2014/main" id="{095E8400-2D38-B2FA-8821-543D2A733C57}"/>
              </a:ext>
            </a:extLst>
          </p:cNvPr>
          <p:cNvPicPr>
            <a:picLocks noChangeAspect="1"/>
          </p:cNvPicPr>
          <p:nvPr/>
        </p:nvPicPr>
        <p:blipFill>
          <a:blip r:embed="rId3"/>
          <a:stretch>
            <a:fillRect/>
          </a:stretch>
        </p:blipFill>
        <p:spPr>
          <a:xfrm>
            <a:off x="552244" y="5780200"/>
            <a:ext cx="1538189" cy="799137"/>
          </a:xfrm>
          <a:prstGeom prst="rect">
            <a:avLst/>
          </a:prstGeom>
        </p:spPr>
      </p:pic>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494188" y="1787523"/>
            <a:ext cx="11520000" cy="1080000"/>
          </a:xfrm>
          <a:prstGeom prst="rect">
            <a:avLst/>
          </a:prstGeom>
        </p:spPr>
        <p:txBody>
          <a:bodyPr anchor="b">
            <a:noAutofit/>
          </a:bodyPr>
          <a:lstStyle>
            <a:lvl1pPr>
              <a:defRPr sz="3200">
                <a:solidFill>
                  <a:schemeClr val="tx1">
                    <a:lumMod val="65000"/>
                    <a:lumOff val="35000"/>
                  </a:schemeClr>
                </a:solidFill>
              </a:defRPr>
            </a:lvl1pPr>
          </a:lstStyle>
          <a:p>
            <a:r>
              <a:rPr lang="de-DE"/>
              <a:t>Mastertitelformat bearbeiten</a:t>
            </a:r>
            <a:endParaRPr lang="de-DE" dirty="0"/>
          </a:p>
        </p:txBody>
      </p:sp>
      <p:sp>
        <p:nvSpPr>
          <p:cNvPr id="10" name="Inhaltsplatzhalter 9">
            <a:extLst>
              <a:ext uri="{FF2B5EF4-FFF2-40B4-BE49-F238E27FC236}">
                <a16:creationId xmlns:a16="http://schemas.microsoft.com/office/drawing/2014/main" id="{D4C5DFDD-7F34-717D-AEF3-A18C4F2AB5AB}"/>
              </a:ext>
            </a:extLst>
          </p:cNvPr>
          <p:cNvSpPr>
            <a:spLocks noGrp="1"/>
          </p:cNvSpPr>
          <p:nvPr>
            <p:ph sz="quarter" idx="10" hasCustomPrompt="1"/>
          </p:nvPr>
        </p:nvSpPr>
        <p:spPr>
          <a:xfrm>
            <a:off x="494188" y="2972414"/>
            <a:ext cx="11520000" cy="312936"/>
          </a:xfrm>
        </p:spPr>
        <p:txBody>
          <a:bodyPr>
            <a:noAutofit/>
          </a:bodyPr>
          <a:lstStyle>
            <a:lvl1pPr marL="0" indent="0">
              <a:buNone/>
              <a:defRPr sz="2000" i="1">
                <a:latin typeface="+mn-lt"/>
              </a:defRPr>
            </a:lvl1pPr>
          </a:lstStyle>
          <a:p>
            <a:pPr lvl="0"/>
            <a:r>
              <a:rPr lang="de-DE" dirty="0" err="1"/>
              <a:t>Subtitle</a:t>
            </a:r>
            <a:endParaRPr lang="de-DE" dirty="0"/>
          </a:p>
        </p:txBody>
      </p:sp>
      <p:sp>
        <p:nvSpPr>
          <p:cNvPr id="11" name="Inhaltsplatzhalter 9">
            <a:extLst>
              <a:ext uri="{FF2B5EF4-FFF2-40B4-BE49-F238E27FC236}">
                <a16:creationId xmlns:a16="http://schemas.microsoft.com/office/drawing/2014/main" id="{6447E8E3-03B3-CD18-A5BB-BDEE17125F72}"/>
              </a:ext>
            </a:extLst>
          </p:cNvPr>
          <p:cNvSpPr>
            <a:spLocks noGrp="1"/>
          </p:cNvSpPr>
          <p:nvPr>
            <p:ph sz="quarter" idx="11" hasCustomPrompt="1"/>
          </p:nvPr>
        </p:nvSpPr>
        <p:spPr>
          <a:xfrm>
            <a:off x="494188" y="3325925"/>
            <a:ext cx="11520000" cy="312936"/>
          </a:xfrm>
        </p:spPr>
        <p:txBody>
          <a:bodyPr>
            <a:noAutofit/>
          </a:bodyPr>
          <a:lstStyle>
            <a:lvl1pPr marL="0" indent="0">
              <a:buNone/>
              <a:defRPr sz="2000" i="0">
                <a:latin typeface="+mn-lt"/>
              </a:defRPr>
            </a:lvl1pPr>
          </a:lstStyle>
          <a:p>
            <a:pPr lvl="0"/>
            <a:r>
              <a:rPr lang="de-DE" dirty="0"/>
              <a:t>Date</a:t>
            </a:r>
          </a:p>
        </p:txBody>
      </p:sp>
      <p:sp>
        <p:nvSpPr>
          <p:cNvPr id="12" name="Inhaltsplatzhalter 9">
            <a:extLst>
              <a:ext uri="{FF2B5EF4-FFF2-40B4-BE49-F238E27FC236}">
                <a16:creationId xmlns:a16="http://schemas.microsoft.com/office/drawing/2014/main" id="{90B7E13C-6AED-A96A-DFFD-29A7DF10E4E3}"/>
              </a:ext>
            </a:extLst>
          </p:cNvPr>
          <p:cNvSpPr>
            <a:spLocks noGrp="1"/>
          </p:cNvSpPr>
          <p:nvPr>
            <p:ph sz="quarter" idx="12" hasCustomPrompt="1"/>
          </p:nvPr>
        </p:nvSpPr>
        <p:spPr>
          <a:xfrm>
            <a:off x="494188" y="4297363"/>
            <a:ext cx="11520000" cy="312936"/>
          </a:xfrm>
        </p:spPr>
        <p:txBody>
          <a:bodyPr>
            <a:noAutofit/>
          </a:bodyPr>
          <a:lstStyle>
            <a:lvl1pPr marL="0" indent="0">
              <a:buNone/>
              <a:defRPr sz="2000" i="0">
                <a:latin typeface="+mn-lt"/>
              </a:defRPr>
            </a:lvl1pPr>
          </a:lstStyle>
          <a:p>
            <a:pPr lvl="0"/>
            <a:r>
              <a:rPr lang="en-US" sz="2000" i="1" dirty="0">
                <a:solidFill>
                  <a:schemeClr val="tx1">
                    <a:lumMod val="65000"/>
                    <a:lumOff val="35000"/>
                  </a:schemeClr>
                </a:solidFill>
              </a:rPr>
              <a:t>Prof. Dr. Angela Schoellig</a:t>
            </a:r>
            <a:endParaRPr lang="de-DE" dirty="0"/>
          </a:p>
        </p:txBody>
      </p:sp>
      <p:sp>
        <p:nvSpPr>
          <p:cNvPr id="14" name="Textfeld 13">
            <a:extLst>
              <a:ext uri="{FF2B5EF4-FFF2-40B4-BE49-F238E27FC236}">
                <a16:creationId xmlns:a16="http://schemas.microsoft.com/office/drawing/2014/main" id="{CEA38894-2CF7-EB1B-6E8A-7395C31C1928}"/>
              </a:ext>
            </a:extLst>
          </p:cNvPr>
          <p:cNvSpPr txBox="1"/>
          <p:nvPr/>
        </p:nvSpPr>
        <p:spPr>
          <a:xfrm>
            <a:off x="494188" y="4614940"/>
            <a:ext cx="11520000" cy="707886"/>
          </a:xfrm>
          <a:prstGeom prst="rect">
            <a:avLst/>
          </a:prstGeom>
          <a:noFill/>
        </p:spPr>
        <p:txBody>
          <a:bodyPr wrap="square" rtlCol="0">
            <a:spAutoFit/>
          </a:bodyPr>
          <a:lstStyle/>
          <a:p>
            <a:r>
              <a:rPr lang="en-US" sz="2000" i="1" dirty="0">
                <a:solidFill>
                  <a:schemeClr val="tx1">
                    <a:lumMod val="65000"/>
                    <a:lumOff val="35000"/>
                  </a:schemeClr>
                </a:solidFill>
              </a:rPr>
              <a:t>Chair of Safety, Performance and Reliability for Learning Systems</a:t>
            </a:r>
            <a:br>
              <a:rPr lang="en-US" sz="2000" i="1" dirty="0">
                <a:solidFill>
                  <a:schemeClr val="tx1">
                    <a:lumMod val="65000"/>
                    <a:lumOff val="35000"/>
                  </a:schemeClr>
                </a:solidFill>
              </a:rPr>
            </a:br>
            <a:r>
              <a:rPr lang="en-US" sz="2000" i="1" dirty="0">
                <a:solidFill>
                  <a:schemeClr val="tx1">
                    <a:lumMod val="65000"/>
                    <a:lumOff val="35000"/>
                  </a:schemeClr>
                </a:solidFill>
              </a:rPr>
              <a:t>School of Computation, Information and Technology</a:t>
            </a:r>
          </a:p>
        </p:txBody>
      </p:sp>
    </p:spTree>
    <p:extLst>
      <p:ext uri="{BB962C8B-B14F-4D97-AF65-F5344CB8AC3E}">
        <p14:creationId xmlns:p14="http://schemas.microsoft.com/office/powerpoint/2010/main" val="1345900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C778693-3A38-1540-A2BE-EADEC66B3949}"/>
              </a:ext>
            </a:extLst>
          </p:cNvPr>
          <p:cNvSpPr/>
          <p:nvPr/>
        </p:nvSpPr>
        <p:spPr>
          <a:xfrm>
            <a:off x="0" y="0"/>
            <a:ext cx="12192000" cy="148790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i="0">
              <a:latin typeface="Calibri" panose="020F0502020204030204" pitchFamily="34" charset="0"/>
            </a:endParaRPr>
          </a:p>
        </p:txBody>
      </p:sp>
      <p:sp>
        <p:nvSpPr>
          <p:cNvPr id="8" name="Titel 7">
            <a:extLst>
              <a:ext uri="{FF2B5EF4-FFF2-40B4-BE49-F238E27FC236}">
                <a16:creationId xmlns:a16="http://schemas.microsoft.com/office/drawing/2014/main" id="{FCB1B460-9C8E-CB6C-D0E4-7CC22E8E0D32}"/>
              </a:ext>
            </a:extLst>
          </p:cNvPr>
          <p:cNvSpPr>
            <a:spLocks noGrp="1"/>
          </p:cNvSpPr>
          <p:nvPr>
            <p:ph type="title"/>
          </p:nvPr>
        </p:nvSpPr>
        <p:spPr>
          <a:xfrm>
            <a:off x="582420" y="2679032"/>
            <a:ext cx="11520000" cy="633658"/>
          </a:xfrm>
          <a:prstGeom prst="rect">
            <a:avLst/>
          </a:prstGeom>
        </p:spPr>
        <p:txBody>
          <a:bodyPr anchor="b">
            <a:noAutofit/>
          </a:bodyPr>
          <a:lstStyle>
            <a:lvl1pPr>
              <a:defRPr sz="2800">
                <a:solidFill>
                  <a:schemeClr val="tx1">
                    <a:lumMod val="65000"/>
                    <a:lumOff val="35000"/>
                  </a:schemeClr>
                </a:solidFill>
              </a:defRPr>
            </a:lvl1pPr>
          </a:lstStyle>
          <a:p>
            <a:r>
              <a:rPr lang="de-DE"/>
              <a:t>Mastertitelformat bearbeiten</a:t>
            </a:r>
            <a:endParaRPr lang="de-DE" dirty="0"/>
          </a:p>
        </p:txBody>
      </p:sp>
      <p:sp>
        <p:nvSpPr>
          <p:cNvPr id="3" name="Textplatzhalter 7">
            <a:extLst>
              <a:ext uri="{FF2B5EF4-FFF2-40B4-BE49-F238E27FC236}">
                <a16:creationId xmlns:a16="http://schemas.microsoft.com/office/drawing/2014/main" id="{DD6D1FA6-8B2F-A650-E3C1-3CFCAF993DFE}"/>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4521935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2" name="Textplatzhalter 7">
            <a:extLst>
              <a:ext uri="{FF2B5EF4-FFF2-40B4-BE49-F238E27FC236}">
                <a16:creationId xmlns:a16="http://schemas.microsoft.com/office/drawing/2014/main" id="{AB2AEF6E-29D7-0603-5866-B8D5A2645DB5}"/>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14041449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ndard">
    <p:spTree>
      <p:nvGrpSpPr>
        <p:cNvPr id="1" name=""/>
        <p:cNvGrpSpPr/>
        <p:nvPr/>
      </p:nvGrpSpPr>
      <p:grpSpPr>
        <a:xfrm>
          <a:off x="0" y="0"/>
          <a:ext cx="0" cy="0"/>
          <a:chOff x="0" y="0"/>
          <a:chExt cx="0" cy="0"/>
        </a:xfrm>
      </p:grpSpPr>
      <p:sp>
        <p:nvSpPr>
          <p:cNvPr id="9" name="Title Placeholder 1">
            <a:extLst>
              <a:ext uri="{FF2B5EF4-FFF2-40B4-BE49-F238E27FC236}">
                <a16:creationId xmlns:a16="http://schemas.microsoft.com/office/drawing/2014/main" id="{18BBB40A-34ED-977B-6896-AA360A4DE38A}"/>
              </a:ext>
            </a:extLst>
          </p:cNvPr>
          <p:cNvSpPr>
            <a:spLocks noGrp="1"/>
          </p:cNvSpPr>
          <p:nvPr>
            <p:ph type="title"/>
          </p:nvPr>
        </p:nvSpPr>
        <p:spPr>
          <a:xfrm>
            <a:off x="382905" y="727962"/>
            <a:ext cx="10515600" cy="419804"/>
          </a:xfrm>
          <a:prstGeom prst="rect">
            <a:avLst/>
          </a:prstGeom>
        </p:spPr>
        <p:txBody>
          <a:bodyPr vert="horz" lIns="91440" tIns="45720" rIns="91440" bIns="45720" rtlCol="0" anchor="ctr">
            <a:normAutofit/>
          </a:bodyPr>
          <a:lstStyle/>
          <a:p>
            <a:r>
              <a:rPr lang="de-DE">
                <a:solidFill>
                  <a:schemeClr val="tx1">
                    <a:lumMod val="75000"/>
                    <a:lumOff val="25000"/>
                  </a:schemeClr>
                </a:solidFill>
                <a:latin typeface="Oswald" panose="00000500000000000000" pitchFamily="2" charset="0"/>
              </a:rPr>
              <a:t>Mastertitelformat bearbeiten</a:t>
            </a:r>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11" name="Inhaltsplatzhalter 10">
            <a:extLst>
              <a:ext uri="{FF2B5EF4-FFF2-40B4-BE49-F238E27FC236}">
                <a16:creationId xmlns:a16="http://schemas.microsoft.com/office/drawing/2014/main" id="{05364FF8-4533-422D-5E3A-8BB4DECB6937}"/>
              </a:ext>
            </a:extLst>
          </p:cNvPr>
          <p:cNvSpPr>
            <a:spLocks noGrp="1"/>
          </p:cNvSpPr>
          <p:nvPr>
            <p:ph sz="quarter" idx="10"/>
          </p:nvPr>
        </p:nvSpPr>
        <p:spPr>
          <a:xfrm>
            <a:off x="841372" y="1350963"/>
            <a:ext cx="10056815" cy="4778375"/>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8" name="Textplatzhalter 7">
            <a:extLst>
              <a:ext uri="{FF2B5EF4-FFF2-40B4-BE49-F238E27FC236}">
                <a16:creationId xmlns:a16="http://schemas.microsoft.com/office/drawing/2014/main" id="{630D7BA6-D517-500C-42CE-5F7DF509BA03}"/>
              </a:ext>
            </a:extLst>
          </p:cNvPr>
          <p:cNvSpPr>
            <a:spLocks noGrp="1"/>
          </p:cNvSpPr>
          <p:nvPr>
            <p:ph type="body" sz="quarter" idx="11"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
        <p:nvSpPr>
          <p:cNvPr id="2" name="Textplatzhalter 5">
            <a:extLst>
              <a:ext uri="{FF2B5EF4-FFF2-40B4-BE49-F238E27FC236}">
                <a16:creationId xmlns:a16="http://schemas.microsoft.com/office/drawing/2014/main" id="{8285C1BE-97B3-A3EE-FF6E-5A49E23F1471}"/>
              </a:ext>
            </a:extLst>
          </p:cNvPr>
          <p:cNvSpPr>
            <a:spLocks noGrp="1"/>
          </p:cNvSpPr>
          <p:nvPr>
            <p:ph type="body" sz="quarter" idx="12" hasCustomPrompt="1"/>
          </p:nvPr>
        </p:nvSpPr>
        <p:spPr>
          <a:xfrm>
            <a:off x="386599" y="385065"/>
            <a:ext cx="10515599" cy="419804"/>
          </a:xfrm>
        </p:spPr>
        <p:txBody>
          <a:bodyPr>
            <a:noAutofit/>
          </a:bodyPr>
          <a:lstStyle>
            <a:lvl1pPr marL="0" indent="0">
              <a:buNone/>
              <a:defRPr lang="en-US" sz="2000" kern="1200" dirty="0">
                <a:solidFill>
                  <a:schemeClr val="tx1">
                    <a:lumMod val="75000"/>
                    <a:lumOff val="25000"/>
                  </a:schemeClr>
                </a:solidFill>
                <a:latin typeface="Oswald ExtraLight" panose="00000300000000000000" pitchFamily="2" charset="0"/>
                <a:ea typeface="+mj-ea"/>
                <a:cs typeface="+mj-cs"/>
              </a:defRPr>
            </a:lvl1pPr>
          </a:lstStyle>
          <a:p>
            <a:pPr lvl="0"/>
            <a:r>
              <a:rPr lang="de-DE" err="1"/>
              <a:t>Sectiontitle</a:t>
            </a:r>
            <a:endParaRPr lang="en-US"/>
          </a:p>
        </p:txBody>
      </p:sp>
    </p:spTree>
    <p:extLst>
      <p:ext uri="{BB962C8B-B14F-4D97-AF65-F5344CB8AC3E}">
        <p14:creationId xmlns:p14="http://schemas.microsoft.com/office/powerpoint/2010/main" val="2874792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ide by side">
    <p:spTree>
      <p:nvGrpSpPr>
        <p:cNvPr id="1" name=""/>
        <p:cNvGrpSpPr/>
        <p:nvPr/>
      </p:nvGrpSpPr>
      <p:grpSpPr>
        <a:xfrm>
          <a:off x="0" y="0"/>
          <a:ext cx="0" cy="0"/>
          <a:chOff x="0" y="0"/>
          <a:chExt cx="0" cy="0"/>
        </a:xfrm>
      </p:grpSpPr>
      <p:sp>
        <p:nvSpPr>
          <p:cNvPr id="7" name="Title Placeholder 1">
            <a:extLst>
              <a:ext uri="{FF2B5EF4-FFF2-40B4-BE49-F238E27FC236}">
                <a16:creationId xmlns:a16="http://schemas.microsoft.com/office/drawing/2014/main" id="{0200C05F-8EC2-CE99-743A-0CC8BB7D3C89}"/>
              </a:ext>
            </a:extLst>
          </p:cNvPr>
          <p:cNvSpPr>
            <a:spLocks noGrp="1"/>
          </p:cNvSpPr>
          <p:nvPr>
            <p:ph type="title"/>
          </p:nvPr>
        </p:nvSpPr>
        <p:spPr>
          <a:xfrm>
            <a:off x="382905" y="727962"/>
            <a:ext cx="10515600" cy="419804"/>
          </a:xfrm>
          <a:prstGeom prst="rect">
            <a:avLst/>
          </a:prstGeom>
        </p:spPr>
        <p:txBody>
          <a:bodyPr vert="horz" lIns="91440" tIns="45720" rIns="91440" bIns="45720" rtlCol="0" anchor="ctr">
            <a:normAutofit/>
          </a:bodyPr>
          <a:lstStyle/>
          <a:p>
            <a:r>
              <a:rPr lang="de-DE">
                <a:solidFill>
                  <a:schemeClr val="tx1">
                    <a:lumMod val="75000"/>
                    <a:lumOff val="25000"/>
                  </a:schemeClr>
                </a:solidFill>
                <a:latin typeface="Oswald" panose="00000500000000000000" pitchFamily="2" charset="0"/>
              </a:rPr>
              <a:t>Mastertitelformat bearbeiten</a:t>
            </a:r>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11" name="Inhaltsplatzhalter 10">
            <a:extLst>
              <a:ext uri="{FF2B5EF4-FFF2-40B4-BE49-F238E27FC236}">
                <a16:creationId xmlns:a16="http://schemas.microsoft.com/office/drawing/2014/main" id="{BA840236-F352-AB01-99DD-BF5E75C97C6E}"/>
              </a:ext>
            </a:extLst>
          </p:cNvPr>
          <p:cNvSpPr>
            <a:spLocks noGrp="1"/>
          </p:cNvSpPr>
          <p:nvPr>
            <p:ph sz="quarter" idx="10"/>
          </p:nvPr>
        </p:nvSpPr>
        <p:spPr>
          <a:xfrm>
            <a:off x="841373" y="1350963"/>
            <a:ext cx="4802189" cy="4779075"/>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14" name="Inhaltsplatzhalter 13">
            <a:extLst>
              <a:ext uri="{FF2B5EF4-FFF2-40B4-BE49-F238E27FC236}">
                <a16:creationId xmlns:a16="http://schemas.microsoft.com/office/drawing/2014/main" id="{06FCA2AE-4E9A-9E36-3148-3F4D8F50D1B7}"/>
              </a:ext>
            </a:extLst>
          </p:cNvPr>
          <p:cNvSpPr>
            <a:spLocks noGrp="1"/>
          </p:cNvSpPr>
          <p:nvPr>
            <p:ph sz="quarter" idx="11"/>
          </p:nvPr>
        </p:nvSpPr>
        <p:spPr>
          <a:xfrm>
            <a:off x="6096000" y="1350963"/>
            <a:ext cx="4802188" cy="4779074"/>
          </a:xfrm>
        </p:spPr>
        <p:txBody>
          <a:bodyPr>
            <a:normAutofit/>
          </a:bodyPr>
          <a:lstStyle>
            <a:lvl1pPr>
              <a:defRPr sz="2400"/>
            </a:lvl1pPr>
            <a:lvl2pPr>
              <a:defRPr sz="2000"/>
            </a:lvl2pPr>
            <a:lvl3pPr>
              <a:defRPr sz="1800"/>
            </a:lvl3pPr>
            <a:lvl4pPr>
              <a:defRPr sz="1600"/>
            </a:lvl4pPr>
            <a:lvl5pPr>
              <a:defRPr sz="1600"/>
            </a:lvl5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DE" dirty="0"/>
          </a:p>
        </p:txBody>
      </p:sp>
      <p:sp>
        <p:nvSpPr>
          <p:cNvPr id="2" name="Textplatzhalter 5">
            <a:extLst>
              <a:ext uri="{FF2B5EF4-FFF2-40B4-BE49-F238E27FC236}">
                <a16:creationId xmlns:a16="http://schemas.microsoft.com/office/drawing/2014/main" id="{D5F8ED99-64E0-0F9D-F602-1EF68AEAC148}"/>
              </a:ext>
            </a:extLst>
          </p:cNvPr>
          <p:cNvSpPr>
            <a:spLocks noGrp="1"/>
          </p:cNvSpPr>
          <p:nvPr>
            <p:ph type="body" sz="quarter" idx="12" hasCustomPrompt="1"/>
          </p:nvPr>
        </p:nvSpPr>
        <p:spPr>
          <a:xfrm>
            <a:off x="386599" y="385065"/>
            <a:ext cx="10515599" cy="419804"/>
          </a:xfrm>
        </p:spPr>
        <p:txBody>
          <a:bodyPr>
            <a:noAutofit/>
          </a:bodyPr>
          <a:lstStyle>
            <a:lvl1pPr marL="0" indent="0">
              <a:buNone/>
              <a:defRPr lang="en-US" sz="2000" kern="1200" dirty="0">
                <a:solidFill>
                  <a:schemeClr val="tx1">
                    <a:lumMod val="75000"/>
                    <a:lumOff val="25000"/>
                  </a:schemeClr>
                </a:solidFill>
                <a:latin typeface="Oswald ExtraLight" panose="00000300000000000000" pitchFamily="2" charset="0"/>
                <a:ea typeface="+mj-ea"/>
                <a:cs typeface="+mj-cs"/>
              </a:defRPr>
            </a:lvl1pPr>
          </a:lstStyle>
          <a:p>
            <a:pPr lvl="0"/>
            <a:r>
              <a:rPr lang="de-DE" dirty="0" err="1"/>
              <a:t>Sectiontitle</a:t>
            </a:r>
            <a:endParaRPr lang="en-US" dirty="0"/>
          </a:p>
        </p:txBody>
      </p:sp>
      <p:sp>
        <p:nvSpPr>
          <p:cNvPr id="3" name="Textplatzhalter 7">
            <a:extLst>
              <a:ext uri="{FF2B5EF4-FFF2-40B4-BE49-F238E27FC236}">
                <a16:creationId xmlns:a16="http://schemas.microsoft.com/office/drawing/2014/main" id="{389AF915-F8DC-714E-C7B9-AB70250478F0}"/>
              </a:ext>
            </a:extLst>
          </p:cNvPr>
          <p:cNvSpPr>
            <a:spLocks noGrp="1"/>
          </p:cNvSpPr>
          <p:nvPr>
            <p:ph type="body" sz="quarter" idx="13" hasCustomPrompt="1"/>
          </p:nvPr>
        </p:nvSpPr>
        <p:spPr>
          <a:xfrm>
            <a:off x="382588" y="6223000"/>
            <a:ext cx="10729912" cy="635000"/>
          </a:xfrm>
        </p:spPr>
        <p:txBody>
          <a:bodyPr numCol="3">
            <a:noAutofit/>
          </a:bodyPr>
          <a:lstStyle>
            <a:lvl1pPr marL="0" indent="0">
              <a:buNone/>
              <a:defRPr sz="800"/>
            </a:lvl1pPr>
            <a:lvl2pPr>
              <a:defRPr sz="800"/>
            </a:lvl2pPr>
            <a:lvl3pPr>
              <a:defRPr sz="800"/>
            </a:lvl3pPr>
            <a:lvl4pPr>
              <a:defRPr sz="800"/>
            </a:lvl4pPr>
            <a:lvl5pPr>
              <a:defRPr sz="800"/>
            </a:lvl5pPr>
          </a:lstStyle>
          <a:p>
            <a:pPr lvl="0"/>
            <a:r>
              <a:rPr lang="de-DE" dirty="0"/>
              <a:t>Sources</a:t>
            </a:r>
          </a:p>
        </p:txBody>
      </p:sp>
    </p:spTree>
    <p:extLst>
      <p:ext uri="{BB962C8B-B14F-4D97-AF65-F5344CB8AC3E}">
        <p14:creationId xmlns:p14="http://schemas.microsoft.com/office/powerpoint/2010/main" val="1321202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B0C6BB-F024-7B4F-A916-1E574B1541C8}"/>
              </a:ext>
            </a:extLst>
          </p:cNvPr>
          <p:cNvSpPr>
            <a:spLocks noGrp="1"/>
          </p:cNvSpPr>
          <p:nvPr>
            <p:ph type="body" idx="1"/>
          </p:nvPr>
        </p:nvSpPr>
        <p:spPr>
          <a:xfrm>
            <a:off x="838200" y="1290568"/>
            <a:ext cx="10515600" cy="4886395"/>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cxnSp>
        <p:nvCxnSpPr>
          <p:cNvPr id="19" name="Straight Connector 18">
            <a:extLst>
              <a:ext uri="{FF2B5EF4-FFF2-40B4-BE49-F238E27FC236}">
                <a16:creationId xmlns:a16="http://schemas.microsoft.com/office/drawing/2014/main" id="{E4E4E9B8-101E-8C40-885A-F55C07567F21}"/>
              </a:ext>
            </a:extLst>
          </p:cNvPr>
          <p:cNvCxnSpPr>
            <a:cxnSpLocks/>
          </p:cNvCxnSpPr>
          <p:nvPr/>
        </p:nvCxnSpPr>
        <p:spPr bwMode="auto">
          <a:xfrm>
            <a:off x="360000" y="1152000"/>
            <a:ext cx="10560078" cy="0"/>
          </a:xfrm>
          <a:prstGeom prst="line">
            <a:avLst/>
          </a:prstGeom>
          <a:blipFill dpi="0" rotWithShape="0">
            <a:blip r:embed="rId8"/>
            <a:srcRect/>
            <a:tile tx="0" ty="0" sx="100000" sy="100000" flip="none" algn="tl"/>
          </a:blipFill>
          <a:ln w="12700" cap="flat" cmpd="sng" algn="ctr">
            <a:solidFill>
              <a:srgbClr val="7AB51D"/>
            </a:solidFill>
            <a:prstDash val="solid"/>
            <a:round/>
            <a:headEnd type="none" w="med" len="med"/>
            <a:tailEnd type="none" w="med" len="med"/>
          </a:ln>
          <a:effectLst/>
        </p:spPr>
      </p:cxnSp>
      <p:cxnSp>
        <p:nvCxnSpPr>
          <p:cNvPr id="20" name="Straight Connector 19">
            <a:extLst>
              <a:ext uri="{FF2B5EF4-FFF2-40B4-BE49-F238E27FC236}">
                <a16:creationId xmlns:a16="http://schemas.microsoft.com/office/drawing/2014/main" id="{05AE2691-09BB-C647-9FCF-013218485002}"/>
              </a:ext>
            </a:extLst>
          </p:cNvPr>
          <p:cNvCxnSpPr>
            <a:cxnSpLocks/>
          </p:cNvCxnSpPr>
          <p:nvPr/>
        </p:nvCxnSpPr>
        <p:spPr bwMode="auto">
          <a:xfrm>
            <a:off x="360000" y="6226072"/>
            <a:ext cx="11520000" cy="0"/>
          </a:xfrm>
          <a:prstGeom prst="line">
            <a:avLst/>
          </a:prstGeom>
          <a:blipFill dpi="0" rotWithShape="0">
            <a:blip r:embed="rId8"/>
            <a:srcRect/>
            <a:tile tx="0" ty="0" sx="100000" sy="100000" flip="none" algn="tl"/>
          </a:blipFill>
          <a:ln w="12700" cap="flat" cmpd="sng" algn="ctr">
            <a:solidFill>
              <a:srgbClr val="7AB51D"/>
            </a:solidFill>
            <a:prstDash val="solid"/>
            <a:round/>
            <a:headEnd type="none" w="med" len="med"/>
            <a:tailEnd type="none" w="med" len="med"/>
          </a:ln>
          <a:effectLst/>
        </p:spPr>
      </p:cxnSp>
      <p:sp>
        <p:nvSpPr>
          <p:cNvPr id="21" name="Slide Number Placeholder 6">
            <a:extLst>
              <a:ext uri="{FF2B5EF4-FFF2-40B4-BE49-F238E27FC236}">
                <a16:creationId xmlns:a16="http://schemas.microsoft.com/office/drawing/2014/main" id="{D9B11A88-1872-3E4D-8357-93920F91A5D7}"/>
              </a:ext>
            </a:extLst>
          </p:cNvPr>
          <p:cNvSpPr txBox="1">
            <a:spLocks/>
          </p:cNvSpPr>
          <p:nvPr/>
        </p:nvSpPr>
        <p:spPr>
          <a:xfrm>
            <a:off x="9330723" y="6389195"/>
            <a:ext cx="2585551" cy="365000"/>
          </a:xfrm>
          <a:prstGeom prst="rect">
            <a:avLst/>
          </a:prstGeom>
        </p:spPr>
        <p:txBody>
          <a:bodyPr/>
          <a:lstStyle>
            <a:defPPr>
              <a:defRPr lang="en-US"/>
            </a:defPPr>
            <a:lvl1pPr marL="0" algn="r" defTabSz="914400" rtl="0" eaLnBrk="1" latinLnBrk="0" hangingPunct="1">
              <a:defRPr sz="1500" kern="1200">
                <a:solidFill>
                  <a:schemeClr val="tx1"/>
                </a:solidFill>
                <a:latin typeface="Calibri Light" panose="020F03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DAF2FF1-0F85-5948-B45D-85D15C7A6F9F}" type="slidenum">
              <a:rPr lang="en-US" smtClean="0">
                <a:solidFill>
                  <a:schemeClr val="tx1">
                    <a:lumMod val="75000"/>
                    <a:lumOff val="25000"/>
                  </a:schemeClr>
                </a:solidFill>
                <a:latin typeface="+mn-lt"/>
              </a:rPr>
              <a:pPr/>
              <a:t>‹Nr.›</a:t>
            </a:fld>
            <a:endParaRPr lang="en-US" dirty="0">
              <a:solidFill>
                <a:schemeClr val="tx1">
                  <a:lumMod val="75000"/>
                  <a:lumOff val="25000"/>
                </a:schemeClr>
              </a:solidFill>
              <a:latin typeface="+mn-lt"/>
            </a:endParaRPr>
          </a:p>
        </p:txBody>
      </p:sp>
      <p:pic>
        <p:nvPicPr>
          <p:cNvPr id="22" name="Picture 21">
            <a:extLst>
              <a:ext uri="{FF2B5EF4-FFF2-40B4-BE49-F238E27FC236}">
                <a16:creationId xmlns:a16="http://schemas.microsoft.com/office/drawing/2014/main" id="{21B31D17-1F23-BC44-A237-A2155205E11C}"/>
              </a:ext>
            </a:extLst>
          </p:cNvPr>
          <p:cNvPicPr>
            <a:picLocks noChangeAspect="1"/>
          </p:cNvPicPr>
          <p:nvPr/>
        </p:nvPicPr>
        <p:blipFill rotWithShape="1">
          <a:blip r:embed="rId9" cstate="print">
            <a:extLst>
              <a:ext uri="{28A0092B-C50C-407E-A947-70E740481C1C}">
                <a14:useLocalDpi xmlns:a14="http://schemas.microsoft.com/office/drawing/2010/main" val="0"/>
              </a:ext>
            </a:extLst>
          </a:blip>
          <a:srcRect b="34248"/>
          <a:stretch/>
        </p:blipFill>
        <p:spPr>
          <a:xfrm>
            <a:off x="10898505" y="322814"/>
            <a:ext cx="1203716" cy="835550"/>
          </a:xfrm>
          <a:prstGeom prst="rect">
            <a:avLst/>
          </a:prstGeom>
        </p:spPr>
      </p:pic>
      <p:sp>
        <p:nvSpPr>
          <p:cNvPr id="4" name="Title 1">
            <a:extLst>
              <a:ext uri="{FF2B5EF4-FFF2-40B4-BE49-F238E27FC236}">
                <a16:creationId xmlns:a16="http://schemas.microsoft.com/office/drawing/2014/main" id="{2BDFEDE7-E7EF-BA56-C693-D677BAC4656F}"/>
              </a:ext>
            </a:extLst>
          </p:cNvPr>
          <p:cNvSpPr txBox="1">
            <a:spLocks/>
          </p:cNvSpPr>
          <p:nvPr/>
        </p:nvSpPr>
        <p:spPr>
          <a:xfrm>
            <a:off x="-429117" y="3401109"/>
            <a:ext cx="10858748" cy="442460"/>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endParaRPr lang="en-US" dirty="0">
              <a:solidFill>
                <a:schemeClr val="tx1">
                  <a:lumMod val="75000"/>
                  <a:lumOff val="25000"/>
                </a:schemeClr>
              </a:solidFill>
              <a:latin typeface="Oswald" panose="00000500000000000000" pitchFamily="2" charset="0"/>
              <a:ea typeface="Open Sans Condensed Light" panose="020B0306030504020204" pitchFamily="34" charset="0"/>
              <a:cs typeface="Open Sans Condensed Light" panose="020B0306030504020204" pitchFamily="34" charset="0"/>
            </a:endParaRPr>
          </a:p>
        </p:txBody>
      </p:sp>
      <p:sp>
        <p:nvSpPr>
          <p:cNvPr id="5" name="Titelplatzhalter 4">
            <a:extLst>
              <a:ext uri="{FF2B5EF4-FFF2-40B4-BE49-F238E27FC236}">
                <a16:creationId xmlns:a16="http://schemas.microsoft.com/office/drawing/2014/main" id="{FF3EC424-F876-BDCD-A7C1-A5D874A0BF09}"/>
              </a:ext>
            </a:extLst>
          </p:cNvPr>
          <p:cNvSpPr>
            <a:spLocks noGrp="1"/>
          </p:cNvSpPr>
          <p:nvPr>
            <p:ph type="title"/>
          </p:nvPr>
        </p:nvSpPr>
        <p:spPr>
          <a:xfrm>
            <a:off x="371453" y="103805"/>
            <a:ext cx="10515600" cy="1054559"/>
          </a:xfrm>
          <a:prstGeom prst="rect">
            <a:avLst/>
          </a:prstGeom>
        </p:spPr>
        <p:txBody>
          <a:bodyPr vert="horz" lIns="91440" tIns="45720" rIns="91440" bIns="45720" rtlCol="0" anchor="b">
            <a:normAutofit/>
          </a:bodyPr>
          <a:lstStyle/>
          <a:p>
            <a:r>
              <a:rPr lang="de-DE" dirty="0"/>
              <a:t>Mastertitelformat bearbeiten</a:t>
            </a:r>
          </a:p>
        </p:txBody>
      </p:sp>
      <p:sp>
        <p:nvSpPr>
          <p:cNvPr id="2" name="Slide Number Placeholder 6">
            <a:extLst>
              <a:ext uri="{FF2B5EF4-FFF2-40B4-BE49-F238E27FC236}">
                <a16:creationId xmlns:a16="http://schemas.microsoft.com/office/drawing/2014/main" id="{A9FEC449-540F-CE78-4CED-98FA8B5F921B}"/>
              </a:ext>
            </a:extLst>
          </p:cNvPr>
          <p:cNvSpPr txBox="1">
            <a:spLocks/>
          </p:cNvSpPr>
          <p:nvPr/>
        </p:nvSpPr>
        <p:spPr>
          <a:xfrm>
            <a:off x="6618082" y="6460048"/>
            <a:ext cx="4882281" cy="365000"/>
          </a:xfrm>
          <a:prstGeom prst="rect">
            <a:avLst/>
          </a:prstGeom>
        </p:spPr>
        <p:txBody>
          <a:bodyPr/>
          <a:lstStyle>
            <a:defPPr>
              <a:defRPr lang="en-US"/>
            </a:defPPr>
            <a:lvl1pPr marL="0" algn="r" defTabSz="914400" rtl="0" eaLnBrk="1" latinLnBrk="0" hangingPunct="1">
              <a:defRPr sz="1500" kern="1200">
                <a:solidFill>
                  <a:schemeClr val="tx1"/>
                </a:solidFill>
                <a:latin typeface="Calibri Light" panose="020F03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r>
              <a:rPr lang="tr-TR" sz="800" noProof="0" dirty="0">
                <a:solidFill>
                  <a:schemeClr val="tx1">
                    <a:lumMod val="65000"/>
                    <a:lumOff val="35000"/>
                  </a:schemeClr>
                </a:solidFill>
              </a:rPr>
              <a:t>Ahmet Arda Hız</a:t>
            </a:r>
            <a:r>
              <a:rPr lang="en-US" sz="800" noProof="0" dirty="0">
                <a:solidFill>
                  <a:schemeClr val="tx1">
                    <a:lumMod val="65000"/>
                    <a:lumOff val="35000"/>
                  </a:schemeClr>
                </a:solidFill>
              </a:rPr>
              <a:t> &amp; </a:t>
            </a:r>
            <a:r>
              <a:rPr lang="tr-TR" sz="800" noProof="0" dirty="0">
                <a:solidFill>
                  <a:schemeClr val="tx1">
                    <a:lumMod val="65000"/>
                    <a:lumOff val="35000"/>
                  </a:schemeClr>
                </a:solidFill>
              </a:rPr>
              <a:t>Deniz Öztürk</a:t>
            </a:r>
            <a:r>
              <a:rPr lang="en-US" sz="800" noProof="0" dirty="0">
                <a:solidFill>
                  <a:schemeClr val="tx1">
                    <a:lumMod val="65000"/>
                    <a:lumOff val="35000"/>
                  </a:schemeClr>
                </a:solidFill>
              </a:rPr>
              <a:t>  ·  7 June 2026</a:t>
            </a:r>
          </a:p>
          <a:p>
            <a:r>
              <a:rPr lang="en-US" sz="800" noProof="0" dirty="0">
                <a:solidFill>
                  <a:schemeClr val="tx1">
                    <a:lumMod val="65000"/>
                    <a:lumOff val="35000"/>
                  </a:schemeClr>
                </a:solidFill>
              </a:rPr>
              <a:t>Autonomous Drone Racing Project Course</a:t>
            </a:r>
            <a:r>
              <a:rPr lang="tr-TR" sz="800" noProof="0" dirty="0">
                <a:solidFill>
                  <a:schemeClr val="tx1">
                    <a:lumMod val="65000"/>
                    <a:lumOff val="35000"/>
                  </a:schemeClr>
                </a:solidFill>
              </a:rPr>
              <a:t> </a:t>
            </a:r>
            <a:r>
              <a:rPr lang="en-US" sz="800" noProof="0" dirty="0">
                <a:solidFill>
                  <a:schemeClr val="tx1">
                    <a:lumMod val="65000"/>
                    <a:lumOff val="35000"/>
                  </a:schemeClr>
                </a:solidFill>
              </a:rPr>
              <a:t>— Progress Presentation</a:t>
            </a:r>
            <a:endParaRPr lang="en-US" sz="800" noProof="0" dirty="0">
              <a:solidFill>
                <a:schemeClr val="tx1">
                  <a:lumMod val="65000"/>
                  <a:lumOff val="35000"/>
                </a:schemeClr>
              </a:solidFill>
              <a:latin typeface="+mn-lt"/>
            </a:endParaRPr>
          </a:p>
        </p:txBody>
      </p:sp>
    </p:spTree>
    <p:extLst>
      <p:ext uri="{BB962C8B-B14F-4D97-AF65-F5344CB8AC3E}">
        <p14:creationId xmlns:p14="http://schemas.microsoft.com/office/powerpoint/2010/main" val="380840584"/>
      </p:ext>
    </p:extLst>
  </p:cSld>
  <p:clrMap bg1="lt1" tx1="dk1" bg2="lt2" tx2="dk2" accent1="accent1" accent2="accent2" accent3="accent3" accent4="accent4" accent5="accent5" accent6="accent6" hlink="hlink" folHlink="folHlink"/>
  <p:sldLayoutIdLst>
    <p:sldLayoutId id="2147483649" r:id="rId1"/>
    <p:sldLayoutId id="2147483675" r:id="rId2"/>
    <p:sldLayoutId id="2147483674" r:id="rId3"/>
    <p:sldLayoutId id="2147483671" r:id="rId4"/>
    <p:sldLayoutId id="2147483669" r:id="rId5"/>
    <p:sldLayoutId id="2147483673" r:id="rId6"/>
  </p:sldLayoutIdLst>
  <p:txStyles>
    <p:titleStyle>
      <a:lvl1pPr algn="l" defTabSz="914400" rtl="0" eaLnBrk="1" latinLnBrk="0" hangingPunct="1">
        <a:lnSpc>
          <a:spcPct val="90000"/>
        </a:lnSpc>
        <a:spcBef>
          <a:spcPct val="0"/>
        </a:spcBef>
        <a:buNone/>
        <a:defRPr sz="2800" kern="1200">
          <a:solidFill>
            <a:schemeClr val="tx1">
              <a:lumMod val="65000"/>
              <a:lumOff val="3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lumMod val="65000"/>
              <a:lumOff val="35000"/>
            </a:schemeClr>
          </a:solidFill>
          <a:latin typeface="Calibri Light" panose="020F0302020204030204" pitchFamily="34" charset="0"/>
          <a:ea typeface="+mn-ea"/>
          <a:cs typeface="Calibri Light" panose="020F03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000" b="1" dirty="0">
                <a:solidFill>
                  <a:srgbClr val="262B33"/>
                </a:solidFill>
              </a:rPr>
              <a:t>Racing a </a:t>
            </a:r>
            <a:r>
              <a:rPr lang="tr-TR" sz="3000" b="1" dirty="0" err="1">
                <a:solidFill>
                  <a:srgbClr val="262B33"/>
                </a:solidFill>
              </a:rPr>
              <a:t>Drone</a:t>
            </a:r>
            <a:r>
              <a:rPr sz="3000" b="1" dirty="0">
                <a:solidFill>
                  <a:srgbClr val="262B33"/>
                </a:solidFill>
              </a:rPr>
              <a:t> Through Gates</a:t>
            </a:r>
          </a:p>
        </p:txBody>
      </p:sp>
      <p:sp>
        <p:nvSpPr>
          <p:cNvPr id="3" name="Content Placeholder 2"/>
          <p:cNvSpPr>
            <a:spLocks noGrp="1"/>
          </p:cNvSpPr>
          <p:nvPr>
            <p:ph sz="quarter" idx="10"/>
          </p:nvPr>
        </p:nvSpPr>
        <p:spPr/>
        <p:txBody>
          <a:bodyPr/>
          <a:lstStyle/>
          <a:p>
            <a:r>
              <a:rPr lang="en-US" sz="1600" b="1" dirty="0">
                <a:solidFill>
                  <a:srgbClr val="262B33"/>
                </a:solidFill>
              </a:rPr>
              <a:t>Autonomous Drone Racing Project Course</a:t>
            </a:r>
            <a:r>
              <a:rPr sz="1600" b="1" dirty="0">
                <a:solidFill>
                  <a:srgbClr val="262B33"/>
                </a:solidFill>
              </a:rPr>
              <a:t>  ·  Progress Presentation</a:t>
            </a:r>
          </a:p>
        </p:txBody>
      </p:sp>
      <p:sp>
        <p:nvSpPr>
          <p:cNvPr id="4" name="Content Placeholder 3"/>
          <p:cNvSpPr>
            <a:spLocks noGrp="1"/>
          </p:cNvSpPr>
          <p:nvPr>
            <p:ph sz="quarter" idx="11"/>
          </p:nvPr>
        </p:nvSpPr>
        <p:spPr/>
        <p:txBody>
          <a:bodyPr/>
          <a:lstStyle/>
          <a:p>
            <a:r>
              <a:rPr lang="tr-TR" sz="1400" b="0" dirty="0">
                <a:solidFill>
                  <a:srgbClr val="44546A"/>
                </a:solidFill>
              </a:rPr>
              <a:t>Ahmet Arda Hız    </a:t>
            </a:r>
            <a:r>
              <a:rPr sz="1400" b="0" dirty="0">
                <a:solidFill>
                  <a:srgbClr val="44546A"/>
                </a:solidFill>
              </a:rPr>
              <a:t>·    </a:t>
            </a:r>
            <a:r>
              <a:rPr lang="tr-TR" sz="1400" b="0" dirty="0">
                <a:solidFill>
                  <a:srgbClr val="44546A"/>
                </a:solidFill>
              </a:rPr>
              <a:t>Deniz Öztürk</a:t>
            </a:r>
            <a:endParaRPr sz="1400" b="0" dirty="0">
              <a:solidFill>
                <a:srgbClr val="44546A"/>
              </a:solidFill>
            </a:endParaRPr>
          </a:p>
        </p:txBody>
      </p:sp>
      <p:sp>
        <p:nvSpPr>
          <p:cNvPr id="5" name="Content Placeholder 4"/>
          <p:cNvSpPr>
            <a:spLocks noGrp="1"/>
          </p:cNvSpPr>
          <p:nvPr>
            <p:ph sz="quarter" idx="12"/>
          </p:nvPr>
        </p:nvSpPr>
        <p:spPr/>
        <p:txBody>
          <a:bodyPr/>
          <a:lstStyle/>
          <a:p>
            <a:r>
              <a:rPr sz="1300" b="0">
                <a:solidFill>
                  <a:srgbClr val="8A9098"/>
                </a:solidFill>
              </a:rPr>
              <a:t>Technical University of Munich  ·  7 June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2700" b="1">
                <a:solidFill>
                  <a:srgbClr val="262B33"/>
                </a:solidFill>
              </a:rPr>
              <a:t>System Overview: Observation → Plan → Control</a:t>
            </a:r>
          </a:p>
        </p:txBody>
      </p:sp>
      <p:sp>
        <p:nvSpPr>
          <p:cNvPr id="5" name="Text Placeholder 4"/>
          <p:cNvSpPr>
            <a:spLocks noGrp="1"/>
          </p:cNvSpPr>
          <p:nvPr>
            <p:ph type="body" sz="quarter" idx="12"/>
          </p:nvPr>
        </p:nvSpPr>
        <p:spPr/>
        <p:txBody>
          <a:bodyPr/>
          <a:lstStyle/>
          <a:p>
            <a:r>
              <a:rPr sz="1200" b="1">
                <a:solidFill>
                  <a:srgbClr val="558010"/>
                </a:solidFill>
                <a:latin typeface="Calibri"/>
              </a:rPr>
              <a:t>METHODOLOGY &amp; APPROACH  ·  1 / 3</a:t>
            </a:r>
          </a:p>
        </p:txBody>
      </p:sp>
      <p:sp>
        <p:nvSpPr>
          <p:cNvPr id="6" name="Rounded Rectangle 5"/>
          <p:cNvSpPr/>
          <p:nvPr/>
        </p:nvSpPr>
        <p:spPr>
          <a:xfrm>
            <a:off x="502920" y="1783080"/>
            <a:ext cx="2011680" cy="1143000"/>
          </a:xfrm>
          <a:prstGeom prst="roundRect">
            <a:avLst>
              <a:gd name="adj" fmla="val 9000"/>
            </a:avLst>
          </a:prstGeom>
          <a:solidFill>
            <a:srgbClr val="ECEFF2"/>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98000"/>
              </a:lnSpc>
              <a:spcAft>
                <a:spcPts val="0"/>
              </a:spcAft>
            </a:pPr>
            <a:r>
              <a:rPr sz="1300" b="1" dirty="0">
                <a:solidFill>
                  <a:srgbClr val="262B33"/>
                </a:solidFill>
                <a:latin typeface="Calibri"/>
              </a:rPr>
              <a:t>Observation</a:t>
            </a:r>
          </a:p>
        </p:txBody>
      </p:sp>
      <p:sp>
        <p:nvSpPr>
          <p:cNvPr id="7" name="Rounded Rectangle 6"/>
          <p:cNvSpPr/>
          <p:nvPr/>
        </p:nvSpPr>
        <p:spPr>
          <a:xfrm>
            <a:off x="2788920" y="1783080"/>
            <a:ext cx="2103120" cy="1143000"/>
          </a:xfrm>
          <a:prstGeom prst="roundRect">
            <a:avLst>
              <a:gd name="adj" fmla="val 9000"/>
            </a:avLst>
          </a:prstGeom>
          <a:solidFill>
            <a:srgbClr val="7AB51D"/>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98000"/>
              </a:lnSpc>
              <a:spcAft>
                <a:spcPts val="0"/>
              </a:spcAft>
            </a:pPr>
            <a:r>
              <a:rPr sz="1300" b="1">
                <a:solidFill>
                  <a:srgbClr val="FFFFFF"/>
                </a:solidFill>
                <a:latin typeface="Calibri"/>
              </a:rPr>
              <a:t>Online Spline</a:t>
            </a:r>
          </a:p>
          <a:p>
            <a:pPr algn="ctr">
              <a:lnSpc>
                <a:spcPct val="98000"/>
              </a:lnSpc>
              <a:spcAft>
                <a:spcPts val="0"/>
              </a:spcAft>
            </a:pPr>
            <a:r>
              <a:rPr sz="1300" b="1">
                <a:solidFill>
                  <a:srgbClr val="FFFFFF"/>
                </a:solidFill>
                <a:latin typeface="Calibri"/>
              </a:rPr>
              <a:t>Planner</a:t>
            </a:r>
          </a:p>
        </p:txBody>
      </p:sp>
      <p:sp>
        <p:nvSpPr>
          <p:cNvPr id="8" name="Rounded Rectangle 7"/>
          <p:cNvSpPr/>
          <p:nvPr/>
        </p:nvSpPr>
        <p:spPr>
          <a:xfrm>
            <a:off x="5257800" y="1783080"/>
            <a:ext cx="2103120" cy="1143000"/>
          </a:xfrm>
          <a:prstGeom prst="roundRect">
            <a:avLst>
              <a:gd name="adj" fmla="val 9000"/>
            </a:avLst>
          </a:prstGeom>
          <a:solidFill>
            <a:srgbClr val="7AB51D"/>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98000"/>
              </a:lnSpc>
              <a:spcAft>
                <a:spcPts val="0"/>
              </a:spcAft>
            </a:pPr>
            <a:r>
              <a:rPr sz="1300" b="1">
                <a:solidFill>
                  <a:srgbClr val="FFFFFF"/>
                </a:solidFill>
                <a:latin typeface="Calibri"/>
              </a:rPr>
              <a:t>Cascaded-PID</a:t>
            </a:r>
          </a:p>
          <a:p>
            <a:pPr algn="ctr">
              <a:lnSpc>
                <a:spcPct val="98000"/>
              </a:lnSpc>
              <a:spcAft>
                <a:spcPts val="0"/>
              </a:spcAft>
            </a:pPr>
            <a:r>
              <a:rPr sz="1300" b="1">
                <a:solidFill>
                  <a:srgbClr val="FFFFFF"/>
                </a:solidFill>
                <a:latin typeface="Calibri"/>
              </a:rPr>
              <a:t>Tracker</a:t>
            </a:r>
          </a:p>
        </p:txBody>
      </p:sp>
      <p:sp>
        <p:nvSpPr>
          <p:cNvPr id="9" name="Rounded Rectangle 8"/>
          <p:cNvSpPr/>
          <p:nvPr/>
        </p:nvSpPr>
        <p:spPr>
          <a:xfrm>
            <a:off x="7726679" y="1783080"/>
            <a:ext cx="1920240" cy="1143000"/>
          </a:xfrm>
          <a:prstGeom prst="roundRect">
            <a:avLst>
              <a:gd name="adj" fmla="val 9000"/>
            </a:avLst>
          </a:prstGeom>
          <a:solidFill>
            <a:srgbClr val="ECEFF2"/>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98000"/>
              </a:lnSpc>
              <a:spcAft>
                <a:spcPts val="0"/>
              </a:spcAft>
            </a:pPr>
            <a:r>
              <a:rPr sz="1300" b="1">
                <a:solidFill>
                  <a:srgbClr val="262B33"/>
                </a:solidFill>
                <a:latin typeface="Calibri"/>
              </a:rPr>
              <a:t>Attitude cmd</a:t>
            </a:r>
          </a:p>
          <a:p>
            <a:pPr algn="ctr">
              <a:lnSpc>
                <a:spcPct val="98000"/>
              </a:lnSpc>
              <a:spcAft>
                <a:spcPts val="0"/>
              </a:spcAft>
            </a:pPr>
            <a:r>
              <a:rPr sz="1300" b="1">
                <a:solidFill>
                  <a:srgbClr val="262B33"/>
                </a:solidFill>
                <a:latin typeface="Calibri"/>
              </a:rPr>
              <a:t>[r, p, y, thrust]</a:t>
            </a:r>
          </a:p>
        </p:txBody>
      </p:sp>
      <p:sp>
        <p:nvSpPr>
          <p:cNvPr id="10" name="Rounded Rectangle 9"/>
          <p:cNvSpPr/>
          <p:nvPr/>
        </p:nvSpPr>
        <p:spPr>
          <a:xfrm>
            <a:off x="9921240" y="1783080"/>
            <a:ext cx="1691640" cy="1143000"/>
          </a:xfrm>
          <a:prstGeom prst="roundRect">
            <a:avLst>
              <a:gd name="adj" fmla="val 9000"/>
            </a:avLst>
          </a:prstGeom>
          <a:solidFill>
            <a:srgbClr val="ECEFF2"/>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98000"/>
              </a:lnSpc>
              <a:spcAft>
                <a:spcPts val="0"/>
              </a:spcAft>
            </a:pPr>
            <a:r>
              <a:rPr lang="tr-TR" sz="1300" b="1" dirty="0" err="1">
                <a:solidFill>
                  <a:srgbClr val="262B33"/>
                </a:solidFill>
                <a:latin typeface="Calibri"/>
              </a:rPr>
              <a:t>Drone</a:t>
            </a:r>
            <a:endParaRPr sz="1300" b="1" dirty="0">
              <a:solidFill>
                <a:srgbClr val="262B33"/>
              </a:solidFill>
              <a:latin typeface="Calibri"/>
            </a:endParaRPr>
          </a:p>
        </p:txBody>
      </p:sp>
      <p:sp>
        <p:nvSpPr>
          <p:cNvPr id="11" name="Right Arrow 10"/>
          <p:cNvSpPr/>
          <p:nvPr/>
        </p:nvSpPr>
        <p:spPr>
          <a:xfrm>
            <a:off x="2551176" y="2208276"/>
            <a:ext cx="201167" cy="292608"/>
          </a:xfrm>
          <a:prstGeom prst="rightArrow">
            <a:avLst>
              <a:gd name="adj1" fmla="val 55000"/>
              <a:gd name="adj2" fmla="val 55000"/>
            </a:avLst>
          </a:prstGeom>
          <a:solidFill>
            <a:srgbClr val="7AB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4928616" y="2208276"/>
            <a:ext cx="292608" cy="292608"/>
          </a:xfrm>
          <a:prstGeom prst="rightArrow">
            <a:avLst>
              <a:gd name="adj1" fmla="val 55000"/>
              <a:gd name="adj2" fmla="val 55000"/>
            </a:avLst>
          </a:prstGeom>
          <a:solidFill>
            <a:srgbClr val="7AB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7397496" y="2208276"/>
            <a:ext cx="292607" cy="292608"/>
          </a:xfrm>
          <a:prstGeom prst="rightArrow">
            <a:avLst>
              <a:gd name="adj1" fmla="val 55000"/>
              <a:gd name="adj2" fmla="val 55000"/>
            </a:avLst>
          </a:prstGeom>
          <a:solidFill>
            <a:srgbClr val="7AB5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13"/>
          <p:cNvSpPr/>
          <p:nvPr/>
        </p:nvSpPr>
        <p:spPr>
          <a:xfrm>
            <a:off x="9683495" y="2208276"/>
            <a:ext cx="201168" cy="292608"/>
          </a:xfrm>
          <a:prstGeom prst="rightArrow">
            <a:avLst>
              <a:gd name="adj1" fmla="val 55000"/>
              <a:gd name="adj2" fmla="val 55000"/>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5" name="Connector 14"/>
          <p:cNvCxnSpPr/>
          <p:nvPr/>
        </p:nvCxnSpPr>
        <p:spPr>
          <a:xfrm>
            <a:off x="10767060" y="2926080"/>
            <a:ext cx="0" cy="164592"/>
          </a:xfrm>
          <a:prstGeom prst="line">
            <a:avLst/>
          </a:prstGeom>
          <a:ln w="19050">
            <a:solidFill>
              <a:srgbClr val="8A9098"/>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508760" y="2926080"/>
            <a:ext cx="0" cy="164592"/>
          </a:xfrm>
          <a:prstGeom prst="line">
            <a:avLst/>
          </a:prstGeom>
          <a:ln w="19050">
            <a:solidFill>
              <a:srgbClr val="8A90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508760" y="3090672"/>
            <a:ext cx="9258300" cy="0"/>
          </a:xfrm>
          <a:prstGeom prst="line">
            <a:avLst/>
          </a:prstGeom>
          <a:ln w="19050">
            <a:solidFill>
              <a:srgbClr val="8A9098"/>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4846320" y="3072384"/>
            <a:ext cx="2743200" cy="210314"/>
          </a:xfrm>
          <a:prstGeom prst="rect">
            <a:avLst/>
          </a:prstGeom>
          <a:noFill/>
        </p:spPr>
        <p:txBody>
          <a:bodyPr wrap="square" lIns="25400" tIns="12700" rIns="25400" bIns="12700">
            <a:spAutoFit/>
          </a:bodyPr>
          <a:lstStyle/>
          <a:p>
            <a:pPr algn="ctr">
              <a:lnSpc>
                <a:spcPct val="100000"/>
              </a:lnSpc>
              <a:spcAft>
                <a:spcPts val="400"/>
              </a:spcAft>
            </a:pPr>
            <a:r>
              <a:rPr sz="1200" b="0" dirty="0">
                <a:solidFill>
                  <a:srgbClr val="8A9098"/>
                </a:solidFill>
                <a:latin typeface="Calibri Light"/>
              </a:rPr>
              <a:t>state feedback loop  ·  every 20 </a:t>
            </a:r>
            <a:r>
              <a:rPr sz="1200" b="0" dirty="0" err="1">
                <a:solidFill>
                  <a:srgbClr val="8A9098"/>
                </a:solidFill>
                <a:latin typeface="Calibri Light"/>
              </a:rPr>
              <a:t>ms</a:t>
            </a:r>
            <a:endParaRPr sz="1200" b="0" dirty="0">
              <a:solidFill>
                <a:srgbClr val="8A9098"/>
              </a:solidFill>
              <a:latin typeface="Calibri Light"/>
            </a:endParaRPr>
          </a:p>
        </p:txBody>
      </p:sp>
      <p:sp>
        <p:nvSpPr>
          <p:cNvPr id="19" name="Rectangle 18"/>
          <p:cNvSpPr/>
          <p:nvPr/>
        </p:nvSpPr>
        <p:spPr>
          <a:xfrm>
            <a:off x="502920" y="3611880"/>
            <a:ext cx="6949440" cy="1132858"/>
          </a:xfrm>
          <a:prstGeom prst="rect">
            <a:avLst/>
          </a:prstGeom>
          <a:solidFill>
            <a:srgbClr val="E2ECF6"/>
          </a:solidFill>
          <a:ln w="12700">
            <a:solidFill>
              <a:srgbClr val="2E6FB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58368" y="3675888"/>
            <a:ext cx="6675120" cy="974049"/>
          </a:xfrm>
          <a:prstGeom prst="rect">
            <a:avLst/>
          </a:prstGeom>
          <a:noFill/>
        </p:spPr>
        <p:txBody>
          <a:bodyPr wrap="square" lIns="25400" tIns="12700" rIns="25400" bIns="12700">
            <a:spAutoFit/>
          </a:bodyPr>
          <a:lstStyle/>
          <a:p>
            <a:pPr marL="285750" indent="-285750">
              <a:lnSpc>
                <a:spcPct val="102000"/>
              </a:lnSpc>
              <a:spcAft>
                <a:spcPts val="200"/>
              </a:spcAft>
              <a:buFont typeface="Arial" panose="020B0604020202020204" pitchFamily="34" charset="0"/>
              <a:buChar char="•"/>
            </a:pPr>
            <a:r>
              <a:rPr lang="tr-TR" sz="1400" b="1" dirty="0" err="1"/>
              <a:t>Its</a:t>
            </a:r>
            <a:r>
              <a:rPr lang="tr-TR" sz="1400" b="1" dirty="0"/>
              <a:t> </a:t>
            </a:r>
            <a:r>
              <a:rPr lang="tr-TR" sz="1400" b="1" dirty="0" err="1"/>
              <a:t>Own</a:t>
            </a:r>
            <a:r>
              <a:rPr lang="tr-TR" sz="1400" b="1" dirty="0"/>
              <a:t> Flight </a:t>
            </a:r>
            <a:r>
              <a:rPr lang="tr-TR" sz="1400" b="1" dirty="0" err="1"/>
              <a:t>State</a:t>
            </a:r>
            <a:r>
              <a:rPr lang="tr-TR" sz="1400" b="1" dirty="0"/>
              <a:t>:</a:t>
            </a:r>
            <a:r>
              <a:rPr lang="tr-TR" sz="1400" dirty="0"/>
              <a:t> </a:t>
            </a:r>
            <a:r>
              <a:rPr lang="tr-TR" sz="1400" dirty="0" err="1"/>
              <a:t>Continuous</a:t>
            </a:r>
            <a:r>
              <a:rPr lang="tr-TR" sz="1400" dirty="0"/>
              <a:t> 3D </a:t>
            </a:r>
            <a:r>
              <a:rPr lang="tr-TR" sz="1400" dirty="0" err="1"/>
              <a:t>position</a:t>
            </a:r>
            <a:r>
              <a:rPr lang="tr-TR" sz="1400" dirty="0"/>
              <a:t>, </a:t>
            </a:r>
            <a:r>
              <a:rPr lang="tr-TR" sz="1400" dirty="0" err="1"/>
              <a:t>velocity</a:t>
            </a:r>
            <a:r>
              <a:rPr lang="tr-TR" sz="1400" dirty="0"/>
              <a:t>, </a:t>
            </a:r>
            <a:r>
              <a:rPr lang="tr-TR" sz="1400" dirty="0" err="1"/>
              <a:t>and</a:t>
            </a:r>
            <a:r>
              <a:rPr lang="tr-TR" sz="1400" dirty="0"/>
              <a:t> </a:t>
            </a:r>
            <a:r>
              <a:rPr lang="tr-TR" sz="1400" dirty="0" err="1"/>
              <a:t>orientation</a:t>
            </a:r>
            <a:r>
              <a:rPr lang="tr-TR" sz="1400" dirty="0"/>
              <a:t>. </a:t>
            </a:r>
          </a:p>
          <a:p>
            <a:pPr marL="285750" indent="-285750">
              <a:lnSpc>
                <a:spcPct val="102000"/>
              </a:lnSpc>
              <a:spcAft>
                <a:spcPts val="200"/>
              </a:spcAft>
              <a:buFont typeface="Arial" panose="020B0604020202020204" pitchFamily="34" charset="0"/>
              <a:buChar char="•"/>
            </a:pPr>
            <a:r>
              <a:rPr lang="tr-TR" sz="1400" b="1" dirty="0"/>
              <a:t>The Racing Environment:</a:t>
            </a:r>
            <a:r>
              <a:rPr lang="tr-TR" sz="1400" dirty="0"/>
              <a:t> </a:t>
            </a:r>
            <a:r>
              <a:rPr lang="tr-TR" sz="1400" dirty="0" err="1"/>
              <a:t>Exact</a:t>
            </a:r>
            <a:r>
              <a:rPr lang="tr-TR" sz="1400" dirty="0"/>
              <a:t> </a:t>
            </a:r>
            <a:r>
              <a:rPr lang="tr-TR" sz="1400" dirty="0" err="1"/>
              <a:t>coordinates</a:t>
            </a:r>
            <a:r>
              <a:rPr lang="tr-TR" sz="1400" dirty="0"/>
              <a:t> </a:t>
            </a:r>
            <a:r>
              <a:rPr lang="tr-TR" sz="1400" dirty="0" err="1"/>
              <a:t>and</a:t>
            </a:r>
            <a:r>
              <a:rPr lang="tr-TR" sz="1400" dirty="0"/>
              <a:t> </a:t>
            </a:r>
            <a:r>
              <a:rPr lang="tr-TR" sz="1400" dirty="0" err="1"/>
              <a:t>angles</a:t>
            </a:r>
            <a:r>
              <a:rPr lang="tr-TR" sz="1400" dirty="0"/>
              <a:t> of </a:t>
            </a:r>
            <a:r>
              <a:rPr lang="tr-TR" sz="1400" dirty="0" err="1"/>
              <a:t>all</a:t>
            </a:r>
            <a:r>
              <a:rPr lang="tr-TR" sz="1400" dirty="0"/>
              <a:t> </a:t>
            </a:r>
            <a:r>
              <a:rPr lang="tr-TR" sz="1400" dirty="0" err="1"/>
              <a:t>gates</a:t>
            </a:r>
            <a:r>
              <a:rPr lang="tr-TR" sz="1400" dirty="0"/>
              <a:t> </a:t>
            </a:r>
            <a:r>
              <a:rPr lang="tr-TR" sz="1400" dirty="0" err="1"/>
              <a:t>and</a:t>
            </a:r>
            <a:r>
              <a:rPr lang="tr-TR" sz="1400" dirty="0"/>
              <a:t> </a:t>
            </a:r>
            <a:r>
              <a:rPr lang="tr-TR" sz="1400" dirty="0" err="1"/>
              <a:t>obstacles</a:t>
            </a:r>
            <a:r>
              <a:rPr lang="tr-TR" sz="1400" dirty="0"/>
              <a:t>.</a:t>
            </a:r>
          </a:p>
          <a:p>
            <a:pPr marL="285750" indent="-285750">
              <a:lnSpc>
                <a:spcPct val="102000"/>
              </a:lnSpc>
              <a:spcAft>
                <a:spcPts val="200"/>
              </a:spcAft>
              <a:buFont typeface="Arial" panose="020B0604020202020204" pitchFamily="34" charset="0"/>
              <a:buChar char="•"/>
            </a:pPr>
            <a:r>
              <a:rPr lang="tr-TR" sz="1400" b="1" dirty="0"/>
              <a:t>Active </a:t>
            </a:r>
            <a:r>
              <a:rPr lang="tr-TR" sz="1400" b="1" dirty="0" err="1"/>
              <a:t>Mission</a:t>
            </a:r>
            <a:r>
              <a:rPr lang="tr-TR" sz="1400" b="1" dirty="0"/>
              <a:t> </a:t>
            </a:r>
            <a:r>
              <a:rPr lang="tr-TR" sz="1400" b="1" dirty="0" err="1"/>
              <a:t>Targets</a:t>
            </a:r>
            <a:r>
              <a:rPr lang="tr-TR" sz="1400" b="1" dirty="0"/>
              <a:t>:</a:t>
            </a:r>
            <a:r>
              <a:rPr lang="tr-TR" sz="1400" dirty="0"/>
              <a:t> The </a:t>
            </a:r>
            <a:r>
              <a:rPr lang="tr-TR" sz="1400" dirty="0" err="1"/>
              <a:t>specific</a:t>
            </a:r>
            <a:r>
              <a:rPr lang="tr-TR" sz="1400" dirty="0"/>
              <a:t> </a:t>
            </a:r>
            <a:r>
              <a:rPr lang="tr-TR" sz="1400" dirty="0" err="1"/>
              <a:t>gate</a:t>
            </a:r>
            <a:r>
              <a:rPr lang="tr-TR" sz="1400" dirty="0"/>
              <a:t> </a:t>
            </a:r>
            <a:r>
              <a:rPr lang="tr-TR" sz="1400" dirty="0" err="1"/>
              <a:t>currently</a:t>
            </a:r>
            <a:r>
              <a:rPr lang="tr-TR" sz="1400" dirty="0"/>
              <a:t> </a:t>
            </a:r>
            <a:r>
              <a:rPr lang="tr-TR" sz="1400" dirty="0" err="1"/>
              <a:t>being</a:t>
            </a:r>
            <a:r>
              <a:rPr lang="tr-TR" sz="1400" dirty="0"/>
              <a:t> </a:t>
            </a:r>
            <a:r>
              <a:rPr lang="tr-TR" sz="1400" dirty="0" err="1"/>
              <a:t>approached</a:t>
            </a:r>
            <a:r>
              <a:rPr lang="tr-TR" sz="1400" dirty="0"/>
              <a:t>.</a:t>
            </a:r>
            <a:r>
              <a:rPr lang="en-US" sz="1400" dirty="0"/>
              <a:t> </a:t>
            </a:r>
            <a:endParaRPr lang="tr-TR" sz="1400" dirty="0"/>
          </a:p>
          <a:p>
            <a:pPr marL="285750" indent="-285750">
              <a:lnSpc>
                <a:spcPct val="102000"/>
              </a:lnSpc>
              <a:spcAft>
                <a:spcPts val="200"/>
              </a:spcAft>
              <a:buFont typeface="Arial" panose="020B0604020202020204" pitchFamily="34" charset="0"/>
              <a:buChar char="•"/>
            </a:pPr>
            <a:r>
              <a:rPr lang="en-US" sz="1400" b="1" dirty="0"/>
              <a:t>Proximity Sensors: </a:t>
            </a:r>
            <a:r>
              <a:rPr lang="en-US" sz="1400" dirty="0"/>
              <a:t>Short-range distance tracking </a:t>
            </a:r>
            <a:r>
              <a:rPr lang="tr-TR" sz="1400" dirty="0"/>
              <a:t>(0.7 m) </a:t>
            </a:r>
            <a:r>
              <a:rPr lang="en-US" sz="1400" dirty="0"/>
              <a:t>to verify the track layout.</a:t>
            </a:r>
            <a:endParaRPr lang="tr-TR" sz="1400" dirty="0"/>
          </a:p>
        </p:txBody>
      </p:sp>
      <p:sp>
        <p:nvSpPr>
          <p:cNvPr id="21" name="Rectangle 20"/>
          <p:cNvSpPr/>
          <p:nvPr/>
        </p:nvSpPr>
        <p:spPr>
          <a:xfrm>
            <a:off x="7726679" y="3648456"/>
            <a:ext cx="201168" cy="146304"/>
          </a:xfrm>
          <a:prstGeom prst="rect">
            <a:avLst/>
          </a:prstGeom>
          <a:solidFill>
            <a:srgbClr val="7AB51D"/>
          </a:solidFill>
          <a:ln w="9525">
            <a:solidFill>
              <a:srgbClr val="C7C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01000" y="3594156"/>
            <a:ext cx="2011680" cy="241092"/>
          </a:xfrm>
          <a:prstGeom prst="rect">
            <a:avLst/>
          </a:prstGeom>
          <a:noFill/>
        </p:spPr>
        <p:txBody>
          <a:bodyPr wrap="square" lIns="25400" tIns="12700" rIns="25400" bIns="12700">
            <a:spAutoFit/>
          </a:bodyPr>
          <a:lstStyle/>
          <a:p>
            <a:pPr algn="l">
              <a:lnSpc>
                <a:spcPct val="100000"/>
              </a:lnSpc>
              <a:spcAft>
                <a:spcPts val="400"/>
              </a:spcAft>
            </a:pPr>
            <a:r>
              <a:rPr sz="1400" b="0" dirty="0">
                <a:solidFill>
                  <a:srgbClr val="262B33"/>
                </a:solidFill>
                <a:latin typeface="Calibri Light"/>
              </a:rPr>
              <a:t>built by us</a:t>
            </a:r>
          </a:p>
        </p:txBody>
      </p:sp>
      <p:sp>
        <p:nvSpPr>
          <p:cNvPr id="23" name="Rectangle 22"/>
          <p:cNvSpPr/>
          <p:nvPr/>
        </p:nvSpPr>
        <p:spPr>
          <a:xfrm>
            <a:off x="7726679" y="3941063"/>
            <a:ext cx="201168" cy="146304"/>
          </a:xfrm>
          <a:prstGeom prst="rect">
            <a:avLst/>
          </a:prstGeom>
          <a:solidFill>
            <a:srgbClr val="ECEFF2"/>
          </a:solidFill>
          <a:ln w="9525">
            <a:solidFill>
              <a:srgbClr val="C7C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001000" y="3886764"/>
            <a:ext cx="2011680" cy="241092"/>
          </a:xfrm>
          <a:prstGeom prst="rect">
            <a:avLst/>
          </a:prstGeom>
          <a:noFill/>
        </p:spPr>
        <p:txBody>
          <a:bodyPr wrap="square" lIns="25400" tIns="12700" rIns="25400" bIns="12700">
            <a:spAutoFit/>
          </a:bodyPr>
          <a:lstStyle/>
          <a:p>
            <a:pPr algn="l">
              <a:lnSpc>
                <a:spcPct val="100000"/>
              </a:lnSpc>
              <a:spcAft>
                <a:spcPts val="400"/>
              </a:spcAft>
            </a:pPr>
            <a:r>
              <a:rPr sz="1400" b="0" dirty="0">
                <a:solidFill>
                  <a:srgbClr val="262B33"/>
                </a:solidFill>
                <a:latin typeface="Calibri Light"/>
              </a:rPr>
              <a:t>given</a:t>
            </a:r>
            <a:endParaRPr sz="1100" b="0" dirty="0">
              <a:solidFill>
                <a:srgbClr val="262B33"/>
              </a:solidFill>
              <a:latin typeface="Calibri Light"/>
            </a:endParaRPr>
          </a:p>
        </p:txBody>
      </p:sp>
      <p:sp>
        <p:nvSpPr>
          <p:cNvPr id="26" name="TextBox 25"/>
          <p:cNvSpPr txBox="1"/>
          <p:nvPr/>
        </p:nvSpPr>
        <p:spPr>
          <a:xfrm>
            <a:off x="502920" y="4932582"/>
            <a:ext cx="11247120" cy="546303"/>
          </a:xfrm>
          <a:prstGeom prst="rect">
            <a:avLst/>
          </a:prstGeom>
          <a:noFill/>
        </p:spPr>
        <p:txBody>
          <a:bodyPr wrap="square" lIns="25400" tIns="12700" rIns="25400" bIns="12700">
            <a:spAutoFit/>
          </a:bodyPr>
          <a:lstStyle/>
          <a:p>
            <a:pPr marL="182880" indent="-182880">
              <a:lnSpc>
                <a:spcPct val="100000"/>
              </a:lnSpc>
              <a:spcAft>
                <a:spcPts val="700"/>
              </a:spcAft>
              <a:buClr>
                <a:srgbClr val="558010"/>
              </a:buClr>
              <a:buFont typeface="Arial"/>
              <a:buChar char="▸"/>
            </a:pPr>
            <a:r>
              <a:rPr sz="1400" b="1" dirty="0">
                <a:solidFill>
                  <a:srgbClr val="262B33"/>
                </a:solidFill>
                <a:latin typeface="Calibri Light"/>
              </a:rPr>
              <a:t>Why this design: </a:t>
            </a:r>
            <a:r>
              <a:rPr sz="1400" b="0" dirty="0">
                <a:solidFill>
                  <a:srgbClr val="262B33"/>
                </a:solidFill>
                <a:latin typeface="Calibri Light"/>
              </a:rPr>
              <a:t>simple + robust on real hardware </a:t>
            </a:r>
            <a:r>
              <a:rPr lang="tr-TR" sz="1400" b="0" dirty="0">
                <a:solidFill>
                  <a:srgbClr val="262B33"/>
                </a:solidFill>
                <a:latin typeface="Calibri Light"/>
              </a:rPr>
              <a:t>-&gt; </a:t>
            </a:r>
            <a:r>
              <a:rPr sz="1400" b="0" dirty="0">
                <a:solidFill>
                  <a:srgbClr val="262B33"/>
                </a:solidFill>
                <a:latin typeface="Calibri Light"/>
              </a:rPr>
              <a:t>no fragile online MPC in the loop</a:t>
            </a:r>
          </a:p>
          <a:p>
            <a:pPr marL="182880" indent="-182880">
              <a:lnSpc>
                <a:spcPct val="100000"/>
              </a:lnSpc>
              <a:spcAft>
                <a:spcPts val="700"/>
              </a:spcAft>
              <a:buClr>
                <a:srgbClr val="558010"/>
              </a:buClr>
              <a:buFont typeface="Arial"/>
              <a:buChar char="▸"/>
            </a:pPr>
            <a:r>
              <a:rPr lang="tr-TR" sz="1400" b="1" dirty="0" err="1">
                <a:solidFill>
                  <a:srgbClr val="8A9098"/>
                </a:solidFill>
                <a:latin typeface="Calibri Light"/>
              </a:rPr>
              <a:t>Given</a:t>
            </a:r>
            <a:r>
              <a:rPr lang="tr-TR" sz="1400" b="1" dirty="0">
                <a:solidFill>
                  <a:srgbClr val="8A9098"/>
                </a:solidFill>
                <a:latin typeface="Calibri Light"/>
              </a:rPr>
              <a:t> Templates</a:t>
            </a:r>
            <a:r>
              <a:rPr sz="1400" b="1" dirty="0">
                <a:solidFill>
                  <a:srgbClr val="8A9098"/>
                </a:solidFill>
                <a:latin typeface="Calibri Light"/>
              </a:rPr>
              <a:t>: </a:t>
            </a:r>
            <a:r>
              <a:rPr sz="1400" b="0" dirty="0">
                <a:solidFill>
                  <a:srgbClr val="8A9098"/>
                </a:solidFill>
                <a:latin typeface="Calibri Light"/>
              </a:rPr>
              <a:t>simulator, environment, observation/action interface, empty base Controller class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sz="2700" b="1">
                <a:solidFill>
                  <a:srgbClr val="262B33"/>
                </a:solidFill>
              </a:rPr>
              <a:t>How the Drone Flies: Spline + Cascaded PID</a:t>
            </a:r>
          </a:p>
        </p:txBody>
      </p:sp>
      <p:sp>
        <p:nvSpPr>
          <p:cNvPr id="5" name="Text Placeholder 4"/>
          <p:cNvSpPr>
            <a:spLocks noGrp="1"/>
          </p:cNvSpPr>
          <p:nvPr>
            <p:ph type="body" sz="quarter" idx="12"/>
          </p:nvPr>
        </p:nvSpPr>
        <p:spPr/>
        <p:txBody>
          <a:bodyPr/>
          <a:lstStyle/>
          <a:p>
            <a:r>
              <a:rPr sz="1200" b="1">
                <a:solidFill>
                  <a:srgbClr val="558010"/>
                </a:solidFill>
                <a:latin typeface="Calibri"/>
              </a:rPr>
              <a:t>METHODOLOGY &amp; APPROACH  ·  2 / 3</a:t>
            </a:r>
          </a:p>
        </p:txBody>
      </p:sp>
      <p:sp>
        <p:nvSpPr>
          <p:cNvPr id="6" name="Rounded Rectangle 5"/>
          <p:cNvSpPr/>
          <p:nvPr/>
        </p:nvSpPr>
        <p:spPr>
          <a:xfrm>
            <a:off x="502920" y="1783080"/>
            <a:ext cx="2057400" cy="1051560"/>
          </a:xfrm>
          <a:prstGeom prst="roundRect">
            <a:avLst>
              <a:gd name="adj" fmla="val 9000"/>
            </a:avLst>
          </a:prstGeom>
          <a:solidFill>
            <a:srgbClr val="7AB51D"/>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98000"/>
              </a:lnSpc>
              <a:spcAft>
                <a:spcPts val="0"/>
              </a:spcAft>
            </a:pPr>
            <a:r>
              <a:rPr sz="1250" b="1" dirty="0">
                <a:solidFill>
                  <a:srgbClr val="FFFFFF"/>
                </a:solidFill>
                <a:latin typeface="Calibri"/>
              </a:rPr>
              <a:t>Spline </a:t>
            </a:r>
            <a:r>
              <a:rPr lang="tr-TR" sz="1250" b="1" dirty="0" err="1">
                <a:solidFill>
                  <a:srgbClr val="FFFFFF"/>
                </a:solidFill>
                <a:latin typeface="Calibri"/>
              </a:rPr>
              <a:t>logic</a:t>
            </a:r>
            <a:endParaRPr sz="1250" b="1" dirty="0">
              <a:solidFill>
                <a:srgbClr val="FFFFFF"/>
              </a:solidFill>
              <a:latin typeface="Calibri"/>
            </a:endParaRPr>
          </a:p>
          <a:p>
            <a:pPr algn="ctr">
              <a:lnSpc>
                <a:spcPct val="98000"/>
              </a:lnSpc>
              <a:spcAft>
                <a:spcPts val="0"/>
              </a:spcAft>
            </a:pPr>
            <a:r>
              <a:rPr sz="1250" b="1" dirty="0">
                <a:solidFill>
                  <a:srgbClr val="FFFFFF"/>
                </a:solidFill>
                <a:latin typeface="Calibri"/>
              </a:rPr>
              <a:t>pos · vel · accel</a:t>
            </a:r>
          </a:p>
        </p:txBody>
      </p:sp>
      <p:sp>
        <p:nvSpPr>
          <p:cNvPr id="7" name="Rounded Rectangle 6"/>
          <p:cNvSpPr/>
          <p:nvPr/>
        </p:nvSpPr>
        <p:spPr>
          <a:xfrm>
            <a:off x="2834640" y="1783080"/>
            <a:ext cx="2057400" cy="1051560"/>
          </a:xfrm>
          <a:prstGeom prst="roundRect">
            <a:avLst>
              <a:gd name="adj" fmla="val 9000"/>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98000"/>
              </a:lnSpc>
              <a:spcAft>
                <a:spcPts val="0"/>
              </a:spcAft>
            </a:pPr>
            <a:r>
              <a:rPr sz="1250" b="1">
                <a:solidFill>
                  <a:srgbClr val="FFFFFF"/>
                </a:solidFill>
                <a:latin typeface="Calibri"/>
              </a:rPr>
              <a:t>Outer PID</a:t>
            </a:r>
          </a:p>
          <a:p>
            <a:pPr algn="ctr">
              <a:lnSpc>
                <a:spcPct val="98000"/>
              </a:lnSpc>
              <a:spcAft>
                <a:spcPts val="0"/>
              </a:spcAft>
            </a:pPr>
            <a:r>
              <a:rPr sz="1250" b="1">
                <a:solidFill>
                  <a:srgbClr val="FFFFFF"/>
                </a:solidFill>
                <a:latin typeface="Calibri"/>
              </a:rPr>
              <a:t>pos → vel</a:t>
            </a:r>
          </a:p>
        </p:txBody>
      </p:sp>
      <p:sp>
        <p:nvSpPr>
          <p:cNvPr id="8" name="Rounded Rectangle 7"/>
          <p:cNvSpPr/>
          <p:nvPr/>
        </p:nvSpPr>
        <p:spPr>
          <a:xfrm>
            <a:off x="5166360" y="1783080"/>
            <a:ext cx="2057400" cy="1051560"/>
          </a:xfrm>
          <a:prstGeom prst="roundRect">
            <a:avLst>
              <a:gd name="adj" fmla="val 9000"/>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98000"/>
              </a:lnSpc>
              <a:spcAft>
                <a:spcPts val="0"/>
              </a:spcAft>
            </a:pPr>
            <a:r>
              <a:rPr sz="1250" b="1">
                <a:solidFill>
                  <a:srgbClr val="FFFFFF"/>
                </a:solidFill>
                <a:latin typeface="Calibri"/>
              </a:rPr>
              <a:t>Inner PID</a:t>
            </a:r>
          </a:p>
          <a:p>
            <a:pPr algn="ctr">
              <a:lnSpc>
                <a:spcPct val="98000"/>
              </a:lnSpc>
              <a:spcAft>
                <a:spcPts val="0"/>
              </a:spcAft>
            </a:pPr>
            <a:r>
              <a:rPr sz="1250" b="1">
                <a:solidFill>
                  <a:srgbClr val="FFFFFF"/>
                </a:solidFill>
                <a:latin typeface="Calibri"/>
              </a:rPr>
              <a:t>vel → force</a:t>
            </a:r>
          </a:p>
        </p:txBody>
      </p:sp>
      <p:sp>
        <p:nvSpPr>
          <p:cNvPr id="9" name="Rounded Rectangle 8"/>
          <p:cNvSpPr/>
          <p:nvPr/>
        </p:nvSpPr>
        <p:spPr>
          <a:xfrm>
            <a:off x="7498079" y="1783080"/>
            <a:ext cx="2057400" cy="1051560"/>
          </a:xfrm>
          <a:prstGeom prst="roundRect">
            <a:avLst>
              <a:gd name="adj" fmla="val 9000"/>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98000"/>
              </a:lnSpc>
              <a:spcAft>
                <a:spcPts val="0"/>
              </a:spcAft>
            </a:pPr>
            <a:r>
              <a:rPr sz="1250" b="1">
                <a:solidFill>
                  <a:srgbClr val="FFFFFF"/>
                </a:solidFill>
                <a:latin typeface="Calibri"/>
              </a:rPr>
              <a:t>→ Attitude</a:t>
            </a:r>
          </a:p>
          <a:p>
            <a:pPr algn="ctr">
              <a:lnSpc>
                <a:spcPct val="98000"/>
              </a:lnSpc>
              <a:spcAft>
                <a:spcPts val="0"/>
              </a:spcAft>
            </a:pPr>
            <a:r>
              <a:rPr sz="1250" b="1">
                <a:solidFill>
                  <a:srgbClr val="FFFFFF"/>
                </a:solidFill>
                <a:latin typeface="Calibri"/>
              </a:rPr>
              <a:t>[r, p, y, thrust]</a:t>
            </a:r>
          </a:p>
        </p:txBody>
      </p:sp>
      <p:sp>
        <p:nvSpPr>
          <p:cNvPr id="10" name="Rounded Rectangle 9"/>
          <p:cNvSpPr/>
          <p:nvPr/>
        </p:nvSpPr>
        <p:spPr>
          <a:xfrm>
            <a:off x="9829800" y="1783080"/>
            <a:ext cx="1783080" cy="1051560"/>
          </a:xfrm>
          <a:prstGeom prst="roundRect">
            <a:avLst>
              <a:gd name="adj" fmla="val 9000"/>
            </a:avLst>
          </a:prstGeom>
          <a:solidFill>
            <a:srgbClr val="ECEFF2"/>
          </a:solidFill>
          <a:ln w="12700">
            <a:solidFill>
              <a:srgbClr val="C7CDD4"/>
            </a:solidFill>
          </a:ln>
          <a:effectLst/>
        </p:spPr>
        <p:style>
          <a:lnRef idx="1">
            <a:schemeClr val="accent1"/>
          </a:lnRef>
          <a:fillRef idx="3">
            <a:schemeClr val="accent1"/>
          </a:fillRef>
          <a:effectRef idx="2">
            <a:schemeClr val="accent1"/>
          </a:effectRef>
          <a:fontRef idx="minor">
            <a:schemeClr val="lt1"/>
          </a:fontRef>
        </p:style>
        <p:txBody>
          <a:bodyPr wrap="square" lIns="50800" tIns="25400" rIns="50800" bIns="25400" rtlCol="0" anchor="ctr"/>
          <a:lstStyle/>
          <a:p>
            <a:pPr algn="ctr">
              <a:lnSpc>
                <a:spcPct val="98000"/>
              </a:lnSpc>
              <a:spcAft>
                <a:spcPts val="0"/>
              </a:spcAft>
            </a:pPr>
            <a:r>
              <a:rPr lang="tr-TR" sz="1250" b="1" dirty="0" err="1">
                <a:solidFill>
                  <a:srgbClr val="262B33"/>
                </a:solidFill>
                <a:latin typeface="Calibri"/>
              </a:rPr>
              <a:t>Drone</a:t>
            </a:r>
            <a:endParaRPr sz="1250" b="1" dirty="0">
              <a:solidFill>
                <a:srgbClr val="262B33"/>
              </a:solidFill>
              <a:latin typeface="Calibri"/>
            </a:endParaRPr>
          </a:p>
        </p:txBody>
      </p:sp>
      <p:sp>
        <p:nvSpPr>
          <p:cNvPr id="11" name="Right Arrow 10"/>
          <p:cNvSpPr/>
          <p:nvPr/>
        </p:nvSpPr>
        <p:spPr>
          <a:xfrm>
            <a:off x="2596896" y="2171700"/>
            <a:ext cx="201168" cy="274320"/>
          </a:xfrm>
          <a:prstGeom prst="rightArrow">
            <a:avLst>
              <a:gd name="adj1" fmla="val 55000"/>
              <a:gd name="adj2" fmla="val 55000"/>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ight Arrow 11"/>
          <p:cNvSpPr/>
          <p:nvPr/>
        </p:nvSpPr>
        <p:spPr>
          <a:xfrm>
            <a:off x="4928616" y="2171700"/>
            <a:ext cx="201168" cy="274320"/>
          </a:xfrm>
          <a:prstGeom prst="rightArrow">
            <a:avLst>
              <a:gd name="adj1" fmla="val 55000"/>
              <a:gd name="adj2" fmla="val 55000"/>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7260336" y="2171700"/>
            <a:ext cx="201167" cy="274320"/>
          </a:xfrm>
          <a:prstGeom prst="rightArrow">
            <a:avLst>
              <a:gd name="adj1" fmla="val 55000"/>
              <a:gd name="adj2" fmla="val 55000"/>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ight Arrow 13"/>
          <p:cNvSpPr/>
          <p:nvPr/>
        </p:nvSpPr>
        <p:spPr>
          <a:xfrm>
            <a:off x="9592055" y="2171700"/>
            <a:ext cx="201168" cy="274320"/>
          </a:xfrm>
          <a:prstGeom prst="rightArrow">
            <a:avLst>
              <a:gd name="adj1" fmla="val 55000"/>
              <a:gd name="adj2" fmla="val 55000"/>
            </a:avLst>
          </a:prstGeom>
          <a:solidFill>
            <a:srgbClr val="44546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8" name="Connector 17"/>
          <p:cNvCxnSpPr/>
          <p:nvPr/>
        </p:nvCxnSpPr>
        <p:spPr>
          <a:xfrm>
            <a:off x="10721340" y="2834639"/>
            <a:ext cx="0" cy="1078992"/>
          </a:xfrm>
          <a:prstGeom prst="line">
            <a:avLst/>
          </a:prstGeom>
          <a:ln w="19050">
            <a:solidFill>
              <a:srgbClr val="8A9098"/>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3108960" y="2834639"/>
            <a:ext cx="0" cy="1078992"/>
          </a:xfrm>
          <a:prstGeom prst="line">
            <a:avLst/>
          </a:prstGeom>
          <a:ln w="19050">
            <a:solidFill>
              <a:srgbClr val="8A9098"/>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3108960" y="3913631"/>
            <a:ext cx="7612380" cy="0"/>
          </a:xfrm>
          <a:prstGeom prst="line">
            <a:avLst/>
          </a:prstGeom>
          <a:ln w="19050">
            <a:solidFill>
              <a:srgbClr val="8A9098"/>
            </a:solidFill>
          </a:ln>
          <a:effectLst/>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08960" y="3956676"/>
            <a:ext cx="2743200" cy="210314"/>
          </a:xfrm>
          <a:prstGeom prst="rect">
            <a:avLst/>
          </a:prstGeom>
          <a:noFill/>
        </p:spPr>
        <p:txBody>
          <a:bodyPr wrap="square" lIns="25400" tIns="12700" rIns="25400" bIns="12700">
            <a:spAutoFit/>
          </a:bodyPr>
          <a:lstStyle/>
          <a:p>
            <a:pPr algn="l">
              <a:lnSpc>
                <a:spcPct val="100000"/>
              </a:lnSpc>
              <a:spcAft>
                <a:spcPts val="400"/>
              </a:spcAft>
            </a:pPr>
            <a:r>
              <a:rPr sz="1200" b="0" dirty="0">
                <a:solidFill>
                  <a:srgbClr val="8A9098"/>
                </a:solidFill>
                <a:latin typeface="Calibri Light"/>
              </a:rPr>
              <a:t>state feedback (pos, vel)</a:t>
            </a:r>
          </a:p>
        </p:txBody>
      </p:sp>
      <p:sp>
        <p:nvSpPr>
          <p:cNvPr id="22" name="TextBox 21"/>
          <p:cNvSpPr txBox="1"/>
          <p:nvPr/>
        </p:nvSpPr>
        <p:spPr>
          <a:xfrm>
            <a:off x="502919" y="4436733"/>
            <a:ext cx="10927079" cy="1731243"/>
          </a:xfrm>
          <a:prstGeom prst="rect">
            <a:avLst/>
          </a:prstGeom>
          <a:noFill/>
        </p:spPr>
        <p:txBody>
          <a:bodyPr wrap="square" lIns="25400" tIns="12700" rIns="25400" bIns="12700">
            <a:spAutoFit/>
          </a:bodyPr>
          <a:lstStyle/>
          <a:p>
            <a:pPr>
              <a:spcAft>
                <a:spcPts val="700"/>
              </a:spcAft>
            </a:pPr>
            <a:r>
              <a:rPr sz="1600" b="1" dirty="0">
                <a:solidFill>
                  <a:srgbClr val="558010"/>
                </a:solidFill>
                <a:latin typeface="Calibri"/>
              </a:rPr>
              <a:t>Principle</a:t>
            </a:r>
            <a:endParaRPr sz="1500" b="1" dirty="0">
              <a:solidFill>
                <a:srgbClr val="558010"/>
              </a:solidFill>
              <a:latin typeface="Calibri"/>
            </a:endParaRPr>
          </a:p>
          <a:p>
            <a:pPr marL="182880" indent="-182880">
              <a:lnSpc>
                <a:spcPct val="100000"/>
              </a:lnSpc>
              <a:spcAft>
                <a:spcPts val="600"/>
              </a:spcAft>
              <a:buClr>
                <a:srgbClr val="558010"/>
              </a:buClr>
              <a:buFont typeface="Arial"/>
              <a:buChar char="▸"/>
            </a:pPr>
            <a:r>
              <a:rPr sz="1400" b="0" dirty="0">
                <a:solidFill>
                  <a:srgbClr val="262B33"/>
                </a:solidFill>
                <a:latin typeface="Calibri Light"/>
              </a:rPr>
              <a:t>One smooth cubic spline through all remaining gates</a:t>
            </a:r>
          </a:p>
          <a:p>
            <a:pPr marL="182880" indent="-182880">
              <a:lnSpc>
                <a:spcPct val="100000"/>
              </a:lnSpc>
              <a:spcAft>
                <a:spcPts val="600"/>
              </a:spcAft>
              <a:buClr>
                <a:srgbClr val="558010"/>
              </a:buClr>
              <a:buFont typeface="Arial"/>
              <a:buChar char="▸"/>
            </a:pPr>
            <a:r>
              <a:rPr lang="tr-TR" sz="1400" b="0" dirty="0">
                <a:solidFill>
                  <a:srgbClr val="262B33"/>
                </a:solidFill>
                <a:latin typeface="Calibri Light"/>
              </a:rPr>
              <a:t>Outer PID: </a:t>
            </a:r>
            <a:r>
              <a:rPr lang="tr-TR" sz="1400" dirty="0" err="1"/>
              <a:t>where</a:t>
            </a:r>
            <a:r>
              <a:rPr lang="tr-TR" sz="1400" dirty="0"/>
              <a:t> </a:t>
            </a:r>
            <a:r>
              <a:rPr lang="tr-TR" sz="1400" dirty="0" err="1"/>
              <a:t>the</a:t>
            </a:r>
            <a:r>
              <a:rPr lang="tr-TR" sz="1400" dirty="0"/>
              <a:t> </a:t>
            </a:r>
            <a:r>
              <a:rPr lang="tr-TR" sz="1400" dirty="0" err="1"/>
              <a:t>drone</a:t>
            </a:r>
            <a:r>
              <a:rPr lang="tr-TR" sz="1400" dirty="0"/>
              <a:t> </a:t>
            </a:r>
            <a:r>
              <a:rPr lang="tr-TR" sz="1400" dirty="0" err="1"/>
              <a:t>physically</a:t>
            </a:r>
            <a:r>
              <a:rPr lang="tr-TR" sz="1400" dirty="0"/>
              <a:t> is </a:t>
            </a:r>
            <a:r>
              <a:rPr lang="tr-TR" sz="1400" dirty="0" err="1"/>
              <a:t>vs</a:t>
            </a:r>
            <a:r>
              <a:rPr lang="tr-TR" sz="1400" dirty="0"/>
              <a:t> </a:t>
            </a:r>
            <a:r>
              <a:rPr lang="tr-TR" sz="1400" dirty="0" err="1"/>
              <a:t>where</a:t>
            </a:r>
            <a:r>
              <a:rPr lang="tr-TR" sz="1400" dirty="0"/>
              <a:t> </a:t>
            </a:r>
            <a:r>
              <a:rPr lang="tr-TR" sz="1400" dirty="0" err="1"/>
              <a:t>the</a:t>
            </a:r>
            <a:r>
              <a:rPr lang="tr-TR" sz="1400" dirty="0"/>
              <a:t> </a:t>
            </a:r>
            <a:r>
              <a:rPr lang="tr-TR" sz="1400" dirty="0" err="1"/>
              <a:t>spline</a:t>
            </a:r>
            <a:r>
              <a:rPr lang="tr-TR" sz="1400" dirty="0"/>
              <a:t> </a:t>
            </a:r>
            <a:r>
              <a:rPr lang="tr-TR" sz="1400" dirty="0" err="1"/>
              <a:t>says</a:t>
            </a:r>
            <a:r>
              <a:rPr lang="tr-TR" sz="1400" dirty="0"/>
              <a:t> it </a:t>
            </a:r>
            <a:r>
              <a:rPr lang="tr-TR" sz="1400" dirty="0" err="1"/>
              <a:t>should</a:t>
            </a:r>
            <a:r>
              <a:rPr lang="tr-TR" sz="1400" dirty="0"/>
              <a:t> be</a:t>
            </a:r>
          </a:p>
          <a:p>
            <a:pPr marL="640080" lvl="1" indent="-182880">
              <a:spcAft>
                <a:spcPts val="600"/>
              </a:spcAft>
              <a:buClr>
                <a:srgbClr val="558010"/>
              </a:buClr>
              <a:buFont typeface="Arial"/>
              <a:buChar char="▸"/>
            </a:pPr>
            <a:r>
              <a:rPr lang="tr-TR" sz="1400" b="0" dirty="0" err="1">
                <a:solidFill>
                  <a:srgbClr val="262B33"/>
                </a:solidFill>
                <a:latin typeface="Calibri Light"/>
              </a:rPr>
              <a:t>If</a:t>
            </a:r>
            <a:r>
              <a:rPr lang="tr-TR" sz="1400" b="0" dirty="0">
                <a:solidFill>
                  <a:srgbClr val="262B33"/>
                </a:solidFill>
                <a:latin typeface="Calibri Light"/>
              </a:rPr>
              <a:t> </a:t>
            </a:r>
            <a:r>
              <a:rPr lang="tr-TR" sz="1400" dirty="0" err="1">
                <a:solidFill>
                  <a:srgbClr val="262B33"/>
                </a:solidFill>
                <a:latin typeface="Calibri Light"/>
              </a:rPr>
              <a:t>position</a:t>
            </a:r>
            <a:r>
              <a:rPr lang="tr-TR" sz="1400" dirty="0">
                <a:solidFill>
                  <a:srgbClr val="262B33"/>
                </a:solidFill>
                <a:latin typeface="Calibri Light"/>
              </a:rPr>
              <a:t> </a:t>
            </a:r>
            <a:r>
              <a:rPr lang="tr-TR" sz="1400" dirty="0" err="1">
                <a:solidFill>
                  <a:srgbClr val="262B33"/>
                </a:solidFill>
                <a:latin typeface="Calibri Light"/>
              </a:rPr>
              <a:t>error</a:t>
            </a:r>
            <a:r>
              <a:rPr lang="tr-TR" sz="1400" dirty="0">
                <a:solidFill>
                  <a:srgbClr val="262B33"/>
                </a:solidFill>
                <a:latin typeface="Calibri Light"/>
              </a:rPr>
              <a:t> -&gt; </a:t>
            </a:r>
            <a:r>
              <a:rPr lang="tr-TR" sz="1400" dirty="0" err="1">
                <a:solidFill>
                  <a:srgbClr val="262B33"/>
                </a:solidFill>
                <a:latin typeface="Calibri Light"/>
              </a:rPr>
              <a:t>Calculation</a:t>
            </a:r>
            <a:r>
              <a:rPr lang="tr-TR" sz="1400" dirty="0">
                <a:solidFill>
                  <a:srgbClr val="262B33"/>
                </a:solidFill>
                <a:latin typeface="Calibri Light"/>
              </a:rPr>
              <a:t> of </a:t>
            </a:r>
            <a:r>
              <a:rPr lang="tr-TR" sz="1400" b="1" dirty="0" err="1">
                <a:solidFill>
                  <a:srgbClr val="262B33"/>
                </a:solidFill>
                <a:latin typeface="Calibri Light"/>
              </a:rPr>
              <a:t>target</a:t>
            </a:r>
            <a:r>
              <a:rPr lang="tr-TR" sz="1400" b="1" dirty="0">
                <a:solidFill>
                  <a:srgbClr val="262B33"/>
                </a:solidFill>
                <a:latin typeface="Calibri Light"/>
              </a:rPr>
              <a:t> </a:t>
            </a:r>
            <a:r>
              <a:rPr lang="tr-TR" sz="1400" b="1" dirty="0" err="1">
                <a:solidFill>
                  <a:srgbClr val="262B33"/>
                </a:solidFill>
                <a:latin typeface="Calibri Light"/>
              </a:rPr>
              <a:t>velocity</a:t>
            </a:r>
            <a:r>
              <a:rPr lang="tr-TR" sz="1400" b="1" dirty="0">
                <a:solidFill>
                  <a:srgbClr val="262B33"/>
                </a:solidFill>
                <a:latin typeface="Calibri Light"/>
              </a:rPr>
              <a:t> </a:t>
            </a:r>
            <a:r>
              <a:rPr lang="tr-TR" sz="1400" dirty="0" err="1">
                <a:solidFill>
                  <a:srgbClr val="262B33"/>
                </a:solidFill>
                <a:latin typeface="Calibri Light"/>
              </a:rPr>
              <a:t>for</a:t>
            </a:r>
            <a:r>
              <a:rPr lang="tr-TR" sz="1400" dirty="0">
                <a:solidFill>
                  <a:srgbClr val="262B33"/>
                </a:solidFill>
                <a:latin typeface="Calibri Light"/>
              </a:rPr>
              <a:t> </a:t>
            </a:r>
            <a:r>
              <a:rPr lang="tr-TR" sz="1400" dirty="0" err="1">
                <a:solidFill>
                  <a:srgbClr val="262B33"/>
                </a:solidFill>
                <a:latin typeface="Calibri Light"/>
              </a:rPr>
              <a:t>correction</a:t>
            </a:r>
            <a:endParaRPr sz="1400" b="0" dirty="0">
              <a:solidFill>
                <a:srgbClr val="262B33"/>
              </a:solidFill>
              <a:latin typeface="Calibri Light"/>
            </a:endParaRPr>
          </a:p>
          <a:p>
            <a:pPr marL="182880" indent="-182880">
              <a:lnSpc>
                <a:spcPct val="100000"/>
              </a:lnSpc>
              <a:spcAft>
                <a:spcPts val="600"/>
              </a:spcAft>
              <a:buClr>
                <a:srgbClr val="558010"/>
              </a:buClr>
              <a:buFont typeface="Arial"/>
              <a:buChar char="▸"/>
            </a:pPr>
            <a:r>
              <a:rPr lang="tr-TR" sz="1400" b="0" dirty="0">
                <a:solidFill>
                  <a:srgbClr val="262B33"/>
                </a:solidFill>
                <a:latin typeface="Calibri Light"/>
              </a:rPr>
              <a:t>Inner PID: </a:t>
            </a:r>
            <a:r>
              <a:rPr lang="tr-TR" sz="1400" dirty="0" err="1"/>
              <a:t>takes</a:t>
            </a:r>
            <a:r>
              <a:rPr lang="tr-TR" sz="1400" dirty="0"/>
              <a:t> </a:t>
            </a:r>
            <a:r>
              <a:rPr lang="tr-TR" sz="1400" dirty="0" err="1"/>
              <a:t>the</a:t>
            </a:r>
            <a:r>
              <a:rPr lang="tr-TR" sz="1400" dirty="0"/>
              <a:t> </a:t>
            </a:r>
            <a:r>
              <a:rPr lang="tr-TR" sz="1400" dirty="0" err="1"/>
              <a:t>target</a:t>
            </a:r>
            <a:r>
              <a:rPr lang="tr-TR" sz="1400" dirty="0"/>
              <a:t> </a:t>
            </a:r>
            <a:r>
              <a:rPr lang="tr-TR" sz="1400" dirty="0" err="1"/>
              <a:t>velocity</a:t>
            </a:r>
            <a:r>
              <a:rPr lang="tr-TR" sz="1400" dirty="0"/>
              <a:t>, </a:t>
            </a:r>
            <a:r>
              <a:rPr lang="tr-TR" sz="1400" dirty="0" err="1"/>
              <a:t>compares</a:t>
            </a:r>
            <a:r>
              <a:rPr lang="tr-TR" sz="1400" dirty="0"/>
              <a:t> it </a:t>
            </a:r>
            <a:r>
              <a:rPr lang="tr-TR" sz="1400" dirty="0" err="1"/>
              <a:t>to</a:t>
            </a:r>
            <a:r>
              <a:rPr lang="tr-TR" sz="1400" dirty="0"/>
              <a:t> </a:t>
            </a:r>
            <a:r>
              <a:rPr lang="tr-TR" sz="1400" dirty="0" err="1"/>
              <a:t>the</a:t>
            </a:r>
            <a:r>
              <a:rPr lang="tr-TR" sz="1400" dirty="0"/>
              <a:t> </a:t>
            </a:r>
            <a:r>
              <a:rPr lang="tr-TR" sz="1400" dirty="0" err="1"/>
              <a:t>drone's</a:t>
            </a:r>
            <a:r>
              <a:rPr lang="tr-TR" sz="1400" dirty="0"/>
              <a:t> </a:t>
            </a:r>
            <a:r>
              <a:rPr lang="tr-TR" sz="1400" dirty="0" err="1"/>
              <a:t>actual</a:t>
            </a:r>
            <a:r>
              <a:rPr lang="tr-TR" sz="1400" dirty="0"/>
              <a:t> </a:t>
            </a:r>
            <a:r>
              <a:rPr lang="tr-TR" sz="1400" dirty="0" err="1"/>
              <a:t>velocity</a:t>
            </a:r>
            <a:endParaRPr lang="tr-TR" sz="1400" dirty="0"/>
          </a:p>
          <a:p>
            <a:pPr marL="640080" lvl="1" indent="-182880">
              <a:spcAft>
                <a:spcPts val="600"/>
              </a:spcAft>
              <a:buClr>
                <a:srgbClr val="558010"/>
              </a:buClr>
              <a:buFont typeface="Arial"/>
              <a:buChar char="▸"/>
            </a:pPr>
            <a:r>
              <a:rPr lang="tr-TR" sz="1400" dirty="0"/>
              <a:t> </a:t>
            </a:r>
            <a:r>
              <a:rPr lang="tr-TR" sz="1400" dirty="0" err="1"/>
              <a:t>Calculation</a:t>
            </a:r>
            <a:r>
              <a:rPr lang="tr-TR" sz="1400" dirty="0"/>
              <a:t> of </a:t>
            </a:r>
            <a:r>
              <a:rPr lang="tr-TR" sz="1400" dirty="0" err="1"/>
              <a:t>the</a:t>
            </a:r>
            <a:r>
              <a:rPr lang="tr-TR" sz="1400" dirty="0"/>
              <a:t> </a:t>
            </a:r>
            <a:r>
              <a:rPr lang="tr-TR" sz="1400" b="1" dirty="0" err="1"/>
              <a:t>force</a:t>
            </a:r>
            <a:r>
              <a:rPr lang="tr-TR" sz="1400" b="1" dirty="0"/>
              <a:t> </a:t>
            </a:r>
            <a:r>
              <a:rPr lang="tr-TR" sz="1400" b="1" dirty="0" err="1"/>
              <a:t>vector</a:t>
            </a:r>
            <a:r>
              <a:rPr lang="tr-TR" sz="1400" dirty="0"/>
              <a:t> </a:t>
            </a:r>
            <a:r>
              <a:rPr lang="tr-TR" sz="1400" dirty="0" err="1"/>
              <a:t>needed</a:t>
            </a:r>
            <a:r>
              <a:rPr lang="tr-TR" sz="1400" dirty="0"/>
              <a:t> </a:t>
            </a:r>
            <a:r>
              <a:rPr lang="tr-TR" sz="1400" dirty="0" err="1"/>
              <a:t>for</a:t>
            </a:r>
            <a:r>
              <a:rPr lang="tr-TR" sz="1400" dirty="0"/>
              <a:t> </a:t>
            </a:r>
            <a:r>
              <a:rPr lang="tr-TR" sz="1400" dirty="0" err="1"/>
              <a:t>motors</a:t>
            </a:r>
            <a:endParaRPr sz="1400" b="0" dirty="0">
              <a:solidFill>
                <a:srgbClr val="262B33"/>
              </a:solidFill>
              <a:latin typeface="Calibri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sz="2400" b="1" dirty="0" err="1">
                <a:solidFill>
                  <a:schemeClr val="tx1"/>
                </a:solidFill>
              </a:rPr>
              <a:t>Perception</a:t>
            </a:r>
            <a:r>
              <a:rPr lang="tr-TR" sz="2400" b="1" dirty="0">
                <a:solidFill>
                  <a:schemeClr val="tx1"/>
                </a:solidFill>
              </a:rPr>
              <a:t> &amp; </a:t>
            </a:r>
            <a:r>
              <a:rPr lang="tr-TR" sz="2400" b="1" dirty="0" err="1">
                <a:solidFill>
                  <a:schemeClr val="tx1"/>
                </a:solidFill>
              </a:rPr>
              <a:t>Spatial</a:t>
            </a:r>
            <a:r>
              <a:rPr lang="tr-TR" sz="2400" b="1" dirty="0">
                <a:solidFill>
                  <a:schemeClr val="tx1"/>
                </a:solidFill>
              </a:rPr>
              <a:t> </a:t>
            </a:r>
            <a:r>
              <a:rPr lang="tr-TR" sz="2400" b="1" dirty="0" err="1">
                <a:solidFill>
                  <a:schemeClr val="tx1"/>
                </a:solidFill>
              </a:rPr>
              <a:t>Geometry</a:t>
            </a:r>
            <a:endParaRPr sz="2700" b="1" dirty="0">
              <a:solidFill>
                <a:schemeClr val="tx1"/>
              </a:solidFill>
            </a:endParaRPr>
          </a:p>
        </p:txBody>
      </p:sp>
      <p:sp>
        <p:nvSpPr>
          <p:cNvPr id="5" name="Text Placeholder 4"/>
          <p:cNvSpPr>
            <a:spLocks noGrp="1"/>
          </p:cNvSpPr>
          <p:nvPr>
            <p:ph type="body" sz="quarter" idx="12"/>
          </p:nvPr>
        </p:nvSpPr>
        <p:spPr/>
        <p:txBody>
          <a:bodyPr/>
          <a:lstStyle/>
          <a:p>
            <a:r>
              <a:rPr sz="1200" b="1">
                <a:solidFill>
                  <a:srgbClr val="558010"/>
                </a:solidFill>
                <a:latin typeface="Calibri"/>
              </a:rPr>
              <a:t>METHODOLOGY &amp; APPROACH  ·  3 / 3</a:t>
            </a:r>
          </a:p>
        </p:txBody>
      </p:sp>
      <p:sp>
        <p:nvSpPr>
          <p:cNvPr id="6" name="Rectangle 5"/>
          <p:cNvSpPr/>
          <p:nvPr/>
        </p:nvSpPr>
        <p:spPr>
          <a:xfrm>
            <a:off x="502920" y="1691640"/>
            <a:ext cx="5623560" cy="4160520"/>
          </a:xfrm>
          <a:prstGeom prst="rect">
            <a:avLst/>
          </a:prstGeom>
          <a:solidFill>
            <a:srgbClr val="F7F9F3"/>
          </a:solidFill>
          <a:ln w="9525">
            <a:solidFill>
              <a:srgbClr val="C7CDD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7" name="Rectangle 6"/>
          <p:cNvSpPr/>
          <p:nvPr/>
        </p:nvSpPr>
        <p:spPr>
          <a:xfrm>
            <a:off x="2281428" y="2834640"/>
            <a:ext cx="256032" cy="1371600"/>
          </a:xfrm>
          <a:prstGeom prst="rect">
            <a:avLst/>
          </a:prstGeom>
          <a:solidFill>
            <a:srgbClr val="8A9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4091939" y="2834640"/>
            <a:ext cx="256032" cy="1371600"/>
          </a:xfrm>
          <a:prstGeom prst="rect">
            <a:avLst/>
          </a:prstGeom>
          <a:solidFill>
            <a:srgbClr val="8A9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67512" y="1810512"/>
            <a:ext cx="2377440" cy="274320"/>
          </a:xfrm>
          <a:prstGeom prst="rect">
            <a:avLst/>
          </a:prstGeom>
          <a:noFill/>
        </p:spPr>
        <p:txBody>
          <a:bodyPr wrap="square" lIns="25400" tIns="12700" rIns="25400" bIns="12700">
            <a:spAutoFit/>
          </a:bodyPr>
          <a:lstStyle/>
          <a:p>
            <a:pPr algn="l">
              <a:lnSpc>
                <a:spcPct val="100000"/>
              </a:lnSpc>
              <a:spcAft>
                <a:spcPts val="400"/>
              </a:spcAft>
            </a:pPr>
            <a:r>
              <a:rPr sz="1100" b="1">
                <a:solidFill>
                  <a:srgbClr val="262B33"/>
                </a:solidFill>
                <a:latin typeface="Calibri Light"/>
              </a:rPr>
              <a:t>GATE  (top-down)</a:t>
            </a:r>
          </a:p>
        </p:txBody>
      </p:sp>
      <p:sp>
        <p:nvSpPr>
          <p:cNvPr id="10" name="Oval 9"/>
          <p:cNvSpPr/>
          <p:nvPr/>
        </p:nvSpPr>
        <p:spPr>
          <a:xfrm>
            <a:off x="2427732" y="3337560"/>
            <a:ext cx="219456" cy="219456"/>
          </a:xfrm>
          <a:prstGeom prst="ellipse">
            <a:avLst/>
          </a:prstGeom>
          <a:solidFill>
            <a:srgbClr val="C84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3982211" y="3337560"/>
            <a:ext cx="219456" cy="219456"/>
          </a:xfrm>
          <a:prstGeom prst="ellipse">
            <a:avLst/>
          </a:prstGeom>
          <a:solidFill>
            <a:srgbClr val="C844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457700" y="3182112"/>
            <a:ext cx="1691640" cy="548640"/>
          </a:xfrm>
          <a:prstGeom prst="rect">
            <a:avLst/>
          </a:prstGeom>
          <a:noFill/>
        </p:spPr>
        <p:txBody>
          <a:bodyPr wrap="square" lIns="25400" tIns="12700" rIns="25400" bIns="12700">
            <a:spAutoFit/>
          </a:bodyPr>
          <a:lstStyle/>
          <a:p>
            <a:pPr algn="l">
              <a:lnSpc>
                <a:spcPct val="95000"/>
              </a:lnSpc>
              <a:spcAft>
                <a:spcPts val="0"/>
              </a:spcAft>
            </a:pPr>
            <a:r>
              <a:rPr sz="1050" b="1">
                <a:solidFill>
                  <a:srgbClr val="C8442E"/>
                </a:solidFill>
                <a:latin typeface="Calibri Light"/>
              </a:rPr>
              <a:t>virtual posts</a:t>
            </a:r>
          </a:p>
          <a:p>
            <a:pPr algn="l">
              <a:lnSpc>
                <a:spcPct val="95000"/>
              </a:lnSpc>
              <a:spcAft>
                <a:spcPts val="0"/>
              </a:spcAft>
            </a:pPr>
            <a:r>
              <a:rPr sz="1050" b="1">
                <a:solidFill>
                  <a:srgbClr val="C8442E"/>
                </a:solidFill>
                <a:latin typeface="Calibri Light"/>
              </a:rPr>
              <a:t>±0.30 m</a:t>
            </a:r>
          </a:p>
        </p:txBody>
      </p:sp>
      <p:sp>
        <p:nvSpPr>
          <p:cNvPr id="3" name="Freeform 2"/>
          <p:cNvSpPr/>
          <p:nvPr/>
        </p:nvSpPr>
        <p:spPr>
          <a:xfrm>
            <a:off x="2811780" y="1993392"/>
            <a:ext cx="914400" cy="3081528"/>
          </a:xfrm>
          <a:custGeom>
            <a:avLst/>
            <a:gdLst/>
            <a:ahLst/>
            <a:cxnLst/>
            <a:rect l="l" t="t" r="r" b="b"/>
            <a:pathLst>
              <a:path w="914400" h="3081528">
                <a:moveTo>
                  <a:pt x="0" y="3081528"/>
                </a:moveTo>
                <a:lnTo>
                  <a:pt x="0" y="2578608"/>
                </a:lnTo>
                <a:lnTo>
                  <a:pt x="338328" y="1847088"/>
                </a:lnTo>
                <a:lnTo>
                  <a:pt x="502920" y="978408"/>
                </a:lnTo>
                <a:lnTo>
                  <a:pt x="612648" y="338328"/>
                </a:lnTo>
                <a:lnTo>
                  <a:pt x="914400" y="0"/>
                </a:lnTo>
              </a:path>
            </a:pathLst>
          </a:custGeom>
          <a:noFill/>
          <a:ln w="38100">
            <a:solidFill>
              <a:srgbClr val="7AB51D"/>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863339" y="2212848"/>
            <a:ext cx="1691640" cy="274320"/>
          </a:xfrm>
          <a:prstGeom prst="rect">
            <a:avLst/>
          </a:prstGeom>
          <a:noFill/>
        </p:spPr>
        <p:txBody>
          <a:bodyPr wrap="square" lIns="25400" tIns="12700" rIns="25400" bIns="12700">
            <a:spAutoFit/>
          </a:bodyPr>
          <a:lstStyle/>
          <a:p>
            <a:pPr algn="l">
              <a:lnSpc>
                <a:spcPct val="100000"/>
              </a:lnSpc>
              <a:spcAft>
                <a:spcPts val="400"/>
              </a:spcAft>
            </a:pPr>
            <a:r>
              <a:rPr sz="1050" b="1">
                <a:solidFill>
                  <a:srgbClr val="558010"/>
                </a:solidFill>
                <a:latin typeface="Calibri Light"/>
              </a:rPr>
              <a:t>planned line</a:t>
            </a:r>
          </a:p>
        </p:txBody>
      </p:sp>
      <p:sp>
        <p:nvSpPr>
          <p:cNvPr id="14" name="Oval 13"/>
          <p:cNvSpPr/>
          <p:nvPr/>
        </p:nvSpPr>
        <p:spPr>
          <a:xfrm>
            <a:off x="2263140" y="4526280"/>
            <a:ext cx="1097280" cy="1097280"/>
          </a:xfrm>
          <a:prstGeom prst="ellipse">
            <a:avLst/>
          </a:prstGeom>
          <a:noFill/>
          <a:ln w="15875">
            <a:solidFill>
              <a:srgbClr val="2E6FB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2702052" y="4965192"/>
            <a:ext cx="219456" cy="219456"/>
          </a:xfrm>
          <a:prstGeom prst="ellipse">
            <a:avLst/>
          </a:prstGeom>
          <a:solidFill>
            <a:srgbClr val="2E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171700" y="5385816"/>
            <a:ext cx="1280160" cy="274320"/>
          </a:xfrm>
          <a:prstGeom prst="rect">
            <a:avLst/>
          </a:prstGeom>
          <a:noFill/>
        </p:spPr>
        <p:txBody>
          <a:bodyPr wrap="square" lIns="25400" tIns="12700" rIns="25400" bIns="12700">
            <a:spAutoFit/>
          </a:bodyPr>
          <a:lstStyle/>
          <a:p>
            <a:pPr algn="ctr">
              <a:lnSpc>
                <a:spcPct val="100000"/>
              </a:lnSpc>
              <a:spcAft>
                <a:spcPts val="400"/>
              </a:spcAft>
            </a:pPr>
            <a:r>
              <a:rPr sz="1050" b="1">
                <a:solidFill>
                  <a:srgbClr val="2E6FB0"/>
                </a:solidFill>
                <a:latin typeface="Calibri Light"/>
              </a:rPr>
              <a:t>drone</a:t>
            </a:r>
          </a:p>
        </p:txBody>
      </p:sp>
      <p:sp>
        <p:nvSpPr>
          <p:cNvPr id="17" name="TextBox 16"/>
          <p:cNvSpPr txBox="1"/>
          <p:nvPr/>
        </p:nvSpPr>
        <p:spPr>
          <a:xfrm>
            <a:off x="932688" y="4928616"/>
            <a:ext cx="1234440" cy="274320"/>
          </a:xfrm>
          <a:prstGeom prst="rect">
            <a:avLst/>
          </a:prstGeom>
          <a:noFill/>
        </p:spPr>
        <p:txBody>
          <a:bodyPr wrap="square" lIns="25400" tIns="12700" rIns="25400" bIns="12700">
            <a:spAutoFit/>
          </a:bodyPr>
          <a:lstStyle/>
          <a:p>
            <a:pPr algn="r">
              <a:lnSpc>
                <a:spcPct val="100000"/>
              </a:lnSpc>
              <a:spcAft>
                <a:spcPts val="400"/>
              </a:spcAft>
            </a:pPr>
            <a:r>
              <a:rPr sz="1000" b="0">
                <a:solidFill>
                  <a:srgbClr val="2E6FB0"/>
                </a:solidFill>
                <a:latin typeface="Calibri Light"/>
              </a:rPr>
              <a:t>sensor 0.7 m</a:t>
            </a:r>
          </a:p>
        </p:txBody>
      </p:sp>
      <p:sp>
        <p:nvSpPr>
          <p:cNvPr id="18" name="Oval 17"/>
          <p:cNvSpPr/>
          <p:nvPr/>
        </p:nvSpPr>
        <p:spPr>
          <a:xfrm>
            <a:off x="886968" y="2240280"/>
            <a:ext cx="310896" cy="310896"/>
          </a:xfrm>
          <a:prstGeom prst="ellipse">
            <a:avLst/>
          </a:prstGeom>
          <a:solidFill>
            <a:srgbClr val="8A90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2578608"/>
            <a:ext cx="1371600" cy="274320"/>
          </a:xfrm>
          <a:prstGeom prst="rect">
            <a:avLst/>
          </a:prstGeom>
          <a:noFill/>
        </p:spPr>
        <p:txBody>
          <a:bodyPr wrap="square" lIns="25400" tIns="12700" rIns="25400" bIns="12700">
            <a:spAutoFit/>
          </a:bodyPr>
          <a:lstStyle/>
          <a:p>
            <a:pPr algn="l">
              <a:lnSpc>
                <a:spcPct val="100000"/>
              </a:lnSpc>
              <a:spcAft>
                <a:spcPts val="400"/>
              </a:spcAft>
            </a:pPr>
            <a:r>
              <a:rPr sz="1000" b="0">
                <a:solidFill>
                  <a:srgbClr val="8A9098"/>
                </a:solidFill>
                <a:latin typeface="Calibri Light"/>
              </a:rPr>
              <a:t>obstacle</a:t>
            </a:r>
          </a:p>
        </p:txBody>
      </p:sp>
      <mc:AlternateContent xmlns:mc="http://schemas.openxmlformats.org/markup-compatibility/2006" xmlns:a14="http://schemas.microsoft.com/office/drawing/2010/main">
        <mc:Choice Requires="a14">
          <p:sp>
            <p:nvSpPr>
              <p:cNvPr id="20" name="TextBox 19"/>
              <p:cNvSpPr txBox="1"/>
              <p:nvPr/>
            </p:nvSpPr>
            <p:spPr>
              <a:xfrm>
                <a:off x="6446520" y="1783080"/>
                <a:ext cx="5257800" cy="2313454"/>
              </a:xfrm>
              <a:prstGeom prst="rect">
                <a:avLst/>
              </a:prstGeom>
              <a:noFill/>
            </p:spPr>
            <p:txBody>
              <a:bodyPr wrap="square" lIns="25400" tIns="12700" rIns="25400" bIns="12700">
                <a:spAutoFit/>
              </a:bodyPr>
              <a:lstStyle/>
              <a:p>
                <a:pPr>
                  <a:spcAft>
                    <a:spcPts val="1100"/>
                  </a:spcAft>
                  <a:buClr>
                    <a:srgbClr val="558010"/>
                  </a:buClr>
                </a:pPr>
                <a:r>
                  <a:rPr lang="tr-TR" sz="1400" b="1" dirty="0" err="1">
                    <a:solidFill>
                      <a:srgbClr val="558010"/>
                    </a:solidFill>
                    <a:latin typeface="Calibri"/>
                  </a:rPr>
                  <a:t>Path</a:t>
                </a:r>
                <a:r>
                  <a:rPr lang="tr-TR" sz="1400" b="1" dirty="0">
                    <a:solidFill>
                      <a:srgbClr val="558010"/>
                    </a:solidFill>
                    <a:latin typeface="Calibri"/>
                  </a:rPr>
                  <a:t> </a:t>
                </a:r>
                <a:r>
                  <a:rPr lang="tr-TR" sz="1400" b="1" dirty="0" err="1">
                    <a:solidFill>
                      <a:srgbClr val="558010"/>
                    </a:solidFill>
                    <a:latin typeface="Calibri"/>
                  </a:rPr>
                  <a:t>Calculation</a:t>
                </a:r>
                <a:r>
                  <a:rPr lang="tr-TR" sz="1400" b="1" dirty="0">
                    <a:solidFill>
                      <a:srgbClr val="558010"/>
                    </a:solidFill>
                    <a:latin typeface="Calibri"/>
                  </a:rPr>
                  <a:t>:</a:t>
                </a:r>
                <a:endParaRPr lang="tr-TR" sz="1400" dirty="0"/>
              </a:p>
              <a:p>
                <a:pPr marL="182880" indent="-182880">
                  <a:lnSpc>
                    <a:spcPct val="100000"/>
                  </a:lnSpc>
                  <a:spcAft>
                    <a:spcPts val="1100"/>
                  </a:spcAft>
                  <a:buClr>
                    <a:srgbClr val="558010"/>
                  </a:buClr>
                  <a:buFont typeface="Arial"/>
                  <a:buChar char="▸"/>
                </a:pPr>
                <a:r>
                  <a:rPr lang="tr-TR" sz="1400" dirty="0"/>
                  <a:t>3D </a:t>
                </a:r>
                <a:r>
                  <a:rPr lang="tr-TR" sz="1400" dirty="0" err="1"/>
                  <a:t>positions</a:t>
                </a:r>
                <a:r>
                  <a:rPr lang="tr-TR" sz="1400" dirty="0"/>
                  <a:t> </a:t>
                </a:r>
                <a:r>
                  <a:rPr lang="tr-TR" sz="1400" dirty="0" err="1"/>
                  <a:t>and</a:t>
                </a:r>
                <a:r>
                  <a:rPr lang="tr-TR" sz="1400" dirty="0"/>
                  <a:t> </a:t>
                </a:r>
                <a:r>
                  <a:rPr lang="tr-TR" sz="1400" dirty="0" err="1"/>
                  <a:t>orientations</a:t>
                </a:r>
                <a:r>
                  <a:rPr lang="tr-TR" sz="1400" dirty="0"/>
                  <a:t> </a:t>
                </a:r>
                <a:r>
                  <a:rPr lang="tr-TR" sz="1400" dirty="0" err="1"/>
                  <a:t>from</a:t>
                </a:r>
                <a:r>
                  <a:rPr lang="tr-TR" sz="1400" dirty="0"/>
                  <a:t> </a:t>
                </a:r>
                <a:r>
                  <a:rPr lang="tr-TR" sz="1400" dirty="0" err="1"/>
                  <a:t>the</a:t>
                </a:r>
                <a:r>
                  <a:rPr lang="tr-TR" sz="1400" dirty="0"/>
                  <a:t> </a:t>
                </a:r>
                <a:r>
                  <a:rPr lang="tr-TR" sz="1400" dirty="0" err="1"/>
                  <a:t>Vicon</a:t>
                </a:r>
                <a:r>
                  <a:rPr lang="tr-TR" sz="1400" dirty="0"/>
                  <a:t> </a:t>
                </a:r>
                <a:r>
                  <a:rPr lang="tr-TR" sz="1400" dirty="0" err="1"/>
                  <a:t>system</a:t>
                </a:r>
                <a:endParaRPr lang="tr-TR" sz="1400" dirty="0"/>
              </a:p>
              <a:p>
                <a:pPr marL="182880" indent="-182880">
                  <a:lnSpc>
                    <a:spcPct val="100000"/>
                  </a:lnSpc>
                  <a:spcAft>
                    <a:spcPts val="1100"/>
                  </a:spcAft>
                  <a:buClr>
                    <a:srgbClr val="558010"/>
                  </a:buClr>
                  <a:buFont typeface="Arial"/>
                  <a:buChar char="▸"/>
                </a:pPr>
                <a:r>
                  <a:rPr lang="en-US" sz="1400" dirty="0">
                    <a:solidFill>
                      <a:srgbClr val="262B33"/>
                    </a:solidFill>
                    <a:latin typeface="Calibri Light (Textkörper)"/>
                  </a:rPr>
                  <a:t>digital obstacle boundaries </a:t>
                </a:r>
                <a:r>
                  <a:rPr lang="tr-TR" sz="1400" dirty="0" err="1">
                    <a:solidFill>
                      <a:srgbClr val="262B33"/>
                    </a:solidFill>
                    <a:latin typeface="Calibri Light (Textkörper)"/>
                  </a:rPr>
                  <a:t>are</a:t>
                </a:r>
                <a:r>
                  <a:rPr lang="tr-TR" sz="1400" dirty="0">
                    <a:solidFill>
                      <a:srgbClr val="262B33"/>
                    </a:solidFill>
                    <a:latin typeface="Calibri Light (Textkörper)"/>
                  </a:rPr>
                  <a:t> </a:t>
                </a:r>
                <a:r>
                  <a:rPr lang="tr-TR" sz="1400" dirty="0" err="1">
                    <a:solidFill>
                      <a:srgbClr val="262B33"/>
                    </a:solidFill>
                    <a:latin typeface="Calibri Light (Textkörper)"/>
                  </a:rPr>
                  <a:t>projected</a:t>
                </a:r>
                <a:r>
                  <a:rPr lang="tr-TR" sz="1400" dirty="0">
                    <a:solidFill>
                      <a:srgbClr val="262B33"/>
                    </a:solidFill>
                    <a:latin typeface="Calibri Light (Textkörper)"/>
                  </a:rPr>
                  <a:t> </a:t>
                </a:r>
                <a:r>
                  <a:rPr lang="en-US" sz="1400" dirty="0">
                    <a:solidFill>
                      <a:srgbClr val="262B33"/>
                    </a:solidFill>
                    <a:latin typeface="Calibri Light (Textkörper)"/>
                  </a:rPr>
                  <a:t>at </a:t>
                </a:r>
                <a14:m>
                  <m:oMath xmlns:m="http://schemas.openxmlformats.org/officeDocument/2006/math">
                    <m:r>
                      <a:rPr lang="en-US" sz="1400" i="1" smtClean="0">
                        <a:solidFill>
                          <a:srgbClr val="262B33"/>
                        </a:solidFill>
                        <a:latin typeface="Cambria Math" panose="02040503050406030204" pitchFamily="18" charset="0"/>
                        <a:ea typeface="Cambria Math" panose="02040503050406030204" pitchFamily="18" charset="0"/>
                      </a:rPr>
                      <m:t>±</m:t>
                    </m:r>
                  </m:oMath>
                </a14:m>
                <a:r>
                  <a:rPr lang="tr-TR" sz="1400" dirty="0">
                    <a:solidFill>
                      <a:srgbClr val="262B33"/>
                    </a:solidFill>
                    <a:latin typeface="Calibri Light (Textkörper)"/>
                  </a:rPr>
                  <a:t>0.3 m </a:t>
                </a:r>
                <a:r>
                  <a:rPr lang="en-US" sz="1400" dirty="0">
                    <a:solidFill>
                      <a:srgbClr val="262B33"/>
                    </a:solidFill>
                    <a:latin typeface="Calibri Light (Textkörper)"/>
                  </a:rPr>
                  <a:t>along each gate's lateral axis</a:t>
                </a:r>
                <a:endParaRPr lang="tr-TR" sz="1400" dirty="0">
                  <a:solidFill>
                    <a:srgbClr val="262B33"/>
                  </a:solidFill>
                  <a:latin typeface="Calibri Light (Textkörper)"/>
                </a:endParaRPr>
              </a:p>
              <a:p>
                <a:pPr marL="640080" lvl="1" indent="-182880">
                  <a:spcAft>
                    <a:spcPts val="1100"/>
                  </a:spcAft>
                  <a:buClr>
                    <a:srgbClr val="558010"/>
                  </a:buClr>
                  <a:buFont typeface="Arial"/>
                  <a:buChar char="▸"/>
                </a:pPr>
                <a:r>
                  <a:rPr lang="tr-TR" sz="1400" dirty="0" err="1"/>
                  <a:t>Refining</a:t>
                </a:r>
                <a:r>
                  <a:rPr lang="tr-TR" sz="1400" dirty="0"/>
                  <a:t> </a:t>
                </a:r>
                <a:r>
                  <a:rPr lang="tr-TR" sz="1400" dirty="0" err="1"/>
                  <a:t>the</a:t>
                </a:r>
                <a:r>
                  <a:rPr lang="tr-TR" sz="1400" dirty="0"/>
                  <a:t> </a:t>
                </a:r>
                <a:r>
                  <a:rPr lang="tr-TR" sz="1400" dirty="0" err="1"/>
                  <a:t>path</a:t>
                </a:r>
                <a:r>
                  <a:rPr lang="tr-TR" sz="1400" dirty="0"/>
                  <a:t> </a:t>
                </a:r>
                <a:r>
                  <a:rPr lang="tr-TR" sz="1400" dirty="0" err="1"/>
                  <a:t>to</a:t>
                </a:r>
                <a:r>
                  <a:rPr lang="tr-TR" sz="1400" dirty="0"/>
                  <a:t> </a:t>
                </a:r>
                <a:r>
                  <a:rPr lang="tr-TR" sz="1400" dirty="0" err="1"/>
                  <a:t>force</a:t>
                </a:r>
                <a:r>
                  <a:rPr lang="tr-TR" sz="1400" dirty="0"/>
                  <a:t> </a:t>
                </a:r>
                <a:r>
                  <a:rPr lang="tr-TR" sz="1400" dirty="0" err="1"/>
                  <a:t>the</a:t>
                </a:r>
                <a:r>
                  <a:rPr lang="tr-TR" sz="1400" dirty="0"/>
                  <a:t> </a:t>
                </a:r>
                <a:r>
                  <a:rPr lang="tr-TR" sz="1400" dirty="0" err="1"/>
                  <a:t>trajectory</a:t>
                </a:r>
                <a:r>
                  <a:rPr lang="tr-TR" sz="1400" dirty="0"/>
                  <a:t> </a:t>
                </a:r>
                <a:r>
                  <a:rPr lang="tr-TR" sz="1400" dirty="0" err="1"/>
                  <a:t>directly</a:t>
                </a:r>
                <a:r>
                  <a:rPr lang="tr-TR" sz="1400" dirty="0"/>
                  <a:t> </a:t>
                </a:r>
                <a:r>
                  <a:rPr lang="tr-TR" sz="1400" dirty="0" err="1"/>
                  <a:t>through</a:t>
                </a:r>
                <a:r>
                  <a:rPr lang="tr-TR" sz="1400" dirty="0"/>
                  <a:t> </a:t>
                </a:r>
                <a:r>
                  <a:rPr lang="tr-TR" sz="1400" dirty="0" err="1"/>
                  <a:t>the</a:t>
                </a:r>
                <a:r>
                  <a:rPr lang="tr-TR" sz="1400" dirty="0"/>
                  <a:t> </a:t>
                </a:r>
                <a:r>
                  <a:rPr lang="tr-TR" sz="1400" dirty="0" err="1"/>
                  <a:t>center</a:t>
                </a:r>
                <a:r>
                  <a:rPr lang="tr-TR" sz="1400" dirty="0"/>
                  <a:t> of </a:t>
                </a:r>
                <a:r>
                  <a:rPr lang="tr-TR" sz="1400" dirty="0" err="1"/>
                  <a:t>the</a:t>
                </a:r>
                <a:r>
                  <a:rPr lang="tr-TR" sz="1400" dirty="0"/>
                  <a:t> </a:t>
                </a:r>
                <a:r>
                  <a:rPr lang="tr-TR" sz="1400" dirty="0" err="1"/>
                  <a:t>gate</a:t>
                </a:r>
                <a:endParaRPr lang="tr-TR" sz="1400" dirty="0"/>
              </a:p>
              <a:p>
                <a:pPr marL="182880" indent="-182880">
                  <a:spcAft>
                    <a:spcPts val="1100"/>
                  </a:spcAft>
                  <a:buClr>
                    <a:srgbClr val="558010"/>
                  </a:buClr>
                  <a:buFont typeface="Arial"/>
                  <a:buChar char="▸"/>
                </a:pPr>
                <a:r>
                  <a:rPr lang="tr-TR" sz="1400" dirty="0" err="1"/>
                  <a:t>actual</a:t>
                </a:r>
                <a:r>
                  <a:rPr lang="tr-TR" sz="1400" dirty="0"/>
                  <a:t> </a:t>
                </a:r>
                <a:r>
                  <a:rPr lang="tr-TR" sz="1400" dirty="0" err="1"/>
                  <a:t>drone</a:t>
                </a:r>
                <a:r>
                  <a:rPr lang="tr-TR" sz="1400" dirty="0"/>
                  <a:t> </a:t>
                </a:r>
                <a:r>
                  <a:rPr lang="tr-TR" sz="1400" dirty="0" err="1"/>
                  <a:t>position</a:t>
                </a:r>
                <a:r>
                  <a:rPr lang="tr-TR" sz="1400" dirty="0"/>
                  <a:t> is </a:t>
                </a:r>
                <a:r>
                  <a:rPr lang="tr-TR" sz="1400" dirty="0" err="1"/>
                  <a:t>compared</a:t>
                </a:r>
                <a:r>
                  <a:rPr lang="tr-TR" sz="1400" dirty="0"/>
                  <a:t> </a:t>
                </a:r>
                <a:r>
                  <a:rPr lang="tr-TR" sz="1400" dirty="0" err="1"/>
                  <a:t>continuously</a:t>
                </a:r>
                <a:r>
                  <a:rPr lang="tr-TR" sz="1400" dirty="0"/>
                  <a:t> </a:t>
                </a:r>
                <a:r>
                  <a:rPr lang="tr-TR" sz="1400" dirty="0" err="1"/>
                  <a:t>against</a:t>
                </a:r>
                <a:r>
                  <a:rPr lang="tr-TR" sz="1400" dirty="0"/>
                  <a:t> </a:t>
                </a:r>
                <a:r>
                  <a:rPr lang="tr-TR" sz="1400" dirty="0" err="1"/>
                  <a:t>the</a:t>
                </a:r>
                <a:r>
                  <a:rPr lang="tr-TR" sz="1400" dirty="0"/>
                  <a:t> </a:t>
                </a:r>
                <a:r>
                  <a:rPr lang="tr-TR" sz="1400" dirty="0" err="1"/>
                  <a:t>planned</a:t>
                </a:r>
                <a:r>
                  <a:rPr lang="tr-TR" sz="1400" dirty="0"/>
                  <a:t> </a:t>
                </a:r>
                <a:r>
                  <a:rPr lang="tr-TR" sz="1400" dirty="0" err="1"/>
                  <a:t>spline</a:t>
                </a:r>
                <a:r>
                  <a:rPr lang="tr-TR" sz="1400" dirty="0"/>
                  <a:t> </a:t>
                </a:r>
                <a:r>
                  <a:rPr lang="tr-TR" sz="1400" dirty="0" err="1"/>
                  <a:t>line</a:t>
                </a:r>
                <a:endParaRPr lang="tr-TR" sz="1400" dirty="0"/>
              </a:p>
            </p:txBody>
          </p:sp>
        </mc:Choice>
        <mc:Fallback xmlns="">
          <p:sp>
            <p:nvSpPr>
              <p:cNvPr id="20" name="TextBox 19"/>
              <p:cNvSpPr txBox="1">
                <a:spLocks noRot="1" noChangeAspect="1" noMove="1" noResize="1" noEditPoints="1" noAdjustHandles="1" noChangeArrowheads="1" noChangeShapeType="1" noTextEdit="1"/>
              </p:cNvSpPr>
              <p:nvPr/>
            </p:nvSpPr>
            <p:spPr>
              <a:xfrm>
                <a:off x="6446520" y="1783080"/>
                <a:ext cx="5257800" cy="2313454"/>
              </a:xfrm>
              <a:prstGeom prst="rect">
                <a:avLst/>
              </a:prstGeom>
              <a:blipFill>
                <a:blip r:embed="rId3"/>
                <a:stretch>
                  <a:fillRect l="-1624" t="-2111" r="-580" b="-3430"/>
                </a:stretch>
              </a:blipFill>
            </p:spPr>
            <p:txBody>
              <a:bodyPr/>
              <a:lstStyle/>
              <a:p>
                <a:r>
                  <a:rPr lang="tr-TR">
                    <a:noFill/>
                  </a:rPr>
                  <a:t> </a:t>
                </a:r>
              </a:p>
            </p:txBody>
          </p:sp>
        </mc:Fallback>
      </mc:AlternateContent>
      <p:sp>
        <p:nvSpPr>
          <p:cNvPr id="21" name="Rectangle 20"/>
          <p:cNvSpPr/>
          <p:nvPr/>
        </p:nvSpPr>
        <p:spPr>
          <a:xfrm>
            <a:off x="6446520" y="4846320"/>
            <a:ext cx="5257800" cy="914400"/>
          </a:xfrm>
          <a:prstGeom prst="rect">
            <a:avLst/>
          </a:prstGeom>
          <a:solidFill>
            <a:srgbClr val="F2F7E8"/>
          </a:solidFill>
          <a:ln w="15875">
            <a:solidFill>
              <a:srgbClr val="7AB51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629400" y="4974336"/>
            <a:ext cx="4937760" cy="731520"/>
          </a:xfrm>
          <a:prstGeom prst="rect">
            <a:avLst/>
          </a:prstGeom>
          <a:noFill/>
        </p:spPr>
        <p:txBody>
          <a:bodyPr wrap="square" lIns="25400" tIns="12700" rIns="25400" bIns="12700">
            <a:spAutoFit/>
          </a:bodyPr>
          <a:lstStyle/>
          <a:p>
            <a:pPr algn="l">
              <a:lnSpc>
                <a:spcPct val="100000"/>
              </a:lnSpc>
              <a:spcAft>
                <a:spcPts val="100"/>
              </a:spcAft>
            </a:pPr>
            <a:r>
              <a:rPr sz="1350" b="1" dirty="0">
                <a:solidFill>
                  <a:srgbClr val="558010"/>
                </a:solidFill>
                <a:latin typeface="Calibri"/>
              </a:rPr>
              <a:t>Key idea:  </a:t>
            </a:r>
          </a:p>
          <a:p>
            <a:pPr algn="l">
              <a:lnSpc>
                <a:spcPct val="100000"/>
              </a:lnSpc>
              <a:spcAft>
                <a:spcPts val="100"/>
              </a:spcAft>
            </a:pPr>
            <a:r>
              <a:rPr sz="1300" b="0" dirty="0">
                <a:solidFill>
                  <a:srgbClr val="262B33"/>
                </a:solidFill>
                <a:latin typeface="Calibri Light"/>
              </a:rPr>
              <a:t>gate bars → virtual no-go zones, so the line</a:t>
            </a:r>
          </a:p>
          <a:p>
            <a:pPr algn="l">
              <a:lnSpc>
                <a:spcPct val="100000"/>
              </a:lnSpc>
              <a:spcAft>
                <a:spcPts val="100"/>
              </a:spcAft>
            </a:pPr>
            <a:r>
              <a:rPr sz="1300" b="0" dirty="0">
                <a:solidFill>
                  <a:srgbClr val="262B33"/>
                </a:solidFill>
                <a:latin typeface="Calibri Light"/>
              </a:rPr>
              <a:t>self-centers through every opening.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21E93F-5B84-2FF7-86B6-6C08047E9C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7DC5C45-CBFD-1954-4C3C-8C780ADD0BD4}"/>
              </a:ext>
            </a:extLst>
          </p:cNvPr>
          <p:cNvSpPr>
            <a:spLocks noGrp="1"/>
          </p:cNvSpPr>
          <p:nvPr>
            <p:ph type="title"/>
          </p:nvPr>
        </p:nvSpPr>
        <p:spPr/>
        <p:txBody>
          <a:bodyPr>
            <a:normAutofit fontScale="90000"/>
          </a:bodyPr>
          <a:lstStyle/>
          <a:p>
            <a:r>
              <a:rPr lang="tr-TR" sz="2700" b="1" dirty="0">
                <a:solidFill>
                  <a:srgbClr val="262B33"/>
                </a:solidFill>
              </a:rPr>
              <a:t>Controller </a:t>
            </a:r>
            <a:r>
              <a:rPr lang="tr-TR" sz="2700" b="1" dirty="0" err="1">
                <a:solidFill>
                  <a:srgbClr val="262B33"/>
                </a:solidFill>
              </a:rPr>
              <a:t>Roadmap</a:t>
            </a:r>
            <a:endParaRPr sz="2700" b="1" dirty="0">
              <a:solidFill>
                <a:srgbClr val="262B33"/>
              </a:solidFill>
            </a:endParaRPr>
          </a:p>
        </p:txBody>
      </p:sp>
      <p:sp>
        <p:nvSpPr>
          <p:cNvPr id="5" name="Text Placeholder 4">
            <a:extLst>
              <a:ext uri="{FF2B5EF4-FFF2-40B4-BE49-F238E27FC236}">
                <a16:creationId xmlns:a16="http://schemas.microsoft.com/office/drawing/2014/main" id="{58E3FC6A-0E28-4ED0-C470-BB66D56A6E97}"/>
              </a:ext>
            </a:extLst>
          </p:cNvPr>
          <p:cNvSpPr>
            <a:spLocks noGrp="1"/>
          </p:cNvSpPr>
          <p:nvPr>
            <p:ph type="body" sz="quarter" idx="12"/>
          </p:nvPr>
        </p:nvSpPr>
        <p:spPr/>
        <p:txBody>
          <a:bodyPr/>
          <a:lstStyle/>
          <a:p>
            <a:r>
              <a:rPr sz="1200" b="1">
                <a:solidFill>
                  <a:srgbClr val="558010"/>
                </a:solidFill>
                <a:latin typeface="Calibri"/>
              </a:rPr>
              <a:t>MILESTONES &amp; SMART GOALS</a:t>
            </a:r>
          </a:p>
        </p:txBody>
      </p:sp>
      <p:graphicFrame>
        <p:nvGraphicFramePr>
          <p:cNvPr id="6" name="Table 5">
            <a:extLst>
              <a:ext uri="{FF2B5EF4-FFF2-40B4-BE49-F238E27FC236}">
                <a16:creationId xmlns:a16="http://schemas.microsoft.com/office/drawing/2014/main" id="{A99568D2-7EEA-C674-DFA2-EFF4F890E956}"/>
              </a:ext>
            </a:extLst>
          </p:cNvPr>
          <p:cNvGraphicFramePr>
            <a:graphicFrameLocks noGrp="1"/>
          </p:cNvGraphicFramePr>
          <p:nvPr>
            <p:extLst>
              <p:ext uri="{D42A27DB-BD31-4B8C-83A1-F6EECF244321}">
                <p14:modId xmlns:p14="http://schemas.microsoft.com/office/powerpoint/2010/main" val="4268499197"/>
              </p:ext>
            </p:extLst>
          </p:nvPr>
        </p:nvGraphicFramePr>
        <p:xfrm>
          <a:off x="502920" y="1828800"/>
          <a:ext cx="11023600" cy="338328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2702560">
                  <a:extLst>
                    <a:ext uri="{9D8B030D-6E8A-4147-A177-3AD203B41FA5}">
                      <a16:colId xmlns:a16="http://schemas.microsoft.com/office/drawing/2014/main" val="20002"/>
                    </a:ext>
                  </a:extLst>
                </a:gridCol>
              </a:tblGrid>
              <a:tr h="457200">
                <a:tc>
                  <a:txBody>
                    <a:bodyPr/>
                    <a:lstStyle/>
                    <a:p>
                      <a:pPr algn="ctr"/>
                      <a:r>
                        <a:rPr lang="tr-TR" sz="1300" b="1" dirty="0">
                          <a:solidFill>
                            <a:srgbClr val="FFFFFF"/>
                          </a:solidFill>
                          <a:latin typeface="Calibri"/>
                        </a:rPr>
                        <a:t>Controller </a:t>
                      </a:r>
                      <a:r>
                        <a:rPr lang="tr-TR" sz="1300" b="1" dirty="0" err="1">
                          <a:solidFill>
                            <a:srgbClr val="FFFFFF"/>
                          </a:solidFill>
                          <a:latin typeface="Calibri"/>
                        </a:rPr>
                        <a:t>Version</a:t>
                      </a:r>
                      <a:endParaRPr sz="1300" b="1" dirty="0">
                        <a:solidFill>
                          <a:srgbClr val="FFFFFF"/>
                        </a:solidFill>
                        <a:latin typeface="Calibri"/>
                      </a:endParaRPr>
                    </a:p>
                  </a:txBody>
                  <a:tcPr marL="76200" marR="76200" marT="38100" marB="38100" anchor="ctr">
                    <a:solidFill>
                      <a:srgbClr val="7AB51D"/>
                    </a:solidFill>
                  </a:tcPr>
                </a:tc>
                <a:tc>
                  <a:txBody>
                    <a:bodyPr/>
                    <a:lstStyle/>
                    <a:p>
                      <a:pPr algn="ctr"/>
                      <a:r>
                        <a:rPr lang="tr-TR" sz="1300" b="1" dirty="0" err="1">
                          <a:solidFill>
                            <a:srgbClr val="FFFFFF"/>
                          </a:solidFill>
                          <a:latin typeface="Calibri"/>
                        </a:rPr>
                        <a:t>Key</a:t>
                      </a:r>
                      <a:r>
                        <a:rPr lang="tr-TR" sz="1300" b="1" dirty="0">
                          <a:solidFill>
                            <a:srgbClr val="FFFFFF"/>
                          </a:solidFill>
                          <a:latin typeface="Calibri"/>
                        </a:rPr>
                        <a:t> </a:t>
                      </a:r>
                      <a:r>
                        <a:rPr lang="tr-TR" sz="1300" b="1" dirty="0" err="1">
                          <a:solidFill>
                            <a:srgbClr val="FFFFFF"/>
                          </a:solidFill>
                          <a:latin typeface="Calibri"/>
                        </a:rPr>
                        <a:t>Idea</a:t>
                      </a:r>
                      <a:r>
                        <a:rPr lang="tr-TR" sz="1300" b="1" dirty="0">
                          <a:solidFill>
                            <a:srgbClr val="FFFFFF"/>
                          </a:solidFill>
                          <a:latin typeface="Calibri"/>
                        </a:rPr>
                        <a:t> / </a:t>
                      </a:r>
                      <a:r>
                        <a:rPr lang="tr-TR" sz="1300" b="1" dirty="0" err="1">
                          <a:solidFill>
                            <a:srgbClr val="FFFFFF"/>
                          </a:solidFill>
                          <a:latin typeface="Calibri"/>
                        </a:rPr>
                        <a:t>Change</a:t>
                      </a:r>
                      <a:r>
                        <a:rPr lang="tr-TR" sz="1300" b="1" dirty="0">
                          <a:solidFill>
                            <a:srgbClr val="FFFFFF"/>
                          </a:solidFill>
                          <a:latin typeface="Calibri"/>
                        </a:rPr>
                        <a:t> vs. </a:t>
                      </a:r>
                      <a:r>
                        <a:rPr lang="tr-TR" sz="1300" b="1" dirty="0" err="1">
                          <a:solidFill>
                            <a:srgbClr val="FFFFFF"/>
                          </a:solidFill>
                          <a:latin typeface="Calibri"/>
                        </a:rPr>
                        <a:t>Previous</a:t>
                      </a:r>
                      <a:endParaRPr sz="1300" b="1" dirty="0">
                        <a:solidFill>
                          <a:srgbClr val="FFFFFF"/>
                        </a:solidFill>
                        <a:latin typeface="Calibri"/>
                      </a:endParaRPr>
                    </a:p>
                  </a:txBody>
                  <a:tcPr marL="76200" marR="76200" marT="38100" marB="38100" anchor="ctr">
                    <a:solidFill>
                      <a:srgbClr val="7AB51D"/>
                    </a:solidFill>
                  </a:tcPr>
                </a:tc>
                <a:tc>
                  <a:txBody>
                    <a:bodyPr/>
                    <a:lstStyle/>
                    <a:p>
                      <a:pPr algn="ctr"/>
                      <a:r>
                        <a:rPr lang="tr-TR" sz="1300" b="1" dirty="0" err="1">
                          <a:solidFill>
                            <a:srgbClr val="FFFFFF"/>
                          </a:solidFill>
                          <a:latin typeface="Calibri"/>
                        </a:rPr>
                        <a:t>Result</a:t>
                      </a:r>
                      <a:endParaRPr sz="1300" b="1" dirty="0">
                        <a:solidFill>
                          <a:srgbClr val="FFFFFF"/>
                        </a:solidFill>
                        <a:latin typeface="Calibri"/>
                      </a:endParaRPr>
                    </a:p>
                  </a:txBody>
                  <a:tcPr marL="76200" marR="76200" marT="38100" marB="38100" anchor="ctr">
                    <a:solidFill>
                      <a:srgbClr val="7AB51D"/>
                    </a:solidFill>
                  </a:tcPr>
                </a:tc>
                <a:extLst>
                  <a:ext uri="{0D108BD9-81ED-4DB2-BD59-A6C34878D82A}">
                    <a16:rowId xmlns:a16="http://schemas.microsoft.com/office/drawing/2014/main" val="10000"/>
                  </a:ext>
                </a:extLst>
              </a:tr>
              <a:tr h="731520">
                <a:tc>
                  <a:txBody>
                    <a:bodyPr/>
                    <a:lstStyle/>
                    <a:p>
                      <a:r>
                        <a:rPr lang="tr-TR" sz="1200" b="1" dirty="0">
                          <a:solidFill>
                            <a:srgbClr val="262B33"/>
                          </a:solidFill>
                          <a:latin typeface="Calibri"/>
                        </a:rPr>
                        <a:t>V1 ( </a:t>
                      </a:r>
                      <a:r>
                        <a:rPr lang="tr-TR" sz="1200" b="1" dirty="0" err="1">
                          <a:solidFill>
                            <a:srgbClr val="262B33"/>
                          </a:solidFill>
                          <a:latin typeface="Calibri"/>
                        </a:rPr>
                        <a:t>Controllers</a:t>
                      </a:r>
                      <a:r>
                        <a:rPr lang="tr-TR" sz="1200" b="1" dirty="0">
                          <a:solidFill>
                            <a:srgbClr val="262B33"/>
                          </a:solidFill>
                          <a:latin typeface="Calibri"/>
                        </a:rPr>
                        <a:t> v1-2-3 )</a:t>
                      </a:r>
                      <a:endParaRPr sz="1200" b="1" dirty="0">
                        <a:solidFill>
                          <a:srgbClr val="262B33"/>
                        </a:solidFill>
                        <a:latin typeface="Calibri"/>
                      </a:endParaRPr>
                    </a:p>
                  </a:txBody>
                  <a:tcPr marL="76200" marR="76200" marT="38100" marB="38100" anchor="ctr">
                    <a:solidFill>
                      <a:srgbClr val="FFFFFF"/>
                    </a:solidFill>
                  </a:tcPr>
                </a:tc>
                <a:tc>
                  <a:txBody>
                    <a:bodyPr/>
                    <a:lstStyle/>
                    <a:p>
                      <a:r>
                        <a:rPr lang="tr-TR" sz="1200" b="0" dirty="0" err="1">
                          <a:solidFill>
                            <a:srgbClr val="262B33"/>
                          </a:solidFill>
                          <a:latin typeface="Calibri Light"/>
                        </a:rPr>
                        <a:t>Our</a:t>
                      </a:r>
                      <a:r>
                        <a:rPr lang="tr-TR" sz="1200" b="0" dirty="0">
                          <a:solidFill>
                            <a:srgbClr val="262B33"/>
                          </a:solidFill>
                          <a:latin typeface="Calibri Light"/>
                        </a:rPr>
                        <a:t> </a:t>
                      </a:r>
                      <a:r>
                        <a:rPr lang="tr-TR" sz="1200" b="0" dirty="0" err="1">
                          <a:solidFill>
                            <a:srgbClr val="262B33"/>
                          </a:solidFill>
                          <a:latin typeface="Calibri Light"/>
                        </a:rPr>
                        <a:t>initial</a:t>
                      </a:r>
                      <a:r>
                        <a:rPr lang="tr-TR" sz="1200" b="0" dirty="0">
                          <a:solidFill>
                            <a:srgbClr val="262B33"/>
                          </a:solidFill>
                          <a:latin typeface="Calibri Light"/>
                        </a:rPr>
                        <a:t> idea: </a:t>
                      </a:r>
                      <a:r>
                        <a:rPr lang="tr-TR" sz="1200" b="0" dirty="0" err="1">
                          <a:solidFill>
                            <a:srgbClr val="262B33"/>
                          </a:solidFill>
                          <a:latin typeface="Calibri Light"/>
                        </a:rPr>
                        <a:t>Search</a:t>
                      </a:r>
                      <a:r>
                        <a:rPr lang="tr-TR" sz="1200" b="0" dirty="0">
                          <a:solidFill>
                            <a:srgbClr val="262B33"/>
                          </a:solidFill>
                          <a:latin typeface="Calibri Light"/>
                        </a:rPr>
                        <a:t> </a:t>
                      </a:r>
                      <a:r>
                        <a:rPr lang="tr-TR" sz="1200" b="0" dirty="0" err="1">
                          <a:solidFill>
                            <a:srgbClr val="262B33"/>
                          </a:solidFill>
                          <a:latin typeface="Calibri Light"/>
                        </a:rPr>
                        <a:t>then</a:t>
                      </a:r>
                      <a:r>
                        <a:rPr lang="tr-TR" sz="1200" b="0" dirty="0">
                          <a:solidFill>
                            <a:srgbClr val="262B33"/>
                          </a:solidFill>
                          <a:latin typeface="Calibri Light"/>
                        </a:rPr>
                        <a:t> </a:t>
                      </a:r>
                      <a:r>
                        <a:rPr lang="tr-TR" sz="1200" b="0" dirty="0" err="1">
                          <a:solidFill>
                            <a:srgbClr val="262B33"/>
                          </a:solidFill>
                          <a:latin typeface="Calibri Light"/>
                        </a:rPr>
                        <a:t>navigate</a:t>
                      </a:r>
                      <a:r>
                        <a:rPr lang="tr-TR" sz="1200" b="0" dirty="0">
                          <a:solidFill>
                            <a:srgbClr val="262B33"/>
                          </a:solidFill>
                          <a:latin typeface="Calibri Light"/>
                        </a:rPr>
                        <a:t> (</a:t>
                      </a:r>
                      <a:r>
                        <a:rPr lang="tr-TR" sz="1200" b="0" dirty="0" err="1">
                          <a:solidFill>
                            <a:srgbClr val="262B33"/>
                          </a:solidFill>
                          <a:latin typeface="Calibri Light"/>
                        </a:rPr>
                        <a:t>Gate</a:t>
                      </a:r>
                      <a:r>
                        <a:rPr lang="tr-TR" sz="1200" b="0" dirty="0">
                          <a:solidFill>
                            <a:srgbClr val="262B33"/>
                          </a:solidFill>
                          <a:latin typeface="Calibri Light"/>
                        </a:rPr>
                        <a:t> </a:t>
                      </a:r>
                      <a:r>
                        <a:rPr lang="tr-TR" sz="1200" b="0" dirty="0" err="1">
                          <a:solidFill>
                            <a:srgbClr val="262B33"/>
                          </a:solidFill>
                          <a:latin typeface="Calibri Light"/>
                        </a:rPr>
                        <a:t>search</a:t>
                      </a:r>
                      <a:r>
                        <a:rPr lang="tr-TR" sz="1200" b="0" dirty="0">
                          <a:solidFill>
                            <a:srgbClr val="262B33"/>
                          </a:solidFill>
                          <a:latin typeface="Calibri Light"/>
                        </a:rPr>
                        <a:t>)</a:t>
                      </a:r>
                    </a:p>
                  </a:txBody>
                  <a:tcPr marL="76200" marR="76200" marT="38100" marB="38100" anchor="ctr">
                    <a:solidFill>
                      <a:srgbClr val="FFFFFF"/>
                    </a:solidFill>
                  </a:tcPr>
                </a:tc>
                <a:tc>
                  <a:txBody>
                    <a:bodyPr/>
                    <a:lstStyle/>
                    <a:p>
                      <a:pPr algn="ctr"/>
                      <a:r>
                        <a:rPr lang="tr-TR" sz="1200" b="1" dirty="0">
                          <a:solidFill>
                            <a:srgbClr val="262B33"/>
                          </a:solidFill>
                          <a:latin typeface="Calibri Light"/>
                        </a:rPr>
                        <a:t>Arda</a:t>
                      </a:r>
                      <a:endParaRPr sz="1200" b="1" dirty="0">
                        <a:solidFill>
                          <a:srgbClr val="262B33"/>
                        </a:solidFill>
                        <a:latin typeface="Calibri Light"/>
                      </a:endParaRPr>
                    </a:p>
                  </a:txBody>
                  <a:tcPr marL="76200" marR="76200" marT="38100" marB="38100" anchor="ctr">
                    <a:solidFill>
                      <a:srgbClr val="FFFFFF"/>
                    </a:solidFill>
                  </a:tcPr>
                </a:tc>
                <a:extLst>
                  <a:ext uri="{0D108BD9-81ED-4DB2-BD59-A6C34878D82A}">
                    <a16:rowId xmlns:a16="http://schemas.microsoft.com/office/drawing/2014/main" val="10001"/>
                  </a:ext>
                </a:extLst>
              </a:tr>
              <a:tr h="731520">
                <a:tc>
                  <a:txBody>
                    <a:bodyPr/>
                    <a:lstStyle/>
                    <a:p>
                      <a:r>
                        <a:rPr lang="tr-TR" sz="1200" b="1" dirty="0">
                          <a:solidFill>
                            <a:srgbClr val="262B33"/>
                          </a:solidFill>
                          <a:latin typeface="Calibri"/>
                        </a:rPr>
                        <a:t>V2 (</a:t>
                      </a:r>
                      <a:r>
                        <a:rPr lang="tr-TR" sz="1200" b="1" dirty="0" err="1">
                          <a:solidFill>
                            <a:srgbClr val="262B33"/>
                          </a:solidFill>
                          <a:latin typeface="Calibri"/>
                        </a:rPr>
                        <a:t>Controllers</a:t>
                      </a:r>
                      <a:r>
                        <a:rPr lang="tr-TR" sz="1200" b="1" dirty="0">
                          <a:solidFill>
                            <a:srgbClr val="262B33"/>
                          </a:solidFill>
                          <a:latin typeface="Calibri"/>
                        </a:rPr>
                        <a:t> v4-5-6)</a:t>
                      </a:r>
                      <a:endParaRPr sz="1200" b="1" dirty="0">
                        <a:solidFill>
                          <a:srgbClr val="262B33"/>
                        </a:solidFill>
                        <a:latin typeface="Calibri"/>
                      </a:endParaRPr>
                    </a:p>
                  </a:txBody>
                  <a:tcPr marL="76200" marR="76200" marT="38100" marB="38100" anchor="ctr">
                    <a:solidFill>
                      <a:srgbClr val="ECEFF2"/>
                    </a:solidFill>
                  </a:tcPr>
                </a:tc>
                <a:tc>
                  <a:txBody>
                    <a:bodyPr/>
                    <a:lstStyle/>
                    <a:p>
                      <a:r>
                        <a:rPr lang="tr-TR" sz="1200" b="0" dirty="0" err="1">
                          <a:solidFill>
                            <a:srgbClr val="262B33"/>
                          </a:solidFill>
                          <a:latin typeface="Calibri Light"/>
                        </a:rPr>
                        <a:t>Realized</a:t>
                      </a:r>
                      <a:r>
                        <a:rPr lang="tr-TR" sz="1200" b="0" dirty="0">
                          <a:solidFill>
                            <a:srgbClr val="262B33"/>
                          </a:solidFill>
                          <a:latin typeface="Calibri Light"/>
                        </a:rPr>
                        <a:t> </a:t>
                      </a:r>
                      <a:r>
                        <a:rPr lang="tr-TR" sz="1200" b="0" dirty="0" err="1">
                          <a:solidFill>
                            <a:srgbClr val="262B33"/>
                          </a:solidFill>
                          <a:latin typeface="Calibri Light"/>
                        </a:rPr>
                        <a:t>after</a:t>
                      </a:r>
                      <a:r>
                        <a:rPr lang="tr-TR" sz="1200" b="0" dirty="0">
                          <a:solidFill>
                            <a:srgbClr val="262B33"/>
                          </a:solidFill>
                          <a:latin typeface="Calibri Light"/>
                        </a:rPr>
                        <a:t> </a:t>
                      </a:r>
                      <a:r>
                        <a:rPr lang="tr-TR" sz="1200" b="0" dirty="0" err="1">
                          <a:solidFill>
                            <a:srgbClr val="262B33"/>
                          </a:solidFill>
                          <a:latin typeface="Calibri Light"/>
                        </a:rPr>
                        <a:t>lab</a:t>
                      </a:r>
                      <a:r>
                        <a:rPr lang="tr-TR" sz="1200" b="0" dirty="0">
                          <a:solidFill>
                            <a:srgbClr val="262B33"/>
                          </a:solidFill>
                          <a:latin typeface="Calibri Light"/>
                        </a:rPr>
                        <a:t> </a:t>
                      </a:r>
                      <a:r>
                        <a:rPr lang="tr-TR" sz="1200" b="0" dirty="0" err="1">
                          <a:solidFill>
                            <a:srgbClr val="262B33"/>
                          </a:solidFill>
                          <a:latin typeface="Calibri Light"/>
                        </a:rPr>
                        <a:t>session</a:t>
                      </a:r>
                      <a:r>
                        <a:rPr lang="tr-TR" sz="1200" b="0" dirty="0">
                          <a:solidFill>
                            <a:srgbClr val="262B33"/>
                          </a:solidFill>
                          <a:latin typeface="Calibri Light"/>
                        </a:rPr>
                        <a:t> </a:t>
                      </a:r>
                      <a:r>
                        <a:rPr lang="tr-TR" sz="1200" b="0" dirty="0" err="1">
                          <a:solidFill>
                            <a:srgbClr val="262B33"/>
                          </a:solidFill>
                          <a:latin typeface="Calibri Light"/>
                        </a:rPr>
                        <a:t>that</a:t>
                      </a:r>
                      <a:r>
                        <a:rPr lang="tr-TR" sz="1200" b="0" dirty="0">
                          <a:solidFill>
                            <a:srgbClr val="262B33"/>
                          </a:solidFill>
                          <a:latin typeface="Calibri Light"/>
                        </a:rPr>
                        <a:t> </a:t>
                      </a:r>
                      <a:r>
                        <a:rPr lang="tr-TR" sz="1200" b="0" dirty="0" err="1">
                          <a:solidFill>
                            <a:srgbClr val="262B33"/>
                          </a:solidFill>
                          <a:latin typeface="Calibri Light"/>
                        </a:rPr>
                        <a:t>we</a:t>
                      </a:r>
                      <a:r>
                        <a:rPr lang="tr-TR" sz="1200" b="0" dirty="0">
                          <a:solidFill>
                            <a:srgbClr val="262B33"/>
                          </a:solidFill>
                          <a:latin typeface="Calibri Light"/>
                        </a:rPr>
                        <a:t> had </a:t>
                      </a:r>
                      <a:r>
                        <a:rPr lang="tr-TR" sz="1200" b="0" dirty="0" err="1">
                          <a:solidFill>
                            <a:srgbClr val="262B33"/>
                          </a:solidFill>
                          <a:latin typeface="Calibri Light"/>
                        </a:rPr>
                        <a:t>the</a:t>
                      </a:r>
                      <a:r>
                        <a:rPr lang="tr-TR" sz="1200" b="0" dirty="0">
                          <a:solidFill>
                            <a:srgbClr val="262B33"/>
                          </a:solidFill>
                          <a:latin typeface="Calibri Light"/>
                        </a:rPr>
                        <a:t> </a:t>
                      </a:r>
                      <a:r>
                        <a:rPr lang="tr-TR" sz="1200" b="0" dirty="0" err="1">
                          <a:solidFill>
                            <a:srgbClr val="262B33"/>
                          </a:solidFill>
                          <a:latin typeface="Calibri Light"/>
                        </a:rPr>
                        <a:t>wrong</a:t>
                      </a:r>
                      <a:r>
                        <a:rPr lang="tr-TR" sz="1200" b="0" dirty="0">
                          <a:solidFill>
                            <a:srgbClr val="262B33"/>
                          </a:solidFill>
                          <a:latin typeface="Calibri Light"/>
                        </a:rPr>
                        <a:t> idea </a:t>
                      </a:r>
                      <a:endParaRPr sz="1200" b="0" dirty="0">
                        <a:solidFill>
                          <a:srgbClr val="262B33"/>
                        </a:solidFill>
                        <a:latin typeface="Calibri Light"/>
                      </a:endParaRPr>
                    </a:p>
                  </a:txBody>
                  <a:tcPr marL="76200" marR="76200" marT="38100" marB="38100" anchor="ctr">
                    <a:solidFill>
                      <a:srgbClr val="ECEFF2"/>
                    </a:solidFill>
                  </a:tcPr>
                </a:tc>
                <a:tc>
                  <a:txBody>
                    <a:bodyPr/>
                    <a:lstStyle/>
                    <a:p>
                      <a:pPr algn="ctr"/>
                      <a:r>
                        <a:rPr lang="tr-TR" sz="1200" b="1" dirty="0">
                          <a:solidFill>
                            <a:srgbClr val="262B33"/>
                          </a:solidFill>
                          <a:latin typeface="Calibri Light"/>
                        </a:rPr>
                        <a:t>Deniz</a:t>
                      </a:r>
                      <a:endParaRPr sz="1200" b="1" dirty="0">
                        <a:solidFill>
                          <a:srgbClr val="262B33"/>
                        </a:solidFill>
                        <a:latin typeface="Calibri Light"/>
                      </a:endParaRPr>
                    </a:p>
                  </a:txBody>
                  <a:tcPr marL="76200" marR="76200" marT="38100" marB="38100" anchor="ctr">
                    <a:solidFill>
                      <a:srgbClr val="ECEFF2"/>
                    </a:solidFill>
                  </a:tcPr>
                </a:tc>
                <a:extLst>
                  <a:ext uri="{0D108BD9-81ED-4DB2-BD59-A6C34878D82A}">
                    <a16:rowId xmlns:a16="http://schemas.microsoft.com/office/drawing/2014/main" val="10002"/>
                  </a:ext>
                </a:extLst>
              </a:tr>
              <a:tr h="731520">
                <a:tc>
                  <a:txBody>
                    <a:bodyPr/>
                    <a:lstStyle/>
                    <a:p>
                      <a:r>
                        <a:rPr lang="tr-TR" sz="1200" b="1" dirty="0">
                          <a:solidFill>
                            <a:srgbClr val="262B33"/>
                          </a:solidFill>
                          <a:latin typeface="Calibri"/>
                        </a:rPr>
                        <a:t>V3 (</a:t>
                      </a:r>
                      <a:r>
                        <a:rPr lang="tr-TR" sz="1200" b="1" dirty="0" err="1">
                          <a:solidFill>
                            <a:srgbClr val="262B33"/>
                          </a:solidFill>
                          <a:latin typeface="Calibri"/>
                        </a:rPr>
                        <a:t>Controllers</a:t>
                      </a:r>
                      <a:r>
                        <a:rPr lang="tr-TR" sz="1200" b="1" dirty="0">
                          <a:solidFill>
                            <a:srgbClr val="262B33"/>
                          </a:solidFill>
                          <a:latin typeface="Calibri"/>
                        </a:rPr>
                        <a:t> 7-8)</a:t>
                      </a:r>
                      <a:endParaRPr sz="1200" b="1" dirty="0">
                        <a:solidFill>
                          <a:srgbClr val="262B33"/>
                        </a:solidFill>
                        <a:latin typeface="Calibri"/>
                      </a:endParaRPr>
                    </a:p>
                  </a:txBody>
                  <a:tcPr marL="76200" marR="76200" marT="38100" marB="38100" anchor="ctr">
                    <a:solidFill>
                      <a:srgbClr val="FFFFFF"/>
                    </a:solidFill>
                  </a:tcPr>
                </a:tc>
                <a:tc>
                  <a:txBody>
                    <a:bodyPr/>
                    <a:lstStyle/>
                    <a:p>
                      <a:r>
                        <a:rPr lang="tr-TR" sz="1200" b="0" dirty="0" err="1">
                          <a:solidFill>
                            <a:srgbClr val="262B33"/>
                          </a:solidFill>
                          <a:latin typeface="Calibri Light"/>
                        </a:rPr>
                        <a:t>Fine-tuning</a:t>
                      </a:r>
                      <a:r>
                        <a:rPr lang="tr-TR" sz="1200" b="0" dirty="0">
                          <a:solidFill>
                            <a:srgbClr val="262B33"/>
                          </a:solidFill>
                          <a:latin typeface="Calibri Light"/>
                        </a:rPr>
                        <a:t> </a:t>
                      </a:r>
                      <a:r>
                        <a:rPr lang="tr-TR" sz="1200" b="0" dirty="0" err="1">
                          <a:solidFill>
                            <a:srgbClr val="262B33"/>
                          </a:solidFill>
                          <a:latin typeface="Calibri Light"/>
                        </a:rPr>
                        <a:t>our</a:t>
                      </a:r>
                      <a:r>
                        <a:rPr lang="tr-TR" sz="1200" b="0" dirty="0">
                          <a:solidFill>
                            <a:srgbClr val="262B33"/>
                          </a:solidFill>
                          <a:latin typeface="Calibri Light"/>
                        </a:rPr>
                        <a:t> </a:t>
                      </a:r>
                      <a:r>
                        <a:rPr lang="tr-TR" sz="1200" b="0" dirty="0" err="1">
                          <a:solidFill>
                            <a:srgbClr val="262B33"/>
                          </a:solidFill>
                          <a:latin typeface="Calibri Light"/>
                        </a:rPr>
                        <a:t>parameters</a:t>
                      </a:r>
                      <a:r>
                        <a:rPr lang="tr-TR" sz="1200" b="0" dirty="0">
                          <a:solidFill>
                            <a:srgbClr val="262B33"/>
                          </a:solidFill>
                          <a:latin typeface="Calibri Light"/>
                        </a:rPr>
                        <a:t> </a:t>
                      </a:r>
                      <a:r>
                        <a:rPr lang="tr-TR" sz="1200" b="0" dirty="0" err="1">
                          <a:solidFill>
                            <a:srgbClr val="262B33"/>
                          </a:solidFill>
                          <a:latin typeface="Calibri Light"/>
                        </a:rPr>
                        <a:t>for</a:t>
                      </a:r>
                      <a:r>
                        <a:rPr lang="tr-TR" sz="1200" b="0" dirty="0">
                          <a:solidFill>
                            <a:srgbClr val="262B33"/>
                          </a:solidFill>
                          <a:latin typeface="Calibri Light"/>
                        </a:rPr>
                        <a:t> </a:t>
                      </a:r>
                      <a:r>
                        <a:rPr lang="tr-TR" sz="1200" b="0" dirty="0" err="1">
                          <a:solidFill>
                            <a:srgbClr val="262B33"/>
                          </a:solidFill>
                          <a:latin typeface="Calibri Light"/>
                        </a:rPr>
                        <a:t>speed</a:t>
                      </a:r>
                      <a:r>
                        <a:rPr lang="tr-TR" sz="1200" b="0" dirty="0">
                          <a:solidFill>
                            <a:srgbClr val="262B33"/>
                          </a:solidFill>
                          <a:latin typeface="Calibri Light"/>
                        </a:rPr>
                        <a:t> </a:t>
                      </a:r>
                      <a:r>
                        <a:rPr lang="tr-TR" sz="1200" b="0" dirty="0" err="1">
                          <a:solidFill>
                            <a:srgbClr val="262B33"/>
                          </a:solidFill>
                          <a:latin typeface="Calibri Light"/>
                        </a:rPr>
                        <a:t>and</a:t>
                      </a:r>
                      <a:r>
                        <a:rPr lang="tr-TR" sz="1200" b="0" dirty="0">
                          <a:solidFill>
                            <a:srgbClr val="262B33"/>
                          </a:solidFill>
                          <a:latin typeface="Calibri Light"/>
                        </a:rPr>
                        <a:t> </a:t>
                      </a:r>
                      <a:r>
                        <a:rPr lang="tr-TR" sz="1200" b="0" dirty="0" err="1">
                          <a:solidFill>
                            <a:srgbClr val="262B33"/>
                          </a:solidFill>
                          <a:latin typeface="Calibri Light"/>
                        </a:rPr>
                        <a:t>turning</a:t>
                      </a:r>
                      <a:r>
                        <a:rPr lang="tr-TR" sz="1200" b="0" dirty="0">
                          <a:solidFill>
                            <a:srgbClr val="262B33"/>
                          </a:solidFill>
                          <a:latin typeface="Calibri Light"/>
                        </a:rPr>
                        <a:t> </a:t>
                      </a:r>
                      <a:r>
                        <a:rPr lang="tr-TR" sz="1200" b="0" dirty="0" err="1">
                          <a:solidFill>
                            <a:srgbClr val="262B33"/>
                          </a:solidFill>
                          <a:latin typeface="Calibri Light"/>
                        </a:rPr>
                        <a:t>radius</a:t>
                      </a:r>
                      <a:endParaRPr sz="1200" b="0" dirty="0">
                        <a:solidFill>
                          <a:srgbClr val="262B33"/>
                        </a:solidFill>
                        <a:latin typeface="Calibri Light"/>
                      </a:endParaRPr>
                    </a:p>
                  </a:txBody>
                  <a:tcPr marL="76200" marR="76200" marT="38100" marB="38100" anchor="ctr">
                    <a:solidFill>
                      <a:srgbClr val="FFFFFF"/>
                    </a:solidFill>
                  </a:tcPr>
                </a:tc>
                <a:tc>
                  <a:txBody>
                    <a:bodyPr/>
                    <a:lstStyle/>
                    <a:p>
                      <a:pPr algn="ctr"/>
                      <a:r>
                        <a:rPr lang="tr-TR" sz="1200" b="1" dirty="0" err="1">
                          <a:solidFill>
                            <a:srgbClr val="262B33"/>
                          </a:solidFill>
                          <a:latin typeface="Calibri Light"/>
                        </a:rPr>
                        <a:t>Both</a:t>
                      </a:r>
                      <a:endParaRPr sz="1200" b="1" dirty="0">
                        <a:solidFill>
                          <a:srgbClr val="262B33"/>
                        </a:solidFill>
                        <a:latin typeface="Calibri Light"/>
                      </a:endParaRPr>
                    </a:p>
                  </a:txBody>
                  <a:tcPr marL="76200" marR="76200" marT="38100" marB="38100" anchor="ctr">
                    <a:solidFill>
                      <a:srgbClr val="FFFFFF"/>
                    </a:solidFill>
                  </a:tcPr>
                </a:tc>
                <a:extLst>
                  <a:ext uri="{0D108BD9-81ED-4DB2-BD59-A6C34878D82A}">
                    <a16:rowId xmlns:a16="http://schemas.microsoft.com/office/drawing/2014/main" val="10003"/>
                  </a:ext>
                </a:extLst>
              </a:tr>
              <a:tr h="731520">
                <a:tc>
                  <a:txBody>
                    <a:bodyPr/>
                    <a:lstStyle/>
                    <a:p>
                      <a:r>
                        <a:rPr lang="tr-TR" sz="1200" b="1" dirty="0" err="1">
                          <a:solidFill>
                            <a:srgbClr val="262B33"/>
                          </a:solidFill>
                          <a:latin typeface="Calibri"/>
                        </a:rPr>
                        <a:t>End</a:t>
                      </a:r>
                      <a:r>
                        <a:rPr lang="tr-TR" sz="1200" b="1" dirty="0">
                          <a:solidFill>
                            <a:srgbClr val="262B33"/>
                          </a:solidFill>
                          <a:latin typeface="Calibri"/>
                        </a:rPr>
                        <a:t> </a:t>
                      </a:r>
                      <a:r>
                        <a:rPr lang="tr-TR" sz="1200" b="1" dirty="0" err="1">
                          <a:solidFill>
                            <a:srgbClr val="262B33"/>
                          </a:solidFill>
                          <a:latin typeface="Calibri"/>
                        </a:rPr>
                        <a:t>Goal</a:t>
                      </a:r>
                      <a:r>
                        <a:rPr lang="tr-TR" sz="1200" b="1" dirty="0">
                          <a:solidFill>
                            <a:srgbClr val="262B33"/>
                          </a:solidFill>
                          <a:latin typeface="Calibri"/>
                        </a:rPr>
                        <a:t>: </a:t>
                      </a:r>
                      <a:endParaRPr sz="1200" b="1" dirty="0">
                        <a:solidFill>
                          <a:srgbClr val="262B33"/>
                        </a:solidFill>
                        <a:latin typeface="Calibri"/>
                      </a:endParaRPr>
                    </a:p>
                  </a:txBody>
                  <a:tcPr marL="76200" marR="76200" marT="38100" marB="38100" anchor="ctr">
                    <a:solidFill>
                      <a:srgbClr val="ECEFF2"/>
                    </a:solidFill>
                  </a:tcPr>
                </a:tc>
                <a:tc>
                  <a:txBody>
                    <a:bodyPr/>
                    <a:lstStyle/>
                    <a:p>
                      <a:r>
                        <a:rPr lang="tr-TR" sz="1200" b="0" dirty="0" err="1">
                          <a:solidFill>
                            <a:srgbClr val="262B33"/>
                          </a:solidFill>
                          <a:latin typeface="Calibri Light"/>
                        </a:rPr>
                        <a:t>Achieving</a:t>
                      </a:r>
                      <a:r>
                        <a:rPr lang="tr-TR" sz="1200" b="0" dirty="0">
                          <a:solidFill>
                            <a:srgbClr val="262B33"/>
                          </a:solidFill>
                          <a:latin typeface="Calibri Light"/>
                        </a:rPr>
                        <a:t> </a:t>
                      </a:r>
                      <a:r>
                        <a:rPr lang="tr-TR" sz="1200" b="0" dirty="0" err="1">
                          <a:solidFill>
                            <a:srgbClr val="262B33"/>
                          </a:solidFill>
                          <a:latin typeface="Calibri Light"/>
                        </a:rPr>
                        <a:t>fast</a:t>
                      </a:r>
                      <a:r>
                        <a:rPr lang="tr-TR" sz="1200" b="0" dirty="0">
                          <a:solidFill>
                            <a:srgbClr val="262B33"/>
                          </a:solidFill>
                          <a:latin typeface="Calibri Light"/>
                        </a:rPr>
                        <a:t> </a:t>
                      </a:r>
                      <a:r>
                        <a:rPr lang="tr-TR" sz="1200" b="0" dirty="0" err="1">
                          <a:solidFill>
                            <a:srgbClr val="262B33"/>
                          </a:solidFill>
                          <a:latin typeface="Calibri Light"/>
                        </a:rPr>
                        <a:t>finishes</a:t>
                      </a:r>
                      <a:r>
                        <a:rPr lang="tr-TR" sz="1200" b="0" dirty="0">
                          <a:solidFill>
                            <a:srgbClr val="262B33"/>
                          </a:solidFill>
                          <a:latin typeface="Calibri Light"/>
                        </a:rPr>
                        <a:t> in </a:t>
                      </a:r>
                      <a:r>
                        <a:rPr lang="tr-TR" sz="1200" b="0" dirty="0" err="1">
                          <a:solidFill>
                            <a:srgbClr val="262B33"/>
                          </a:solidFill>
                          <a:latin typeface="Calibri Light"/>
                        </a:rPr>
                        <a:t>map</a:t>
                      </a:r>
                      <a:r>
                        <a:rPr lang="tr-TR" sz="1200" b="0" dirty="0">
                          <a:solidFill>
                            <a:srgbClr val="262B33"/>
                          </a:solidFill>
                          <a:latin typeface="Calibri Light"/>
                        </a:rPr>
                        <a:t> </a:t>
                      </a:r>
                      <a:r>
                        <a:rPr lang="tr-TR" sz="1200" b="0" dirty="0" err="1">
                          <a:solidFill>
                            <a:srgbClr val="262B33"/>
                          </a:solidFill>
                          <a:latin typeface="Calibri Light"/>
                        </a:rPr>
                        <a:t>blind</a:t>
                      </a:r>
                      <a:r>
                        <a:rPr lang="tr-TR" sz="1200" b="0" dirty="0">
                          <a:solidFill>
                            <a:srgbClr val="262B33"/>
                          </a:solidFill>
                          <a:latin typeface="Calibri Light"/>
                        </a:rPr>
                        <a:t> </a:t>
                      </a:r>
                      <a:r>
                        <a:rPr lang="tr-TR" sz="1200" b="0" dirty="0" err="1">
                          <a:solidFill>
                            <a:srgbClr val="262B33"/>
                          </a:solidFill>
                          <a:latin typeface="Calibri Light"/>
                        </a:rPr>
                        <a:t>mode</a:t>
                      </a:r>
                      <a:endParaRPr sz="1200" b="0" dirty="0">
                        <a:solidFill>
                          <a:srgbClr val="262B33"/>
                        </a:solidFill>
                        <a:latin typeface="Calibri Light"/>
                      </a:endParaRPr>
                    </a:p>
                  </a:txBody>
                  <a:tcPr marL="76200" marR="76200" marT="38100" marB="38100" anchor="ctr">
                    <a:solidFill>
                      <a:srgbClr val="ECEFF2"/>
                    </a:solidFill>
                  </a:tcPr>
                </a:tc>
                <a:tc>
                  <a:txBody>
                    <a:bodyPr/>
                    <a:lstStyle/>
                    <a:p>
                      <a:pPr algn="ctr"/>
                      <a:r>
                        <a:rPr lang="tr-TR" sz="1200" b="1" dirty="0" err="1">
                          <a:solidFill>
                            <a:srgbClr val="262B33"/>
                          </a:solidFill>
                          <a:latin typeface="Calibri Light"/>
                        </a:rPr>
                        <a:t>Both</a:t>
                      </a:r>
                      <a:endParaRPr sz="1200" b="1" dirty="0">
                        <a:solidFill>
                          <a:srgbClr val="262B33"/>
                        </a:solidFill>
                        <a:latin typeface="Calibri Light"/>
                      </a:endParaRPr>
                    </a:p>
                  </a:txBody>
                  <a:tcPr marL="76200" marR="76200" marT="38100" marB="38100" anchor="ctr">
                    <a:solidFill>
                      <a:srgbClr val="ECEFF2"/>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933268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tr-TR" sz="2700" b="1" dirty="0" err="1">
                <a:solidFill>
                  <a:srgbClr val="262B33"/>
                </a:solidFill>
              </a:rPr>
              <a:t>Our</a:t>
            </a:r>
            <a:r>
              <a:rPr lang="tr-TR" sz="2700" b="1">
                <a:solidFill>
                  <a:srgbClr val="262B33"/>
                </a:solidFill>
              </a:rPr>
              <a:t> Plan</a:t>
            </a:r>
            <a:endParaRPr sz="2700" b="1" dirty="0">
              <a:solidFill>
                <a:srgbClr val="262B33"/>
              </a:solidFill>
            </a:endParaRPr>
          </a:p>
        </p:txBody>
      </p:sp>
      <p:sp>
        <p:nvSpPr>
          <p:cNvPr id="5" name="Text Placeholder 4"/>
          <p:cNvSpPr>
            <a:spLocks noGrp="1"/>
          </p:cNvSpPr>
          <p:nvPr>
            <p:ph type="body" sz="quarter" idx="12"/>
          </p:nvPr>
        </p:nvSpPr>
        <p:spPr/>
        <p:txBody>
          <a:bodyPr/>
          <a:lstStyle/>
          <a:p>
            <a:r>
              <a:rPr sz="1200" b="1">
                <a:solidFill>
                  <a:srgbClr val="558010"/>
                </a:solidFill>
                <a:latin typeface="Calibri"/>
              </a:rPr>
              <a:t>MILESTONES &amp; SMART GOALS</a:t>
            </a:r>
          </a:p>
        </p:txBody>
      </p:sp>
      <p:graphicFrame>
        <p:nvGraphicFramePr>
          <p:cNvPr id="6" name="Table 5"/>
          <p:cNvGraphicFramePr>
            <a:graphicFrameLocks noGrp="1"/>
          </p:cNvGraphicFramePr>
          <p:nvPr>
            <p:extLst>
              <p:ext uri="{D42A27DB-BD31-4B8C-83A1-F6EECF244321}">
                <p14:modId xmlns:p14="http://schemas.microsoft.com/office/powerpoint/2010/main" val="3688579334"/>
              </p:ext>
            </p:extLst>
          </p:nvPr>
        </p:nvGraphicFramePr>
        <p:xfrm>
          <a:off x="1089660" y="2356701"/>
          <a:ext cx="10012680" cy="2651760"/>
        </p:xfrm>
        <a:graphic>
          <a:graphicData uri="http://schemas.openxmlformats.org/drawingml/2006/table">
            <a:tbl>
              <a:tblPr firstRow="1" bandRow="1">
                <a:tableStyleId>{5C22544A-7EE6-4342-B048-85BDC9FD1C3A}</a:tableStyleId>
              </a:tblPr>
              <a:tblGrid>
                <a:gridCol w="28346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691640">
                  <a:extLst>
                    <a:ext uri="{9D8B030D-6E8A-4147-A177-3AD203B41FA5}">
                      <a16:colId xmlns:a16="http://schemas.microsoft.com/office/drawing/2014/main" val="20002"/>
                    </a:ext>
                  </a:extLst>
                </a:gridCol>
              </a:tblGrid>
              <a:tr h="457200">
                <a:tc>
                  <a:txBody>
                    <a:bodyPr/>
                    <a:lstStyle/>
                    <a:p>
                      <a:r>
                        <a:rPr sz="1300" b="1" dirty="0">
                          <a:solidFill>
                            <a:srgbClr val="FFFFFF"/>
                          </a:solidFill>
                          <a:latin typeface="Calibri"/>
                        </a:rPr>
                        <a:t>Milestone</a:t>
                      </a:r>
                    </a:p>
                  </a:txBody>
                  <a:tcPr marL="76200" marR="76200" marT="38100" marB="38100" anchor="ctr">
                    <a:solidFill>
                      <a:srgbClr val="7AB51D"/>
                    </a:solidFill>
                  </a:tcPr>
                </a:tc>
                <a:tc>
                  <a:txBody>
                    <a:bodyPr/>
                    <a:lstStyle/>
                    <a:p>
                      <a:r>
                        <a:rPr sz="1300" b="1">
                          <a:solidFill>
                            <a:srgbClr val="FFFFFF"/>
                          </a:solidFill>
                          <a:latin typeface="Calibri"/>
                        </a:rPr>
                        <a:t>SMART goal (specific · measurable)</a:t>
                      </a:r>
                    </a:p>
                  </a:txBody>
                  <a:tcPr marL="76200" marR="76200" marT="38100" marB="38100" anchor="ctr">
                    <a:solidFill>
                      <a:srgbClr val="7AB51D"/>
                    </a:solidFill>
                  </a:tcPr>
                </a:tc>
                <a:tc>
                  <a:txBody>
                    <a:bodyPr/>
                    <a:lstStyle/>
                    <a:p>
                      <a:pPr algn="ctr"/>
                      <a:r>
                        <a:rPr sz="1300" b="1">
                          <a:solidFill>
                            <a:srgbClr val="FFFFFF"/>
                          </a:solidFill>
                          <a:latin typeface="Calibri"/>
                        </a:rPr>
                        <a:t>Owner</a:t>
                      </a:r>
                    </a:p>
                  </a:txBody>
                  <a:tcPr marL="76200" marR="76200" marT="38100" marB="38100" anchor="ctr">
                    <a:solidFill>
                      <a:srgbClr val="7AB51D"/>
                    </a:solidFill>
                  </a:tcPr>
                </a:tc>
                <a:extLst>
                  <a:ext uri="{0D108BD9-81ED-4DB2-BD59-A6C34878D82A}">
                    <a16:rowId xmlns:a16="http://schemas.microsoft.com/office/drawing/2014/main" val="10000"/>
                  </a:ext>
                </a:extLst>
              </a:tr>
              <a:tr h="731520">
                <a:tc>
                  <a:txBody>
                    <a:bodyPr/>
                    <a:lstStyle/>
                    <a:p>
                      <a:r>
                        <a:rPr lang="tr-TR" sz="1200" b="1" dirty="0" err="1">
                          <a:solidFill>
                            <a:srgbClr val="262B33"/>
                          </a:solidFill>
                          <a:latin typeface="Calibri"/>
                        </a:rPr>
                        <a:t>Optimization</a:t>
                      </a:r>
                      <a:r>
                        <a:rPr lang="tr-TR" sz="1200" b="1" dirty="0">
                          <a:solidFill>
                            <a:srgbClr val="262B33"/>
                          </a:solidFill>
                          <a:latin typeface="Calibri"/>
                        </a:rPr>
                        <a:t> </a:t>
                      </a:r>
                      <a:r>
                        <a:rPr lang="tr-TR" sz="1200" b="1" dirty="0" err="1">
                          <a:solidFill>
                            <a:srgbClr val="262B33"/>
                          </a:solidFill>
                          <a:latin typeface="Calibri"/>
                        </a:rPr>
                        <a:t>based</a:t>
                      </a:r>
                      <a:r>
                        <a:rPr lang="tr-TR" sz="1200" b="1" dirty="0">
                          <a:solidFill>
                            <a:srgbClr val="262B33"/>
                          </a:solidFill>
                          <a:latin typeface="Calibri"/>
                        </a:rPr>
                        <a:t> </a:t>
                      </a:r>
                      <a:r>
                        <a:rPr lang="tr-TR" sz="1200" b="1" dirty="0" err="1">
                          <a:solidFill>
                            <a:srgbClr val="262B33"/>
                          </a:solidFill>
                          <a:latin typeface="Calibri"/>
                        </a:rPr>
                        <a:t>planner-controller</a:t>
                      </a:r>
                      <a:r>
                        <a:rPr lang="tr-TR" sz="1200" b="1" dirty="0">
                          <a:solidFill>
                            <a:srgbClr val="262B33"/>
                          </a:solidFill>
                          <a:latin typeface="Calibri"/>
                        </a:rPr>
                        <a:t> </a:t>
                      </a:r>
                      <a:endParaRPr sz="1200" b="1" dirty="0">
                        <a:solidFill>
                          <a:srgbClr val="262B33"/>
                        </a:solidFill>
                        <a:latin typeface="Calibri"/>
                      </a:endParaRPr>
                    </a:p>
                  </a:txBody>
                  <a:tcPr marL="76200" marR="76200" marT="38100" marB="38100" anchor="ctr">
                    <a:solidFill>
                      <a:srgbClr val="FFFFFF"/>
                    </a:solidFill>
                  </a:tcPr>
                </a:tc>
                <a:tc>
                  <a:txBody>
                    <a:bodyPr/>
                    <a:lstStyle/>
                    <a:p>
                      <a:r>
                        <a:rPr lang="tr-TR" sz="1200" b="0" dirty="0">
                          <a:solidFill>
                            <a:srgbClr val="262B33"/>
                          </a:solidFill>
                          <a:latin typeface="Calibri Light"/>
                        </a:rPr>
                        <a:t>Model </a:t>
                      </a:r>
                      <a:r>
                        <a:rPr lang="tr-TR" sz="1200" b="0" dirty="0" err="1">
                          <a:solidFill>
                            <a:srgbClr val="262B33"/>
                          </a:solidFill>
                          <a:latin typeface="Calibri Light"/>
                        </a:rPr>
                        <a:t>predictive</a:t>
                      </a:r>
                      <a:r>
                        <a:rPr lang="tr-TR" sz="1200" b="0" dirty="0">
                          <a:solidFill>
                            <a:srgbClr val="262B33"/>
                          </a:solidFill>
                          <a:latin typeface="Calibri Light"/>
                        </a:rPr>
                        <a:t> </a:t>
                      </a:r>
                      <a:r>
                        <a:rPr lang="tr-TR" sz="1200" b="0" dirty="0" err="1">
                          <a:solidFill>
                            <a:srgbClr val="262B33"/>
                          </a:solidFill>
                          <a:latin typeface="Calibri Light"/>
                        </a:rPr>
                        <a:t>contouring</a:t>
                      </a:r>
                      <a:r>
                        <a:rPr lang="tr-TR" sz="1200" b="0" dirty="0">
                          <a:solidFill>
                            <a:srgbClr val="262B33"/>
                          </a:solidFill>
                          <a:latin typeface="Calibri Light"/>
                        </a:rPr>
                        <a:t> </a:t>
                      </a:r>
                      <a:r>
                        <a:rPr lang="tr-TR" sz="1200" b="0" dirty="0" err="1">
                          <a:solidFill>
                            <a:srgbClr val="262B33"/>
                          </a:solidFill>
                          <a:latin typeface="Calibri Light"/>
                        </a:rPr>
                        <a:t>controller</a:t>
                      </a:r>
                      <a:r>
                        <a:rPr lang="tr-TR" sz="1200" b="0" dirty="0">
                          <a:solidFill>
                            <a:srgbClr val="262B33"/>
                          </a:solidFill>
                          <a:latin typeface="Calibri Light"/>
                        </a:rPr>
                        <a:t> </a:t>
                      </a:r>
                      <a:r>
                        <a:rPr lang="tr-TR" sz="1200" b="0" dirty="0" err="1">
                          <a:solidFill>
                            <a:srgbClr val="262B33"/>
                          </a:solidFill>
                          <a:latin typeface="Calibri Light"/>
                        </a:rPr>
                        <a:t>to</a:t>
                      </a:r>
                      <a:r>
                        <a:rPr lang="tr-TR" sz="1200" b="0" dirty="0">
                          <a:solidFill>
                            <a:srgbClr val="262B33"/>
                          </a:solidFill>
                          <a:latin typeface="Calibri Light"/>
                        </a:rPr>
                        <a:t> </a:t>
                      </a:r>
                      <a:r>
                        <a:rPr lang="tr-TR" sz="1200" b="0" dirty="0" err="1">
                          <a:solidFill>
                            <a:srgbClr val="262B33"/>
                          </a:solidFill>
                          <a:latin typeface="Calibri Light"/>
                        </a:rPr>
                        <a:t>reduce</a:t>
                      </a:r>
                      <a:r>
                        <a:rPr lang="tr-TR" sz="1200" b="0" dirty="0">
                          <a:solidFill>
                            <a:srgbClr val="262B33"/>
                          </a:solidFill>
                          <a:latin typeface="Calibri Light"/>
                        </a:rPr>
                        <a:t> lap </a:t>
                      </a:r>
                      <a:r>
                        <a:rPr lang="tr-TR" sz="1200" b="0" dirty="0" err="1">
                          <a:solidFill>
                            <a:srgbClr val="262B33"/>
                          </a:solidFill>
                          <a:latin typeface="Calibri Light"/>
                        </a:rPr>
                        <a:t>times</a:t>
                      </a:r>
                      <a:r>
                        <a:rPr lang="tr-TR" sz="1200" b="0" dirty="0">
                          <a:solidFill>
                            <a:srgbClr val="262B33"/>
                          </a:solidFill>
                          <a:latin typeface="Calibri Light"/>
                        </a:rPr>
                        <a:t> </a:t>
                      </a:r>
                      <a:r>
                        <a:rPr lang="tr-TR" sz="1200" b="0" dirty="0" err="1">
                          <a:solidFill>
                            <a:srgbClr val="262B33"/>
                          </a:solidFill>
                          <a:latin typeface="Calibri Light"/>
                        </a:rPr>
                        <a:t>while</a:t>
                      </a:r>
                      <a:r>
                        <a:rPr lang="tr-TR" sz="1200" b="0" dirty="0">
                          <a:solidFill>
                            <a:srgbClr val="262B33"/>
                          </a:solidFill>
                          <a:latin typeface="Calibri Light"/>
                        </a:rPr>
                        <a:t> </a:t>
                      </a:r>
                      <a:r>
                        <a:rPr lang="tr-TR" sz="1200" b="0" dirty="0" err="1">
                          <a:solidFill>
                            <a:srgbClr val="262B33"/>
                          </a:solidFill>
                          <a:latin typeface="Calibri Light"/>
                        </a:rPr>
                        <a:t>maintaining</a:t>
                      </a:r>
                      <a:r>
                        <a:rPr lang="tr-TR" sz="1200" b="0" dirty="0">
                          <a:solidFill>
                            <a:srgbClr val="262B33"/>
                          </a:solidFill>
                          <a:latin typeface="Calibri Light"/>
                        </a:rPr>
                        <a:t> </a:t>
                      </a:r>
                      <a:r>
                        <a:rPr lang="tr-TR" sz="1200" b="0" dirty="0" err="1">
                          <a:solidFill>
                            <a:srgbClr val="262B33"/>
                          </a:solidFill>
                          <a:latin typeface="Calibri Light"/>
                        </a:rPr>
                        <a:t>reliabilitz</a:t>
                      </a:r>
                      <a:endParaRPr sz="1200" b="0" dirty="0">
                        <a:solidFill>
                          <a:srgbClr val="262B33"/>
                        </a:solidFill>
                        <a:latin typeface="Calibri Light"/>
                      </a:endParaRPr>
                    </a:p>
                  </a:txBody>
                  <a:tcPr marL="76200" marR="76200" marT="38100" marB="38100" anchor="ctr">
                    <a:solidFill>
                      <a:srgbClr val="FFFFFF"/>
                    </a:solidFill>
                  </a:tcPr>
                </a:tc>
                <a:tc>
                  <a:txBody>
                    <a:bodyPr/>
                    <a:lstStyle/>
                    <a:p>
                      <a:pPr algn="ctr"/>
                      <a:r>
                        <a:rPr lang="tr-TR" sz="1200" b="1" dirty="0">
                          <a:solidFill>
                            <a:srgbClr val="262B33"/>
                          </a:solidFill>
                          <a:latin typeface="Calibri Light"/>
                        </a:rPr>
                        <a:t>Arda</a:t>
                      </a:r>
                      <a:endParaRPr sz="1200" b="1" dirty="0">
                        <a:solidFill>
                          <a:srgbClr val="262B33"/>
                        </a:solidFill>
                        <a:latin typeface="Calibri Light"/>
                      </a:endParaRPr>
                    </a:p>
                  </a:txBody>
                  <a:tcPr marL="76200" marR="76200" marT="38100" marB="38100" anchor="ctr">
                    <a:solidFill>
                      <a:srgbClr val="FFFFFF"/>
                    </a:solidFill>
                  </a:tcPr>
                </a:tc>
                <a:extLst>
                  <a:ext uri="{0D108BD9-81ED-4DB2-BD59-A6C34878D82A}">
                    <a16:rowId xmlns:a16="http://schemas.microsoft.com/office/drawing/2014/main" val="10001"/>
                  </a:ext>
                </a:extLst>
              </a:tr>
              <a:tr h="731520">
                <a:tc>
                  <a:txBody>
                    <a:bodyPr/>
                    <a:lstStyle/>
                    <a:p>
                      <a:r>
                        <a:rPr lang="tr-TR" sz="1200" b="1" dirty="0" err="1">
                          <a:solidFill>
                            <a:srgbClr val="262B33"/>
                          </a:solidFill>
                          <a:latin typeface="Calibri"/>
                        </a:rPr>
                        <a:t>Potential</a:t>
                      </a:r>
                      <a:r>
                        <a:rPr lang="tr-TR" sz="1200" b="1" dirty="0">
                          <a:solidFill>
                            <a:srgbClr val="262B33"/>
                          </a:solidFill>
                          <a:latin typeface="Calibri"/>
                        </a:rPr>
                        <a:t> </a:t>
                      </a:r>
                      <a:r>
                        <a:rPr lang="tr-TR" sz="1200" b="1" dirty="0" err="1">
                          <a:solidFill>
                            <a:srgbClr val="262B33"/>
                          </a:solidFill>
                          <a:latin typeface="Calibri"/>
                        </a:rPr>
                        <a:t>learning</a:t>
                      </a:r>
                      <a:r>
                        <a:rPr lang="tr-TR" sz="1200" b="1" dirty="0">
                          <a:solidFill>
                            <a:srgbClr val="262B33"/>
                          </a:solidFill>
                          <a:latin typeface="Calibri"/>
                        </a:rPr>
                        <a:t> / </a:t>
                      </a:r>
                      <a:r>
                        <a:rPr lang="tr-TR" sz="1200" b="1" dirty="0" err="1">
                          <a:solidFill>
                            <a:srgbClr val="262B33"/>
                          </a:solidFill>
                          <a:latin typeface="Calibri"/>
                        </a:rPr>
                        <a:t>adaptation</a:t>
                      </a:r>
                      <a:r>
                        <a:rPr lang="tr-TR" sz="1200" b="1" dirty="0">
                          <a:solidFill>
                            <a:srgbClr val="262B33"/>
                          </a:solidFill>
                          <a:latin typeface="Calibri"/>
                        </a:rPr>
                        <a:t> </a:t>
                      </a:r>
                      <a:r>
                        <a:rPr lang="tr-TR" sz="1200" b="1" dirty="0" err="1">
                          <a:solidFill>
                            <a:srgbClr val="262B33"/>
                          </a:solidFill>
                          <a:latin typeface="Calibri"/>
                        </a:rPr>
                        <a:t>layer</a:t>
                      </a:r>
                      <a:r>
                        <a:rPr lang="tr-TR" sz="1200" b="1" dirty="0">
                          <a:solidFill>
                            <a:srgbClr val="262B33"/>
                          </a:solidFill>
                          <a:latin typeface="Calibri"/>
                        </a:rPr>
                        <a:t> (</a:t>
                      </a:r>
                      <a:r>
                        <a:rPr lang="tr-TR" sz="1200" b="1" dirty="0" err="1">
                          <a:solidFill>
                            <a:srgbClr val="262B33"/>
                          </a:solidFill>
                          <a:latin typeface="Calibri"/>
                        </a:rPr>
                        <a:t>feed</a:t>
                      </a:r>
                      <a:r>
                        <a:rPr lang="tr-TR" sz="1200" b="1" dirty="0">
                          <a:solidFill>
                            <a:srgbClr val="262B33"/>
                          </a:solidFill>
                          <a:latin typeface="Calibri"/>
                        </a:rPr>
                        <a:t> </a:t>
                      </a:r>
                      <a:r>
                        <a:rPr lang="tr-TR" sz="1200" b="1" dirty="0" err="1">
                          <a:solidFill>
                            <a:srgbClr val="262B33"/>
                          </a:solidFill>
                          <a:latin typeface="Calibri"/>
                        </a:rPr>
                        <a:t>forward</a:t>
                      </a:r>
                      <a:r>
                        <a:rPr lang="tr-TR" sz="1200" b="1" dirty="0">
                          <a:solidFill>
                            <a:srgbClr val="262B33"/>
                          </a:solidFill>
                          <a:latin typeface="Calibri"/>
                        </a:rPr>
                        <a:t> </a:t>
                      </a:r>
                      <a:r>
                        <a:rPr lang="tr-TR" sz="1200" b="1" dirty="0" err="1">
                          <a:solidFill>
                            <a:srgbClr val="262B33"/>
                          </a:solidFill>
                          <a:latin typeface="Calibri"/>
                        </a:rPr>
                        <a:t>based</a:t>
                      </a:r>
                      <a:r>
                        <a:rPr lang="tr-TR" sz="1200" b="1" dirty="0">
                          <a:solidFill>
                            <a:srgbClr val="262B33"/>
                          </a:solidFill>
                          <a:latin typeface="Calibri"/>
                        </a:rPr>
                        <a:t> on </a:t>
                      </a:r>
                      <a:r>
                        <a:rPr lang="tr-TR" sz="1200" b="1" dirty="0" err="1">
                          <a:solidFill>
                            <a:srgbClr val="262B33"/>
                          </a:solidFill>
                          <a:latin typeface="Calibri"/>
                        </a:rPr>
                        <a:t>spline-current</a:t>
                      </a:r>
                      <a:r>
                        <a:rPr lang="tr-TR" sz="1200" b="1" dirty="0">
                          <a:solidFill>
                            <a:srgbClr val="262B33"/>
                          </a:solidFill>
                          <a:latin typeface="Calibri"/>
                        </a:rPr>
                        <a:t> delta</a:t>
                      </a:r>
                      <a:endParaRPr sz="1200" b="1" dirty="0">
                        <a:solidFill>
                          <a:srgbClr val="262B33"/>
                        </a:solidFill>
                        <a:latin typeface="Calibri"/>
                      </a:endParaRPr>
                    </a:p>
                  </a:txBody>
                  <a:tcPr marL="76200" marR="76200" marT="38100" marB="38100" anchor="ctr">
                    <a:solidFill>
                      <a:srgbClr val="ECEFF2"/>
                    </a:solidFill>
                  </a:tcPr>
                </a:tc>
                <a:tc>
                  <a:txBody>
                    <a:bodyPr/>
                    <a:lstStyle/>
                    <a:p>
                      <a:r>
                        <a:rPr sz="1200" b="0" dirty="0">
                          <a:solidFill>
                            <a:srgbClr val="262B33"/>
                          </a:solidFill>
                          <a:latin typeface="Calibri Light"/>
                        </a:rPr>
                        <a:t>ILC </a:t>
                      </a:r>
                      <a:r>
                        <a:rPr lang="tr-TR" sz="1200" b="0" dirty="0" err="1">
                          <a:solidFill>
                            <a:srgbClr val="262B33"/>
                          </a:solidFill>
                          <a:latin typeface="Calibri Light"/>
                        </a:rPr>
                        <a:t>to</a:t>
                      </a:r>
                      <a:r>
                        <a:rPr lang="tr-TR" sz="1200" b="0" dirty="0">
                          <a:solidFill>
                            <a:srgbClr val="262B33"/>
                          </a:solidFill>
                          <a:latin typeface="Calibri Light"/>
                        </a:rPr>
                        <a:t> </a:t>
                      </a:r>
                      <a:r>
                        <a:rPr lang="tr-TR" sz="1200" b="0" dirty="0" err="1">
                          <a:solidFill>
                            <a:srgbClr val="262B33"/>
                          </a:solidFill>
                          <a:latin typeface="Calibri Light"/>
                        </a:rPr>
                        <a:t>improve</a:t>
                      </a:r>
                      <a:r>
                        <a:rPr lang="tr-TR" sz="1200" b="0" dirty="0">
                          <a:solidFill>
                            <a:srgbClr val="262B33"/>
                          </a:solidFill>
                          <a:latin typeface="Calibri Light"/>
                        </a:rPr>
                        <a:t> </a:t>
                      </a:r>
                      <a:r>
                        <a:rPr lang="tr-TR" sz="1200" b="0" dirty="0" err="1">
                          <a:solidFill>
                            <a:srgbClr val="262B33"/>
                          </a:solidFill>
                          <a:latin typeface="Calibri Light"/>
                        </a:rPr>
                        <a:t>drone</a:t>
                      </a:r>
                      <a:r>
                        <a:rPr lang="tr-TR" sz="1200" b="0" dirty="0">
                          <a:solidFill>
                            <a:srgbClr val="262B33"/>
                          </a:solidFill>
                          <a:latin typeface="Calibri Light"/>
                        </a:rPr>
                        <a:t> </a:t>
                      </a:r>
                      <a:r>
                        <a:rPr lang="tr-TR" sz="1200" b="0" dirty="0" err="1">
                          <a:solidFill>
                            <a:srgbClr val="262B33"/>
                          </a:solidFill>
                          <a:latin typeface="Calibri Light"/>
                        </a:rPr>
                        <a:t>lagging</a:t>
                      </a:r>
                      <a:r>
                        <a:rPr lang="tr-TR" sz="1200" b="0" dirty="0">
                          <a:solidFill>
                            <a:srgbClr val="262B33"/>
                          </a:solidFill>
                          <a:latin typeface="Calibri Light"/>
                        </a:rPr>
                        <a:t> </a:t>
                      </a:r>
                      <a:r>
                        <a:rPr lang="tr-TR" sz="1200" b="0" dirty="0" err="1">
                          <a:solidFill>
                            <a:srgbClr val="262B33"/>
                          </a:solidFill>
                          <a:latin typeface="Calibri Light"/>
                        </a:rPr>
                        <a:t>behind</a:t>
                      </a:r>
                      <a:r>
                        <a:rPr sz="1200" b="0" dirty="0">
                          <a:solidFill>
                            <a:srgbClr val="262B33"/>
                          </a:solidFill>
                          <a:latin typeface="Calibri Light"/>
                        </a:rPr>
                        <a:t>; </a:t>
                      </a:r>
                      <a:r>
                        <a:rPr lang="tr-TR" sz="1200" b="0" dirty="0" err="1">
                          <a:solidFill>
                            <a:srgbClr val="262B33"/>
                          </a:solidFill>
                          <a:latin typeface="Calibri Light"/>
                        </a:rPr>
                        <a:t>reducing</a:t>
                      </a:r>
                      <a:r>
                        <a:rPr lang="tr-TR" sz="1200" b="0" dirty="0">
                          <a:solidFill>
                            <a:srgbClr val="262B33"/>
                          </a:solidFill>
                          <a:latin typeface="Calibri Light"/>
                        </a:rPr>
                        <a:t> lap </a:t>
                      </a:r>
                      <a:r>
                        <a:rPr lang="tr-TR" sz="1200" b="0" dirty="0" err="1">
                          <a:solidFill>
                            <a:srgbClr val="262B33"/>
                          </a:solidFill>
                          <a:latin typeface="Calibri Light"/>
                        </a:rPr>
                        <a:t>times</a:t>
                      </a:r>
                      <a:r>
                        <a:rPr lang="tr-TR" sz="1200" b="0" dirty="0">
                          <a:solidFill>
                            <a:srgbClr val="262B33"/>
                          </a:solidFill>
                          <a:latin typeface="Calibri Light"/>
                        </a:rPr>
                        <a:t> </a:t>
                      </a:r>
                      <a:r>
                        <a:rPr lang="tr-TR" sz="1200" b="0" dirty="0" err="1">
                          <a:solidFill>
                            <a:srgbClr val="262B33"/>
                          </a:solidFill>
                          <a:latin typeface="Calibri Light"/>
                        </a:rPr>
                        <a:t>while</a:t>
                      </a:r>
                      <a:r>
                        <a:rPr lang="tr-TR" sz="1200" b="0" dirty="0">
                          <a:solidFill>
                            <a:srgbClr val="262B33"/>
                          </a:solidFill>
                          <a:latin typeface="Calibri Light"/>
                        </a:rPr>
                        <a:t> </a:t>
                      </a:r>
                      <a:r>
                        <a:rPr lang="tr-TR" sz="1200" b="0" dirty="0" err="1">
                          <a:solidFill>
                            <a:srgbClr val="262B33"/>
                          </a:solidFill>
                          <a:latin typeface="Calibri Light"/>
                        </a:rPr>
                        <a:t>keeping</a:t>
                      </a:r>
                      <a:r>
                        <a:rPr lang="tr-TR" sz="1200" b="0" dirty="0">
                          <a:solidFill>
                            <a:srgbClr val="262B33"/>
                          </a:solidFill>
                          <a:latin typeface="Calibri Light"/>
                        </a:rPr>
                        <a:t> </a:t>
                      </a:r>
                      <a:r>
                        <a:rPr lang="tr-TR" sz="1200" b="0" dirty="0" err="1">
                          <a:solidFill>
                            <a:srgbClr val="262B33"/>
                          </a:solidFill>
                          <a:latin typeface="Calibri Light"/>
                        </a:rPr>
                        <a:t>high</a:t>
                      </a:r>
                      <a:r>
                        <a:rPr lang="tr-TR" sz="1200" b="0" dirty="0">
                          <a:solidFill>
                            <a:srgbClr val="262B33"/>
                          </a:solidFill>
                          <a:latin typeface="Calibri Light"/>
                        </a:rPr>
                        <a:t> </a:t>
                      </a:r>
                      <a:r>
                        <a:rPr lang="tr-TR" sz="1200" b="0" dirty="0" err="1">
                          <a:solidFill>
                            <a:srgbClr val="262B33"/>
                          </a:solidFill>
                          <a:latin typeface="Calibri Light"/>
                        </a:rPr>
                        <a:t>reliability</a:t>
                      </a:r>
                      <a:endParaRPr sz="1200" b="0" dirty="0">
                        <a:solidFill>
                          <a:srgbClr val="262B33"/>
                        </a:solidFill>
                        <a:latin typeface="Calibri Light"/>
                      </a:endParaRPr>
                    </a:p>
                  </a:txBody>
                  <a:tcPr marL="76200" marR="76200" marT="38100" marB="38100" anchor="ctr">
                    <a:solidFill>
                      <a:srgbClr val="ECEFF2"/>
                    </a:solidFill>
                  </a:tcPr>
                </a:tc>
                <a:tc>
                  <a:txBody>
                    <a:bodyPr/>
                    <a:lstStyle/>
                    <a:p>
                      <a:pPr algn="ctr"/>
                      <a:r>
                        <a:rPr lang="tr-TR" sz="1200" b="1" dirty="0">
                          <a:solidFill>
                            <a:srgbClr val="262B33"/>
                          </a:solidFill>
                          <a:latin typeface="Calibri Light"/>
                        </a:rPr>
                        <a:t>Deniz</a:t>
                      </a:r>
                      <a:endParaRPr sz="1200" b="1" dirty="0">
                        <a:solidFill>
                          <a:srgbClr val="262B33"/>
                        </a:solidFill>
                        <a:latin typeface="Calibri Light"/>
                      </a:endParaRPr>
                    </a:p>
                  </a:txBody>
                  <a:tcPr marL="76200" marR="76200" marT="38100" marB="38100" anchor="ctr">
                    <a:solidFill>
                      <a:srgbClr val="ECEFF2"/>
                    </a:solidFill>
                  </a:tcPr>
                </a:tc>
                <a:extLst>
                  <a:ext uri="{0D108BD9-81ED-4DB2-BD59-A6C34878D82A}">
                    <a16:rowId xmlns:a16="http://schemas.microsoft.com/office/drawing/2014/main" val="10002"/>
                  </a:ext>
                </a:extLst>
              </a:tr>
              <a:tr h="731520">
                <a:tc>
                  <a:txBody>
                    <a:bodyPr/>
                    <a:lstStyle/>
                    <a:p>
                      <a:r>
                        <a:rPr sz="1200" b="1" dirty="0">
                          <a:solidFill>
                            <a:srgbClr val="262B33"/>
                          </a:solidFill>
                          <a:latin typeface="Calibri"/>
                        </a:rPr>
                        <a:t>Revive </a:t>
                      </a:r>
                      <a:r>
                        <a:rPr sz="1200" b="1" dirty="0" err="1">
                          <a:solidFill>
                            <a:srgbClr val="262B33"/>
                          </a:solidFill>
                          <a:latin typeface="Calibri"/>
                        </a:rPr>
                        <a:t>acados</a:t>
                      </a:r>
                      <a:r>
                        <a:rPr sz="1200" b="1" dirty="0">
                          <a:solidFill>
                            <a:srgbClr val="262B33"/>
                          </a:solidFill>
                          <a:latin typeface="Calibri"/>
                        </a:rPr>
                        <a:t> MPC </a:t>
                      </a:r>
                    </a:p>
                  </a:txBody>
                  <a:tcPr marL="76200" marR="76200" marT="38100" marB="38100" anchor="ctr">
                    <a:solidFill>
                      <a:srgbClr val="ECEFF2"/>
                    </a:solidFill>
                  </a:tcPr>
                </a:tc>
                <a:tc>
                  <a:txBody>
                    <a:bodyPr/>
                    <a:lstStyle/>
                    <a:p>
                      <a:r>
                        <a:rPr sz="1200" b="0" dirty="0">
                          <a:solidFill>
                            <a:srgbClr val="262B33"/>
                          </a:solidFill>
                          <a:latin typeface="Calibri Light"/>
                        </a:rPr>
                        <a:t>Fix solver build on deploy box; A/B vs PID in sim</a:t>
                      </a:r>
                    </a:p>
                  </a:txBody>
                  <a:tcPr marL="76200" marR="76200" marT="38100" marB="38100" anchor="ctr">
                    <a:solidFill>
                      <a:srgbClr val="ECEFF2"/>
                    </a:solidFill>
                  </a:tcPr>
                </a:tc>
                <a:tc>
                  <a:txBody>
                    <a:bodyPr/>
                    <a:lstStyle/>
                    <a:p>
                      <a:pPr algn="ctr"/>
                      <a:r>
                        <a:rPr lang="tr-TR" sz="1200" b="1" dirty="0" err="1">
                          <a:solidFill>
                            <a:srgbClr val="262B33"/>
                          </a:solidFill>
                          <a:latin typeface="+mn-lt"/>
                        </a:rPr>
                        <a:t>Both</a:t>
                      </a:r>
                      <a:endParaRPr sz="1200" b="1" dirty="0">
                        <a:solidFill>
                          <a:srgbClr val="262B33"/>
                        </a:solidFill>
                        <a:latin typeface="Calibri Light"/>
                      </a:endParaRPr>
                    </a:p>
                  </a:txBody>
                  <a:tcPr marL="76200" marR="76200" marT="38100" marB="38100" anchor="ctr">
                    <a:solidFill>
                      <a:srgbClr val="ECEFF2"/>
                    </a:solidFill>
                  </a:tcPr>
                </a:tc>
                <a:extLst>
                  <a:ext uri="{0D108BD9-81ED-4DB2-BD59-A6C34878D82A}">
                    <a16:rowId xmlns:a16="http://schemas.microsoft.com/office/drawing/2014/main" val="10004"/>
                  </a:ext>
                </a:extLst>
              </a:tr>
            </a:tbl>
          </a:graphicData>
        </a:graphic>
      </p:graphicFrame>
      <p:sp>
        <p:nvSpPr>
          <p:cNvPr id="7" name="TextBox 6"/>
          <p:cNvSpPr txBox="1"/>
          <p:nvPr/>
        </p:nvSpPr>
        <p:spPr>
          <a:xfrm>
            <a:off x="502920" y="5742432"/>
            <a:ext cx="11201400" cy="241092"/>
          </a:xfrm>
          <a:prstGeom prst="rect">
            <a:avLst/>
          </a:prstGeom>
          <a:noFill/>
        </p:spPr>
        <p:txBody>
          <a:bodyPr wrap="square" lIns="25400" tIns="12700" rIns="25400" bIns="12700">
            <a:spAutoFit/>
          </a:bodyPr>
          <a:lstStyle/>
          <a:p>
            <a:pPr algn="ctr">
              <a:lnSpc>
                <a:spcPct val="100000"/>
              </a:lnSpc>
              <a:spcAft>
                <a:spcPts val="400"/>
              </a:spcAft>
            </a:pPr>
            <a:r>
              <a:rPr sz="1400" b="1" dirty="0">
                <a:solidFill>
                  <a:srgbClr val="558010"/>
                </a:solidFill>
                <a:latin typeface="Calibri"/>
              </a:rPr>
              <a:t>Goal:  </a:t>
            </a:r>
            <a:r>
              <a:rPr sz="1400" b="0" dirty="0">
                <a:solidFill>
                  <a:srgbClr val="262B33"/>
                </a:solidFill>
                <a:latin typeface="Calibri Light"/>
              </a:rPr>
              <a:t>keep 100% reliability while </a:t>
            </a:r>
            <a:r>
              <a:rPr lang="tr-TR" sz="1400" b="0" dirty="0" err="1">
                <a:solidFill>
                  <a:srgbClr val="262B33"/>
                </a:solidFill>
                <a:latin typeface="Calibri Light"/>
              </a:rPr>
              <a:t>finishing</a:t>
            </a:r>
            <a:r>
              <a:rPr lang="tr-TR" sz="1400" b="0" dirty="0">
                <a:solidFill>
                  <a:srgbClr val="262B33"/>
                </a:solidFill>
                <a:latin typeface="Calibri Light"/>
              </a:rPr>
              <a:t> in </a:t>
            </a:r>
            <a:r>
              <a:rPr lang="tr-TR" sz="1400" b="0" dirty="0" err="1">
                <a:solidFill>
                  <a:srgbClr val="262B33"/>
                </a:solidFill>
                <a:latin typeface="Calibri Light"/>
              </a:rPr>
              <a:t>less</a:t>
            </a:r>
            <a:r>
              <a:rPr lang="tr-TR" sz="1400" b="0" dirty="0">
                <a:solidFill>
                  <a:srgbClr val="262B33"/>
                </a:solidFill>
                <a:latin typeface="Calibri Light"/>
              </a:rPr>
              <a:t> </a:t>
            </a:r>
            <a:r>
              <a:rPr lang="tr-TR" sz="1400" b="0" dirty="0" err="1">
                <a:solidFill>
                  <a:srgbClr val="262B33"/>
                </a:solidFill>
                <a:latin typeface="Calibri Light"/>
              </a:rPr>
              <a:t>than</a:t>
            </a:r>
            <a:r>
              <a:rPr lang="tr-TR" sz="1400" b="0" dirty="0">
                <a:solidFill>
                  <a:srgbClr val="262B33"/>
                </a:solidFill>
                <a:latin typeface="Calibri Light"/>
              </a:rPr>
              <a:t> 5 </a:t>
            </a:r>
            <a:r>
              <a:rPr lang="tr-TR" sz="1400" b="0" dirty="0" err="1">
                <a:solidFill>
                  <a:srgbClr val="262B33"/>
                </a:solidFill>
                <a:latin typeface="Calibri Light"/>
              </a:rPr>
              <a:t>seconds</a:t>
            </a:r>
            <a:r>
              <a:rPr sz="1400" b="0" dirty="0">
                <a:solidFill>
                  <a:srgbClr val="262B33"/>
                </a:solidFill>
                <a:latin typeface="Calibri Light"/>
              </a:rPr>
              <a:t>.</a:t>
            </a:r>
          </a:p>
        </p:txBody>
      </p:sp>
    </p:spTree>
  </p:cSld>
  <p:clrMapOvr>
    <a:masterClrMapping/>
  </p:clrMapOvr>
</p:sld>
</file>

<file path=ppt/theme/theme1.xml><?xml version="1.0" encoding="utf-8"?>
<a:theme xmlns:a="http://schemas.openxmlformats.org/drawingml/2006/main" name="LSY_template_2025_v3">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enutzerdefiniert 1">
      <a:majorFont>
        <a:latin typeface="Oswald"/>
        <a:ea typeface=""/>
        <a:cs typeface=""/>
      </a:majorFont>
      <a:minorFont>
        <a:latin typeface="Calibr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5875">
          <a:solidFill>
            <a:schemeClr val="bg1">
              <a:lumMod val="50000"/>
            </a:schemeClr>
          </a:solidFill>
          <a:prstDash val="dash"/>
          <a:headEnd type="oval" w="sm" len="sm"/>
          <a:tailEnd type="stealth" w="lg" len="lg"/>
        </a:ln>
      </a:spPr>
      <a:bodyPr rtlCol="0" anchor="ctr"/>
      <a:lstStyle>
        <a:defPPr algn="ctr">
          <a:defRPr dirty="0"/>
        </a:defPPr>
      </a:lstStyle>
      <a:style>
        <a:lnRef idx="1">
          <a:schemeClr val="accent1"/>
        </a:lnRef>
        <a:fillRef idx="0">
          <a:schemeClr val="accent1"/>
        </a:fillRef>
        <a:effectRef idx="0">
          <a:schemeClr val="accent1"/>
        </a:effectRef>
        <a:fontRef idx="minor">
          <a:schemeClr val="tx1"/>
        </a:fontRef>
      </a:style>
    </a:spDef>
  </a:objectDefaults>
  <a:extraClrSchemeLst/>
  <a:extLst>
    <a:ext uri="{05A4C25C-085E-4340-85A3-A5531E510DB2}">
      <thm15:themeFamily xmlns:thm15="http://schemas.microsoft.com/office/thememl/2012/main" name="LSY_template_2025_v3" id="{72C4A47F-C597-453D-A4D8-A8C5A5E25664}" vid="{2B9D18F7-30E7-4838-8BA8-E950BFA62F83}"/>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LSY_template_2025_v3</Template>
  <TotalTime>1243</TotalTime>
  <Words>1373</Words>
  <Application>Microsoft Office PowerPoint</Application>
  <PresentationFormat>Breitbild</PresentationFormat>
  <Paragraphs>96</Paragraphs>
  <Slides>6</Slides>
  <Notes>6</Notes>
  <HiddenSlides>0</HiddenSlides>
  <MMClips>0</MMClips>
  <ScaleCrop>false</ScaleCrop>
  <HeadingPairs>
    <vt:vector size="6" baseType="variant">
      <vt:variant>
        <vt:lpstr>Verwendete Schriftarten</vt:lpstr>
      </vt:variant>
      <vt:variant>
        <vt:i4>7</vt:i4>
      </vt:variant>
      <vt:variant>
        <vt:lpstr>Design</vt:lpstr>
      </vt:variant>
      <vt:variant>
        <vt:i4>1</vt:i4>
      </vt:variant>
      <vt:variant>
        <vt:lpstr>Folientitel</vt:lpstr>
      </vt:variant>
      <vt:variant>
        <vt:i4>6</vt:i4>
      </vt:variant>
    </vt:vector>
  </HeadingPairs>
  <TitlesOfParts>
    <vt:vector size="14" baseType="lpstr">
      <vt:lpstr>Arial</vt:lpstr>
      <vt:lpstr>Calibri</vt:lpstr>
      <vt:lpstr>Calibri Light</vt:lpstr>
      <vt:lpstr>Calibri Light (Textkörper)</vt:lpstr>
      <vt:lpstr>Cambria Math</vt:lpstr>
      <vt:lpstr>Oswald</vt:lpstr>
      <vt:lpstr>Oswald ExtraLight</vt:lpstr>
      <vt:lpstr>LSY_template_2025_v3</vt:lpstr>
      <vt:lpstr>Racing a Drone Through Gates</vt:lpstr>
      <vt:lpstr>System Overview: Observation → Plan → Control</vt:lpstr>
      <vt:lpstr>How the Drone Flies: Spline + Cascaded PID</vt:lpstr>
      <vt:lpstr>Perception &amp; Spatial Geometry</vt:lpstr>
      <vt:lpstr>Controller Roadmap</vt:lpstr>
      <vt:lpstr>Our Plan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Marcel Rath</dc:creator>
  <cp:lastModifiedBy>Arda Hiz</cp:lastModifiedBy>
  <cp:revision>11</cp:revision>
  <dcterms:created xsi:type="dcterms:W3CDTF">2025-11-18T15:10:33Z</dcterms:created>
  <dcterms:modified xsi:type="dcterms:W3CDTF">2026-06-10T09:33:01Z</dcterms:modified>
</cp:coreProperties>
</file>