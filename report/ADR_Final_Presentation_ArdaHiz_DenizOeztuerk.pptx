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85882" autoAdjust="0"/>
  </p:normalViewPr>
  <p:slideViewPr>
    <p:cSldViewPr snapToGrid="0">
      <p:cViewPr varScale="1">
        <p:scale>
          <a:sx n="105" d="100"/>
          <a:sy n="105" d="100"/>
        </p:scale>
        <p:origin x="696" y="10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0854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Welcome. We are Arda and Deniz. Today: our final Level 3 autonomous drone racing controller — a blind gate search plus a time-optimal MPCC racer. Deniz takes over at the MPCC slide.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Last time you saw a cascaded PID controller. Our goal was always MPCC. The reason we could not show it: the online optimizer occasionally failed and the drone stalled mid-track, so PID was our safe fallback. We fixed that with a robust solver restart, so MPCC now runs reliably — and that is what the rest of this talk is about.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Arda] Every group solves the same Level 3 task, so here is what was specific to us. The layout is randomized and you only see the true gate pose within 0.7 m — and for most of our project the simulator did not even give a usable prior: every object sat at the origin. That means you cannot plan from the map at all, so a standard known-track racer simply cannot fly this. Our answer, and the core of our project: do not trust the map — find the gates by flying, then race them.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The controller has two phases inside one 50 Hz loop. First it searches — a blind spiral that finds the gates. Once they are found it hands them to a time-optimal MPCC that races them, and an attitude layer sends commands to the drone. Nothing reads the nominal layout, so the same pipeline runs on any Level 3 track.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 The search is deliberately blind. The drone climbs above the obstacle poles and flies a fixed Archimedean spiral that covers the whole arena. A gate is 'found' the moment the drone passes within 0.7 m of it; we store it in the set K. When all gates are found — or the spiral ends — we start racing. On the right you can see the wide search loops, then the fast race line. Now Deniz takes over for the racing stage.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Deniz] Once the gates are known we race them with a time-optimal MPCC. The key idea: path progress is part of the state and the optimizer is rewarded for making progress, so the speed profile is an output, not something we hand-tune. We enforce the drone's real thrust and tilt limits and a friction-circle cap in the corners. Two touches make it reliable: a gate-aware weight that only tracks tightly at the gates, and a progress anchor that stops it skipping a gate at sharp turns. It all solves in real time with acados at 50 Hz.</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Deniz] Here are the numbers, all over 20 randomized runs. On the graded final.toml track our fast setting clears 14 of 20 — 70% — at 18.4 seconds, which is our headline. The robust setting is even more reliable, 17 of 20, but slower. And if a usable prior exists, the no-search variant skips the sweep and finishes in 8.7 seconds. The speed trace on the right shows why laps are long: most of the time is the search, the race itself is only a few seconds.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Deniz] Two views of the same run. Left, top-down: the wide loops are the search, then the fast line through the gates. Right, in 3D you can see the search deliberately runs high, above the obstacle poles, before the drone drops down to race. Same controller, straight out of the simulator.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Deniz] Let's watch it fly. On the left, the controller in simulation; on the right, the real Crazyflie. The same racing core that we use for search flew the real drone on a known track in 9.55 seconds — so the hardware result validates the core of the submitted controller. [Play both clips.]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Deniz] One idea ties it together: it is a single controller that adapts to how good the prior is. With no prior it does the full blind search — the safe, general case we submit, which also survives a wrong prior or a motion-capture dropout. When the prior is reliable, the same racing core runs directly and is three times faster. Blind at one end, prior-guided at the other, one engine in between.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Deniz] To wrap up: a general Level 3 controller — search then race — that is reliable on randomized tracks and validated on hardware at 9.55 seconds. And the MPCC problem that held us back at the progress talk is fixed, so MPCC is now our controller. Thank you — we're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folie_LS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C778693-3A38-1540-A2BE-EADEC66B394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a:latin typeface="Calibri" panose="020F0502020204030204" pitchFamily="34" charset="0"/>
            </a:endParaRPr>
          </a:p>
        </p:txBody>
      </p:sp>
      <p:sp>
        <p:nvSpPr>
          <p:cNvPr id="4" name="Line 3">
            <a:extLst>
              <a:ext uri="{FF2B5EF4-FFF2-40B4-BE49-F238E27FC236}">
                <a16:creationId xmlns:a16="http://schemas.microsoft.com/office/drawing/2014/main" id="{332D703C-206C-9013-9F25-15D75630A722}"/>
              </a:ext>
            </a:extLst>
          </p:cNvPr>
          <p:cNvSpPr>
            <a:spLocks noChangeShapeType="1"/>
          </p:cNvSpPr>
          <p:nvPr/>
        </p:nvSpPr>
        <p:spPr bwMode="auto">
          <a:xfrm rot="10800000" flipH="1">
            <a:off x="552244" y="2867524"/>
            <a:ext cx="10958652" cy="0"/>
          </a:xfrm>
          <a:prstGeom prst="line">
            <a:avLst/>
          </a:prstGeom>
          <a:noFill/>
          <a:ln w="38100">
            <a:gradFill flip="none" rotWithShape="1">
              <a:gsLst>
                <a:gs pos="0">
                  <a:schemeClr val="bg1"/>
                </a:gs>
                <a:gs pos="64000">
                  <a:srgbClr val="7AB51D"/>
                </a:gs>
              </a:gsLst>
              <a:lin ang="10800000" scaled="1"/>
              <a:tileRect/>
            </a:gradFill>
            <a:miter lim="800000"/>
            <a:headEnd/>
            <a:tailEnd/>
          </a:ln>
          <a:effectLst>
            <a:softEdge rad="0"/>
          </a:effectLst>
        </p:spPr>
        <p:txBody>
          <a:bodyPr lIns="0" tIns="0" rIns="0" bIns="0">
            <a:prstTxWarp prst="textNoShape">
              <a:avLst/>
            </a:prstTxWarp>
          </a:bodyPr>
          <a:lstStyle/>
          <a:p>
            <a:pPr>
              <a:defRPr/>
            </a:pPr>
            <a:endParaRPr lang="en-US" sz="1266" b="1">
              <a:latin typeface="Calibri" panose="020F0502020204030204" pitchFamily="34" charset="0"/>
            </a:endParaRPr>
          </a:p>
        </p:txBody>
      </p:sp>
      <p:pic>
        <p:nvPicPr>
          <p:cNvPr id="5" name="Picture 13">
            <a:extLst>
              <a:ext uri="{FF2B5EF4-FFF2-40B4-BE49-F238E27FC236}">
                <a16:creationId xmlns:a16="http://schemas.microsoft.com/office/drawing/2014/main" id="{5112925D-60A9-ED3F-9E7E-67890E2D0B8F}"/>
              </a:ext>
            </a:extLst>
          </p:cNvPr>
          <p:cNvPicPr>
            <a:picLocks noChangeAspect="1"/>
          </p:cNvPicPr>
          <p:nvPr/>
        </p:nvPicPr>
        <p:blipFill>
          <a:blip r:embed="rId2"/>
          <a:srcRect/>
          <a:stretch/>
        </p:blipFill>
        <p:spPr>
          <a:xfrm>
            <a:off x="10167870" y="4926526"/>
            <a:ext cx="1968195" cy="1931474"/>
          </a:xfrm>
          <a:prstGeom prst="rect">
            <a:avLst/>
          </a:prstGeom>
        </p:spPr>
      </p:pic>
      <p:pic>
        <p:nvPicPr>
          <p:cNvPr id="6" name="Picture 11" descr="A blue and black rectangles&#10;&#10;Description automatically generated with low confidence">
            <a:extLst>
              <a:ext uri="{FF2B5EF4-FFF2-40B4-BE49-F238E27FC236}">
                <a16:creationId xmlns:a16="http://schemas.microsoft.com/office/drawing/2014/main" id="{095E8400-2D38-B2FA-8821-543D2A733C57}"/>
              </a:ext>
            </a:extLst>
          </p:cNvPr>
          <p:cNvPicPr>
            <a:picLocks noChangeAspect="1"/>
          </p:cNvPicPr>
          <p:nvPr/>
        </p:nvPicPr>
        <p:blipFill>
          <a:blip r:embed="rId3"/>
          <a:stretch>
            <a:fillRect/>
          </a:stretch>
        </p:blipFill>
        <p:spPr>
          <a:xfrm>
            <a:off x="552244" y="5780200"/>
            <a:ext cx="1538189" cy="799137"/>
          </a:xfrm>
          <a:prstGeom prst="rect">
            <a:avLst/>
          </a:prstGeom>
        </p:spPr>
      </p:pic>
      <p:sp>
        <p:nvSpPr>
          <p:cNvPr id="8" name="Titel 7">
            <a:extLst>
              <a:ext uri="{FF2B5EF4-FFF2-40B4-BE49-F238E27FC236}">
                <a16:creationId xmlns:a16="http://schemas.microsoft.com/office/drawing/2014/main" id="{FCB1B460-9C8E-CB6C-D0E4-7CC22E8E0D32}"/>
              </a:ext>
            </a:extLst>
          </p:cNvPr>
          <p:cNvSpPr>
            <a:spLocks noGrp="1"/>
          </p:cNvSpPr>
          <p:nvPr>
            <p:ph type="title"/>
          </p:nvPr>
        </p:nvSpPr>
        <p:spPr>
          <a:xfrm>
            <a:off x="494188" y="1787523"/>
            <a:ext cx="11520000" cy="1080000"/>
          </a:xfrm>
          <a:prstGeom prst="rect">
            <a:avLst/>
          </a:prstGeom>
        </p:spPr>
        <p:txBody>
          <a:bodyPr anchor="b">
            <a:noAutofit/>
          </a:bodyPr>
          <a:lstStyle>
            <a:lvl1pPr>
              <a:defRPr sz="3200">
                <a:solidFill>
                  <a:schemeClr val="tx1">
                    <a:lumMod val="65000"/>
                    <a:lumOff val="35000"/>
                  </a:schemeClr>
                </a:solidFill>
              </a:defRPr>
            </a:lvl1pPr>
          </a:lstStyle>
          <a:p>
            <a:r>
              <a:rPr lang="de-DE"/>
              <a:t>Mastertitelformat bearbeiten</a:t>
            </a:r>
            <a:endParaRPr lang="de-DE" dirty="0"/>
          </a:p>
        </p:txBody>
      </p:sp>
      <p:sp>
        <p:nvSpPr>
          <p:cNvPr id="10" name="Inhaltsplatzhalter 9">
            <a:extLst>
              <a:ext uri="{FF2B5EF4-FFF2-40B4-BE49-F238E27FC236}">
                <a16:creationId xmlns:a16="http://schemas.microsoft.com/office/drawing/2014/main" id="{D4C5DFDD-7F34-717D-AEF3-A18C4F2AB5AB}"/>
              </a:ext>
            </a:extLst>
          </p:cNvPr>
          <p:cNvSpPr>
            <a:spLocks noGrp="1"/>
          </p:cNvSpPr>
          <p:nvPr>
            <p:ph sz="quarter" idx="10" hasCustomPrompt="1"/>
          </p:nvPr>
        </p:nvSpPr>
        <p:spPr>
          <a:xfrm>
            <a:off x="494188" y="2972414"/>
            <a:ext cx="11520000" cy="312936"/>
          </a:xfrm>
        </p:spPr>
        <p:txBody>
          <a:bodyPr>
            <a:noAutofit/>
          </a:bodyPr>
          <a:lstStyle>
            <a:lvl1pPr marL="0" indent="0">
              <a:buNone/>
              <a:defRPr sz="2000" i="1">
                <a:latin typeface="+mn-lt"/>
              </a:defRPr>
            </a:lvl1pPr>
          </a:lstStyle>
          <a:p>
            <a:pPr lvl="0"/>
            <a:r>
              <a:rPr lang="de-DE" dirty="0" err="1"/>
              <a:t>Subtitle</a:t>
            </a:r>
            <a:endParaRPr lang="de-DE" dirty="0"/>
          </a:p>
        </p:txBody>
      </p:sp>
      <p:sp>
        <p:nvSpPr>
          <p:cNvPr id="11" name="Inhaltsplatzhalter 9">
            <a:extLst>
              <a:ext uri="{FF2B5EF4-FFF2-40B4-BE49-F238E27FC236}">
                <a16:creationId xmlns:a16="http://schemas.microsoft.com/office/drawing/2014/main" id="{6447E8E3-03B3-CD18-A5BB-BDEE17125F72}"/>
              </a:ext>
            </a:extLst>
          </p:cNvPr>
          <p:cNvSpPr>
            <a:spLocks noGrp="1"/>
          </p:cNvSpPr>
          <p:nvPr>
            <p:ph sz="quarter" idx="11" hasCustomPrompt="1"/>
          </p:nvPr>
        </p:nvSpPr>
        <p:spPr>
          <a:xfrm>
            <a:off x="494188" y="3325925"/>
            <a:ext cx="11520000" cy="312936"/>
          </a:xfrm>
        </p:spPr>
        <p:txBody>
          <a:bodyPr>
            <a:noAutofit/>
          </a:bodyPr>
          <a:lstStyle>
            <a:lvl1pPr marL="0" indent="0">
              <a:buNone/>
              <a:defRPr sz="2000" i="0">
                <a:latin typeface="+mn-lt"/>
              </a:defRPr>
            </a:lvl1pPr>
          </a:lstStyle>
          <a:p>
            <a:pPr lvl="0"/>
            <a:r>
              <a:rPr lang="de-DE" dirty="0"/>
              <a:t>Date</a:t>
            </a:r>
          </a:p>
        </p:txBody>
      </p:sp>
      <p:sp>
        <p:nvSpPr>
          <p:cNvPr id="12" name="Inhaltsplatzhalter 9">
            <a:extLst>
              <a:ext uri="{FF2B5EF4-FFF2-40B4-BE49-F238E27FC236}">
                <a16:creationId xmlns:a16="http://schemas.microsoft.com/office/drawing/2014/main" id="{90B7E13C-6AED-A96A-DFFD-29A7DF10E4E3}"/>
              </a:ext>
            </a:extLst>
          </p:cNvPr>
          <p:cNvSpPr>
            <a:spLocks noGrp="1"/>
          </p:cNvSpPr>
          <p:nvPr>
            <p:ph sz="quarter" idx="12" hasCustomPrompt="1"/>
          </p:nvPr>
        </p:nvSpPr>
        <p:spPr>
          <a:xfrm>
            <a:off x="494188" y="4297363"/>
            <a:ext cx="11520000" cy="312936"/>
          </a:xfrm>
        </p:spPr>
        <p:txBody>
          <a:bodyPr>
            <a:noAutofit/>
          </a:bodyPr>
          <a:lstStyle>
            <a:lvl1pPr marL="0" indent="0">
              <a:buNone/>
              <a:defRPr sz="2000" i="0">
                <a:latin typeface="+mn-lt"/>
              </a:defRPr>
            </a:lvl1pPr>
          </a:lstStyle>
          <a:p>
            <a:pPr lvl="0"/>
            <a:r>
              <a:rPr lang="de-DE" dirty="0" err="1"/>
              <a:t>Your</a:t>
            </a:r>
            <a:r>
              <a:rPr lang="de-DE" dirty="0"/>
              <a:t> Name</a:t>
            </a:r>
          </a:p>
        </p:txBody>
      </p:sp>
      <p:sp>
        <p:nvSpPr>
          <p:cNvPr id="14" name="Textfeld 13">
            <a:extLst>
              <a:ext uri="{FF2B5EF4-FFF2-40B4-BE49-F238E27FC236}">
                <a16:creationId xmlns:a16="http://schemas.microsoft.com/office/drawing/2014/main" id="{CEA38894-2CF7-EB1B-6E8A-7395C31C1928}"/>
              </a:ext>
            </a:extLst>
          </p:cNvPr>
          <p:cNvSpPr txBox="1"/>
          <p:nvPr/>
        </p:nvSpPr>
        <p:spPr>
          <a:xfrm>
            <a:off x="494188" y="4618947"/>
            <a:ext cx="11520000" cy="400110"/>
          </a:xfrm>
          <a:prstGeom prst="rect">
            <a:avLst/>
          </a:prstGeom>
          <a:noFill/>
        </p:spPr>
        <p:txBody>
          <a:bodyPr wrap="square" rtlCol="0">
            <a:spAutoFit/>
          </a:bodyPr>
          <a:lstStyle/>
          <a:p>
            <a:r>
              <a:rPr lang="de-DE" sz="2000" i="1" dirty="0">
                <a:solidFill>
                  <a:schemeClr val="tx1">
                    <a:lumMod val="65000"/>
                    <a:lumOff val="35000"/>
                  </a:schemeClr>
                </a:solidFill>
              </a:rPr>
              <a:t>Learning Systems and Robotics Laboratory</a:t>
            </a:r>
          </a:p>
        </p:txBody>
      </p:sp>
    </p:spTree>
    <p:extLst>
      <p:ext uri="{BB962C8B-B14F-4D97-AF65-F5344CB8AC3E}">
        <p14:creationId xmlns:p14="http://schemas.microsoft.com/office/powerpoint/2010/main" val="3514666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folie_Chai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C778693-3A38-1540-A2BE-EADEC66B394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a:latin typeface="Calibri" panose="020F0502020204030204" pitchFamily="34" charset="0"/>
            </a:endParaRPr>
          </a:p>
        </p:txBody>
      </p:sp>
      <p:sp>
        <p:nvSpPr>
          <p:cNvPr id="4" name="Line 3">
            <a:extLst>
              <a:ext uri="{FF2B5EF4-FFF2-40B4-BE49-F238E27FC236}">
                <a16:creationId xmlns:a16="http://schemas.microsoft.com/office/drawing/2014/main" id="{332D703C-206C-9013-9F25-15D75630A722}"/>
              </a:ext>
            </a:extLst>
          </p:cNvPr>
          <p:cNvSpPr>
            <a:spLocks noChangeShapeType="1"/>
          </p:cNvSpPr>
          <p:nvPr/>
        </p:nvSpPr>
        <p:spPr bwMode="auto">
          <a:xfrm rot="10800000" flipH="1">
            <a:off x="552244" y="2867524"/>
            <a:ext cx="10958652" cy="0"/>
          </a:xfrm>
          <a:prstGeom prst="line">
            <a:avLst/>
          </a:prstGeom>
          <a:noFill/>
          <a:ln w="38100">
            <a:gradFill flip="none" rotWithShape="1">
              <a:gsLst>
                <a:gs pos="0">
                  <a:schemeClr val="bg1"/>
                </a:gs>
                <a:gs pos="64000">
                  <a:srgbClr val="7AB51D"/>
                </a:gs>
              </a:gsLst>
              <a:lin ang="10800000" scaled="1"/>
              <a:tileRect/>
            </a:gradFill>
            <a:miter lim="800000"/>
            <a:headEnd/>
            <a:tailEnd/>
          </a:ln>
          <a:effectLst>
            <a:softEdge rad="0"/>
          </a:effectLst>
        </p:spPr>
        <p:txBody>
          <a:bodyPr lIns="0" tIns="0" rIns="0" bIns="0">
            <a:prstTxWarp prst="textNoShape">
              <a:avLst/>
            </a:prstTxWarp>
          </a:bodyPr>
          <a:lstStyle/>
          <a:p>
            <a:pPr>
              <a:defRPr/>
            </a:pPr>
            <a:endParaRPr lang="en-US" sz="1266" b="1">
              <a:latin typeface="Calibri" panose="020F0502020204030204" pitchFamily="34" charset="0"/>
            </a:endParaRPr>
          </a:p>
        </p:txBody>
      </p:sp>
      <p:pic>
        <p:nvPicPr>
          <p:cNvPr id="5" name="Picture 13">
            <a:extLst>
              <a:ext uri="{FF2B5EF4-FFF2-40B4-BE49-F238E27FC236}">
                <a16:creationId xmlns:a16="http://schemas.microsoft.com/office/drawing/2014/main" id="{5112925D-60A9-ED3F-9E7E-67890E2D0B8F}"/>
              </a:ext>
            </a:extLst>
          </p:cNvPr>
          <p:cNvPicPr>
            <a:picLocks noChangeAspect="1"/>
          </p:cNvPicPr>
          <p:nvPr/>
        </p:nvPicPr>
        <p:blipFill>
          <a:blip r:embed="rId2"/>
          <a:srcRect/>
          <a:stretch/>
        </p:blipFill>
        <p:spPr>
          <a:xfrm>
            <a:off x="10167870" y="4926526"/>
            <a:ext cx="1968195" cy="1931474"/>
          </a:xfrm>
          <a:prstGeom prst="rect">
            <a:avLst/>
          </a:prstGeom>
        </p:spPr>
      </p:pic>
      <p:pic>
        <p:nvPicPr>
          <p:cNvPr id="6" name="Picture 11" descr="A blue and black rectangles&#10;&#10;Description automatically generated with low confidence">
            <a:extLst>
              <a:ext uri="{FF2B5EF4-FFF2-40B4-BE49-F238E27FC236}">
                <a16:creationId xmlns:a16="http://schemas.microsoft.com/office/drawing/2014/main" id="{095E8400-2D38-B2FA-8821-543D2A733C57}"/>
              </a:ext>
            </a:extLst>
          </p:cNvPr>
          <p:cNvPicPr>
            <a:picLocks noChangeAspect="1"/>
          </p:cNvPicPr>
          <p:nvPr/>
        </p:nvPicPr>
        <p:blipFill>
          <a:blip r:embed="rId3"/>
          <a:stretch>
            <a:fillRect/>
          </a:stretch>
        </p:blipFill>
        <p:spPr>
          <a:xfrm>
            <a:off x="552244" y="5780200"/>
            <a:ext cx="1538189" cy="799137"/>
          </a:xfrm>
          <a:prstGeom prst="rect">
            <a:avLst/>
          </a:prstGeom>
        </p:spPr>
      </p:pic>
      <p:sp>
        <p:nvSpPr>
          <p:cNvPr id="8" name="Titel 7">
            <a:extLst>
              <a:ext uri="{FF2B5EF4-FFF2-40B4-BE49-F238E27FC236}">
                <a16:creationId xmlns:a16="http://schemas.microsoft.com/office/drawing/2014/main" id="{FCB1B460-9C8E-CB6C-D0E4-7CC22E8E0D32}"/>
              </a:ext>
            </a:extLst>
          </p:cNvPr>
          <p:cNvSpPr>
            <a:spLocks noGrp="1"/>
          </p:cNvSpPr>
          <p:nvPr>
            <p:ph type="title"/>
          </p:nvPr>
        </p:nvSpPr>
        <p:spPr>
          <a:xfrm>
            <a:off x="494188" y="1787523"/>
            <a:ext cx="11520000" cy="1080000"/>
          </a:xfrm>
          <a:prstGeom prst="rect">
            <a:avLst/>
          </a:prstGeom>
        </p:spPr>
        <p:txBody>
          <a:bodyPr anchor="b">
            <a:noAutofit/>
          </a:bodyPr>
          <a:lstStyle>
            <a:lvl1pPr>
              <a:defRPr sz="3200">
                <a:solidFill>
                  <a:schemeClr val="tx1">
                    <a:lumMod val="65000"/>
                    <a:lumOff val="35000"/>
                  </a:schemeClr>
                </a:solidFill>
              </a:defRPr>
            </a:lvl1pPr>
          </a:lstStyle>
          <a:p>
            <a:r>
              <a:rPr lang="de-DE"/>
              <a:t>Mastertitelformat bearbeiten</a:t>
            </a:r>
            <a:endParaRPr lang="de-DE" dirty="0"/>
          </a:p>
        </p:txBody>
      </p:sp>
      <p:sp>
        <p:nvSpPr>
          <p:cNvPr id="10" name="Inhaltsplatzhalter 9">
            <a:extLst>
              <a:ext uri="{FF2B5EF4-FFF2-40B4-BE49-F238E27FC236}">
                <a16:creationId xmlns:a16="http://schemas.microsoft.com/office/drawing/2014/main" id="{D4C5DFDD-7F34-717D-AEF3-A18C4F2AB5AB}"/>
              </a:ext>
            </a:extLst>
          </p:cNvPr>
          <p:cNvSpPr>
            <a:spLocks noGrp="1"/>
          </p:cNvSpPr>
          <p:nvPr>
            <p:ph sz="quarter" idx="10" hasCustomPrompt="1"/>
          </p:nvPr>
        </p:nvSpPr>
        <p:spPr>
          <a:xfrm>
            <a:off x="494188" y="2972414"/>
            <a:ext cx="11520000" cy="312936"/>
          </a:xfrm>
        </p:spPr>
        <p:txBody>
          <a:bodyPr>
            <a:noAutofit/>
          </a:bodyPr>
          <a:lstStyle>
            <a:lvl1pPr marL="0" indent="0">
              <a:buNone/>
              <a:defRPr sz="2000" i="1">
                <a:latin typeface="+mn-lt"/>
              </a:defRPr>
            </a:lvl1pPr>
          </a:lstStyle>
          <a:p>
            <a:pPr lvl="0"/>
            <a:r>
              <a:rPr lang="de-DE" dirty="0" err="1"/>
              <a:t>Subtitle</a:t>
            </a:r>
            <a:endParaRPr lang="de-DE" dirty="0"/>
          </a:p>
        </p:txBody>
      </p:sp>
      <p:sp>
        <p:nvSpPr>
          <p:cNvPr id="11" name="Inhaltsplatzhalter 9">
            <a:extLst>
              <a:ext uri="{FF2B5EF4-FFF2-40B4-BE49-F238E27FC236}">
                <a16:creationId xmlns:a16="http://schemas.microsoft.com/office/drawing/2014/main" id="{6447E8E3-03B3-CD18-A5BB-BDEE17125F72}"/>
              </a:ext>
            </a:extLst>
          </p:cNvPr>
          <p:cNvSpPr>
            <a:spLocks noGrp="1"/>
          </p:cNvSpPr>
          <p:nvPr>
            <p:ph sz="quarter" idx="11" hasCustomPrompt="1"/>
          </p:nvPr>
        </p:nvSpPr>
        <p:spPr>
          <a:xfrm>
            <a:off x="494188" y="3325925"/>
            <a:ext cx="11520000" cy="312936"/>
          </a:xfrm>
        </p:spPr>
        <p:txBody>
          <a:bodyPr>
            <a:noAutofit/>
          </a:bodyPr>
          <a:lstStyle>
            <a:lvl1pPr marL="0" indent="0">
              <a:buNone/>
              <a:defRPr sz="2000" i="0">
                <a:latin typeface="+mn-lt"/>
              </a:defRPr>
            </a:lvl1pPr>
          </a:lstStyle>
          <a:p>
            <a:pPr lvl="0"/>
            <a:r>
              <a:rPr lang="de-DE" dirty="0"/>
              <a:t>Date</a:t>
            </a:r>
          </a:p>
        </p:txBody>
      </p:sp>
      <p:sp>
        <p:nvSpPr>
          <p:cNvPr id="12" name="Inhaltsplatzhalter 9">
            <a:extLst>
              <a:ext uri="{FF2B5EF4-FFF2-40B4-BE49-F238E27FC236}">
                <a16:creationId xmlns:a16="http://schemas.microsoft.com/office/drawing/2014/main" id="{90B7E13C-6AED-A96A-DFFD-29A7DF10E4E3}"/>
              </a:ext>
            </a:extLst>
          </p:cNvPr>
          <p:cNvSpPr>
            <a:spLocks noGrp="1"/>
          </p:cNvSpPr>
          <p:nvPr>
            <p:ph sz="quarter" idx="12" hasCustomPrompt="1"/>
          </p:nvPr>
        </p:nvSpPr>
        <p:spPr>
          <a:xfrm>
            <a:off x="494188" y="4297363"/>
            <a:ext cx="11520000" cy="312936"/>
          </a:xfrm>
        </p:spPr>
        <p:txBody>
          <a:bodyPr>
            <a:noAutofit/>
          </a:bodyPr>
          <a:lstStyle>
            <a:lvl1pPr marL="0" indent="0">
              <a:buNone/>
              <a:defRPr sz="2000" i="0">
                <a:latin typeface="+mn-lt"/>
              </a:defRPr>
            </a:lvl1pPr>
          </a:lstStyle>
          <a:p>
            <a:pPr lvl="0"/>
            <a:r>
              <a:rPr lang="en-US" sz="2000" i="1" dirty="0">
                <a:solidFill>
                  <a:schemeClr val="tx1">
                    <a:lumMod val="65000"/>
                    <a:lumOff val="35000"/>
                  </a:schemeClr>
                </a:solidFill>
              </a:rPr>
              <a:t>Prof. Dr. Angela Schoellig</a:t>
            </a:r>
            <a:endParaRPr lang="de-DE" dirty="0"/>
          </a:p>
        </p:txBody>
      </p:sp>
      <p:sp>
        <p:nvSpPr>
          <p:cNvPr id="14" name="Textfeld 13">
            <a:extLst>
              <a:ext uri="{FF2B5EF4-FFF2-40B4-BE49-F238E27FC236}">
                <a16:creationId xmlns:a16="http://schemas.microsoft.com/office/drawing/2014/main" id="{CEA38894-2CF7-EB1B-6E8A-7395C31C1928}"/>
              </a:ext>
            </a:extLst>
          </p:cNvPr>
          <p:cNvSpPr txBox="1"/>
          <p:nvPr/>
        </p:nvSpPr>
        <p:spPr>
          <a:xfrm>
            <a:off x="494188" y="4614940"/>
            <a:ext cx="11520000" cy="707886"/>
          </a:xfrm>
          <a:prstGeom prst="rect">
            <a:avLst/>
          </a:prstGeom>
          <a:noFill/>
        </p:spPr>
        <p:txBody>
          <a:bodyPr wrap="square" rtlCol="0">
            <a:spAutoFit/>
          </a:bodyPr>
          <a:lstStyle/>
          <a:p>
            <a:r>
              <a:rPr lang="en-US" sz="2000" i="1" dirty="0">
                <a:solidFill>
                  <a:schemeClr val="tx1">
                    <a:lumMod val="65000"/>
                    <a:lumOff val="35000"/>
                  </a:schemeClr>
                </a:solidFill>
              </a:rPr>
              <a:t>Chair of Safety, Performance and Reliability for Learning Systems</a:t>
            </a:r>
            <a:br>
              <a:rPr lang="en-US" sz="2000" i="1" dirty="0">
                <a:solidFill>
                  <a:schemeClr val="tx1">
                    <a:lumMod val="65000"/>
                    <a:lumOff val="35000"/>
                  </a:schemeClr>
                </a:solidFill>
              </a:rPr>
            </a:br>
            <a:r>
              <a:rPr lang="en-US" sz="2000" i="1" dirty="0">
                <a:solidFill>
                  <a:schemeClr val="tx1">
                    <a:lumMod val="65000"/>
                    <a:lumOff val="35000"/>
                  </a:schemeClr>
                </a:solidFill>
              </a:rPr>
              <a:t>School of Computation, Information and Technology</a:t>
            </a:r>
          </a:p>
        </p:txBody>
      </p:sp>
    </p:spTree>
    <p:extLst>
      <p:ext uri="{BB962C8B-B14F-4D97-AF65-F5344CB8AC3E}">
        <p14:creationId xmlns:p14="http://schemas.microsoft.com/office/powerpoint/2010/main" val="1345900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C778693-3A38-1540-A2BE-EADEC66B3949}"/>
              </a:ext>
            </a:extLst>
          </p:cNvPr>
          <p:cNvSpPr/>
          <p:nvPr/>
        </p:nvSpPr>
        <p:spPr>
          <a:xfrm>
            <a:off x="0" y="0"/>
            <a:ext cx="12192000" cy="14879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a:latin typeface="Calibri" panose="020F0502020204030204" pitchFamily="34" charset="0"/>
            </a:endParaRPr>
          </a:p>
        </p:txBody>
      </p:sp>
      <p:sp>
        <p:nvSpPr>
          <p:cNvPr id="8" name="Titel 7">
            <a:extLst>
              <a:ext uri="{FF2B5EF4-FFF2-40B4-BE49-F238E27FC236}">
                <a16:creationId xmlns:a16="http://schemas.microsoft.com/office/drawing/2014/main" id="{FCB1B460-9C8E-CB6C-D0E4-7CC22E8E0D32}"/>
              </a:ext>
            </a:extLst>
          </p:cNvPr>
          <p:cNvSpPr>
            <a:spLocks noGrp="1"/>
          </p:cNvSpPr>
          <p:nvPr>
            <p:ph type="title"/>
          </p:nvPr>
        </p:nvSpPr>
        <p:spPr>
          <a:xfrm>
            <a:off x="582420" y="2679032"/>
            <a:ext cx="11520000" cy="633658"/>
          </a:xfrm>
          <a:prstGeom prst="rect">
            <a:avLst/>
          </a:prstGeom>
        </p:spPr>
        <p:txBody>
          <a:bodyPr anchor="b">
            <a:noAutofit/>
          </a:bodyPr>
          <a:lstStyle>
            <a:lvl1pPr>
              <a:defRPr sz="2800">
                <a:solidFill>
                  <a:schemeClr val="tx1">
                    <a:lumMod val="65000"/>
                    <a:lumOff val="35000"/>
                  </a:schemeClr>
                </a:solidFill>
              </a:defRPr>
            </a:lvl1pPr>
          </a:lstStyle>
          <a:p>
            <a:r>
              <a:rPr lang="de-DE"/>
              <a:t>Mastertitelformat bearbeiten</a:t>
            </a:r>
            <a:endParaRPr lang="de-DE" dirty="0"/>
          </a:p>
        </p:txBody>
      </p:sp>
      <p:sp>
        <p:nvSpPr>
          <p:cNvPr id="3" name="Textplatzhalter 7">
            <a:extLst>
              <a:ext uri="{FF2B5EF4-FFF2-40B4-BE49-F238E27FC236}">
                <a16:creationId xmlns:a16="http://schemas.microsoft.com/office/drawing/2014/main" id="{DD6D1FA6-8B2F-A650-E3C1-3CFCAF993DFE}"/>
              </a:ext>
            </a:extLst>
          </p:cNvPr>
          <p:cNvSpPr>
            <a:spLocks noGrp="1"/>
          </p:cNvSpPr>
          <p:nvPr>
            <p:ph type="body" sz="quarter" idx="11"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Tree>
    <p:extLst>
      <p:ext uri="{BB962C8B-B14F-4D97-AF65-F5344CB8AC3E}">
        <p14:creationId xmlns:p14="http://schemas.microsoft.com/office/powerpoint/2010/main" val="452193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2" name="Textplatzhalter 7">
            <a:extLst>
              <a:ext uri="{FF2B5EF4-FFF2-40B4-BE49-F238E27FC236}">
                <a16:creationId xmlns:a16="http://schemas.microsoft.com/office/drawing/2014/main" id="{AB2AEF6E-29D7-0603-5866-B8D5A2645DB5}"/>
              </a:ext>
            </a:extLst>
          </p:cNvPr>
          <p:cNvSpPr>
            <a:spLocks noGrp="1"/>
          </p:cNvSpPr>
          <p:nvPr>
            <p:ph type="body" sz="quarter" idx="11"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Tree>
    <p:extLst>
      <p:ext uri="{BB962C8B-B14F-4D97-AF65-F5344CB8AC3E}">
        <p14:creationId xmlns:p14="http://schemas.microsoft.com/office/powerpoint/2010/main" val="1404144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ndard">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18BBB40A-34ED-977B-6896-AA360A4DE38A}"/>
              </a:ext>
            </a:extLst>
          </p:cNvPr>
          <p:cNvSpPr>
            <a:spLocks noGrp="1"/>
          </p:cNvSpPr>
          <p:nvPr>
            <p:ph type="title"/>
          </p:nvPr>
        </p:nvSpPr>
        <p:spPr>
          <a:xfrm>
            <a:off x="382905" y="727962"/>
            <a:ext cx="10515600" cy="419804"/>
          </a:xfrm>
          <a:prstGeom prst="rect">
            <a:avLst/>
          </a:prstGeom>
        </p:spPr>
        <p:txBody>
          <a:bodyPr vert="horz" lIns="91440" tIns="45720" rIns="91440" bIns="45720" rtlCol="0" anchor="ctr">
            <a:normAutofit/>
          </a:bodyPr>
          <a:lstStyle/>
          <a:p>
            <a:r>
              <a:rPr lang="de-DE">
                <a:solidFill>
                  <a:schemeClr val="tx1">
                    <a:lumMod val="75000"/>
                    <a:lumOff val="25000"/>
                  </a:schemeClr>
                </a:solidFill>
                <a:latin typeface="Oswald" panose="00000500000000000000" pitchFamily="2" charset="0"/>
              </a:rPr>
              <a:t>Mastertitelformat bearbeiten</a:t>
            </a:r>
            <a:endParaRPr lang="en-US" dirty="0">
              <a:solidFill>
                <a:schemeClr val="tx1">
                  <a:lumMod val="75000"/>
                  <a:lumOff val="25000"/>
                </a:schemeClr>
              </a:solidFill>
              <a:latin typeface="Oswald" panose="00000500000000000000" pitchFamily="2" charset="0"/>
              <a:ea typeface="Open Sans Condensed Light" panose="020B0306030504020204" pitchFamily="34" charset="0"/>
              <a:cs typeface="Open Sans Condensed Light" panose="020B0306030504020204" pitchFamily="34" charset="0"/>
            </a:endParaRPr>
          </a:p>
        </p:txBody>
      </p:sp>
      <p:sp>
        <p:nvSpPr>
          <p:cNvPr id="11" name="Inhaltsplatzhalter 10">
            <a:extLst>
              <a:ext uri="{FF2B5EF4-FFF2-40B4-BE49-F238E27FC236}">
                <a16:creationId xmlns:a16="http://schemas.microsoft.com/office/drawing/2014/main" id="{05364FF8-4533-422D-5E3A-8BB4DECB6937}"/>
              </a:ext>
            </a:extLst>
          </p:cNvPr>
          <p:cNvSpPr>
            <a:spLocks noGrp="1"/>
          </p:cNvSpPr>
          <p:nvPr>
            <p:ph sz="quarter" idx="10"/>
          </p:nvPr>
        </p:nvSpPr>
        <p:spPr>
          <a:xfrm>
            <a:off x="841372" y="1350963"/>
            <a:ext cx="10056815" cy="4778375"/>
          </a:xfrm>
        </p:spPr>
        <p:txBody>
          <a:bodyPr>
            <a:normAutofit/>
          </a:bodyPr>
          <a:lstStyle>
            <a:lvl1pPr>
              <a:defRPr sz="2400"/>
            </a:lvl1pPr>
            <a:lvl2pPr>
              <a:defRPr sz="2000"/>
            </a:lvl2pPr>
            <a:lvl3pPr>
              <a:defRPr sz="18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Textplatzhalter 7">
            <a:extLst>
              <a:ext uri="{FF2B5EF4-FFF2-40B4-BE49-F238E27FC236}">
                <a16:creationId xmlns:a16="http://schemas.microsoft.com/office/drawing/2014/main" id="{630D7BA6-D517-500C-42CE-5F7DF509BA03}"/>
              </a:ext>
            </a:extLst>
          </p:cNvPr>
          <p:cNvSpPr>
            <a:spLocks noGrp="1"/>
          </p:cNvSpPr>
          <p:nvPr>
            <p:ph type="body" sz="quarter" idx="11"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
        <p:nvSpPr>
          <p:cNvPr id="2" name="Textplatzhalter 5">
            <a:extLst>
              <a:ext uri="{FF2B5EF4-FFF2-40B4-BE49-F238E27FC236}">
                <a16:creationId xmlns:a16="http://schemas.microsoft.com/office/drawing/2014/main" id="{8285C1BE-97B3-A3EE-FF6E-5A49E23F1471}"/>
              </a:ext>
            </a:extLst>
          </p:cNvPr>
          <p:cNvSpPr>
            <a:spLocks noGrp="1"/>
          </p:cNvSpPr>
          <p:nvPr>
            <p:ph type="body" sz="quarter" idx="12" hasCustomPrompt="1"/>
          </p:nvPr>
        </p:nvSpPr>
        <p:spPr>
          <a:xfrm>
            <a:off x="386599" y="385065"/>
            <a:ext cx="10515599" cy="419804"/>
          </a:xfrm>
        </p:spPr>
        <p:txBody>
          <a:bodyPr>
            <a:noAutofit/>
          </a:bodyPr>
          <a:lstStyle>
            <a:lvl1pPr marL="0" indent="0">
              <a:buNone/>
              <a:defRPr lang="en-US" sz="2000" kern="1200" dirty="0">
                <a:solidFill>
                  <a:schemeClr val="tx1">
                    <a:lumMod val="75000"/>
                    <a:lumOff val="25000"/>
                  </a:schemeClr>
                </a:solidFill>
                <a:latin typeface="Oswald ExtraLight" panose="00000300000000000000" pitchFamily="2" charset="0"/>
                <a:ea typeface="+mj-ea"/>
                <a:cs typeface="+mj-cs"/>
              </a:defRPr>
            </a:lvl1pPr>
          </a:lstStyle>
          <a:p>
            <a:pPr lvl="0"/>
            <a:r>
              <a:rPr lang="de-DE" err="1"/>
              <a:t>Sectiontitle</a:t>
            </a:r>
            <a:endParaRPr lang="en-US"/>
          </a:p>
        </p:txBody>
      </p:sp>
    </p:spTree>
    <p:extLst>
      <p:ext uri="{BB962C8B-B14F-4D97-AF65-F5344CB8AC3E}">
        <p14:creationId xmlns:p14="http://schemas.microsoft.com/office/powerpoint/2010/main" val="2874792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ide by sid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200C05F-8EC2-CE99-743A-0CC8BB7D3C89}"/>
              </a:ext>
            </a:extLst>
          </p:cNvPr>
          <p:cNvSpPr>
            <a:spLocks noGrp="1"/>
          </p:cNvSpPr>
          <p:nvPr>
            <p:ph type="title"/>
          </p:nvPr>
        </p:nvSpPr>
        <p:spPr>
          <a:xfrm>
            <a:off x="382905" y="727962"/>
            <a:ext cx="10515600" cy="419804"/>
          </a:xfrm>
          <a:prstGeom prst="rect">
            <a:avLst/>
          </a:prstGeom>
        </p:spPr>
        <p:txBody>
          <a:bodyPr vert="horz" lIns="91440" tIns="45720" rIns="91440" bIns="45720" rtlCol="0" anchor="ctr">
            <a:normAutofit/>
          </a:bodyPr>
          <a:lstStyle/>
          <a:p>
            <a:r>
              <a:rPr lang="de-DE">
                <a:solidFill>
                  <a:schemeClr val="tx1">
                    <a:lumMod val="75000"/>
                    <a:lumOff val="25000"/>
                  </a:schemeClr>
                </a:solidFill>
                <a:latin typeface="Oswald" panose="00000500000000000000" pitchFamily="2" charset="0"/>
              </a:rPr>
              <a:t>Mastertitelformat bearbeiten</a:t>
            </a:r>
            <a:endParaRPr lang="en-US" dirty="0">
              <a:solidFill>
                <a:schemeClr val="tx1">
                  <a:lumMod val="75000"/>
                  <a:lumOff val="25000"/>
                </a:schemeClr>
              </a:solidFill>
              <a:latin typeface="Oswald" panose="00000500000000000000" pitchFamily="2" charset="0"/>
              <a:ea typeface="Open Sans Condensed Light" panose="020B0306030504020204" pitchFamily="34" charset="0"/>
              <a:cs typeface="Open Sans Condensed Light" panose="020B0306030504020204" pitchFamily="34" charset="0"/>
            </a:endParaRPr>
          </a:p>
        </p:txBody>
      </p:sp>
      <p:sp>
        <p:nvSpPr>
          <p:cNvPr id="11" name="Inhaltsplatzhalter 10">
            <a:extLst>
              <a:ext uri="{FF2B5EF4-FFF2-40B4-BE49-F238E27FC236}">
                <a16:creationId xmlns:a16="http://schemas.microsoft.com/office/drawing/2014/main" id="{BA840236-F352-AB01-99DD-BF5E75C97C6E}"/>
              </a:ext>
            </a:extLst>
          </p:cNvPr>
          <p:cNvSpPr>
            <a:spLocks noGrp="1"/>
          </p:cNvSpPr>
          <p:nvPr>
            <p:ph sz="quarter" idx="10"/>
          </p:nvPr>
        </p:nvSpPr>
        <p:spPr>
          <a:xfrm>
            <a:off x="841373" y="1350963"/>
            <a:ext cx="4802189" cy="4779075"/>
          </a:xfrm>
        </p:spPr>
        <p:txBody>
          <a:bodyPr>
            <a:normAutofit/>
          </a:bodyPr>
          <a:lstStyle>
            <a:lvl1pPr>
              <a:defRPr sz="2400"/>
            </a:lvl1pPr>
            <a:lvl2pPr>
              <a:defRPr sz="2000"/>
            </a:lvl2pPr>
            <a:lvl3pPr>
              <a:defRPr sz="18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4" name="Inhaltsplatzhalter 13">
            <a:extLst>
              <a:ext uri="{FF2B5EF4-FFF2-40B4-BE49-F238E27FC236}">
                <a16:creationId xmlns:a16="http://schemas.microsoft.com/office/drawing/2014/main" id="{06FCA2AE-4E9A-9E36-3148-3F4D8F50D1B7}"/>
              </a:ext>
            </a:extLst>
          </p:cNvPr>
          <p:cNvSpPr>
            <a:spLocks noGrp="1"/>
          </p:cNvSpPr>
          <p:nvPr>
            <p:ph sz="quarter" idx="11"/>
          </p:nvPr>
        </p:nvSpPr>
        <p:spPr>
          <a:xfrm>
            <a:off x="6096000" y="1350963"/>
            <a:ext cx="4802188" cy="4779074"/>
          </a:xfrm>
        </p:spPr>
        <p:txBody>
          <a:bodyPr>
            <a:normAutofit/>
          </a:bodyPr>
          <a:lstStyle>
            <a:lvl1pPr>
              <a:defRPr sz="2400"/>
            </a:lvl1pPr>
            <a:lvl2pPr>
              <a:defRPr sz="2000"/>
            </a:lvl2pPr>
            <a:lvl3pPr>
              <a:defRPr sz="18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 name="Textplatzhalter 5">
            <a:extLst>
              <a:ext uri="{FF2B5EF4-FFF2-40B4-BE49-F238E27FC236}">
                <a16:creationId xmlns:a16="http://schemas.microsoft.com/office/drawing/2014/main" id="{D5F8ED99-64E0-0F9D-F602-1EF68AEAC148}"/>
              </a:ext>
            </a:extLst>
          </p:cNvPr>
          <p:cNvSpPr>
            <a:spLocks noGrp="1"/>
          </p:cNvSpPr>
          <p:nvPr>
            <p:ph type="body" sz="quarter" idx="12" hasCustomPrompt="1"/>
          </p:nvPr>
        </p:nvSpPr>
        <p:spPr>
          <a:xfrm>
            <a:off x="386599" y="385065"/>
            <a:ext cx="10515599" cy="419804"/>
          </a:xfrm>
        </p:spPr>
        <p:txBody>
          <a:bodyPr>
            <a:noAutofit/>
          </a:bodyPr>
          <a:lstStyle>
            <a:lvl1pPr marL="0" indent="0">
              <a:buNone/>
              <a:defRPr lang="en-US" sz="2000" kern="1200" dirty="0">
                <a:solidFill>
                  <a:schemeClr val="tx1">
                    <a:lumMod val="75000"/>
                    <a:lumOff val="25000"/>
                  </a:schemeClr>
                </a:solidFill>
                <a:latin typeface="Oswald ExtraLight" panose="00000300000000000000" pitchFamily="2" charset="0"/>
                <a:ea typeface="+mj-ea"/>
                <a:cs typeface="+mj-cs"/>
              </a:defRPr>
            </a:lvl1pPr>
          </a:lstStyle>
          <a:p>
            <a:pPr lvl="0"/>
            <a:r>
              <a:rPr lang="de-DE" dirty="0" err="1"/>
              <a:t>Sectiontitle</a:t>
            </a:r>
            <a:endParaRPr lang="en-US" dirty="0"/>
          </a:p>
        </p:txBody>
      </p:sp>
      <p:sp>
        <p:nvSpPr>
          <p:cNvPr id="3" name="Textplatzhalter 7">
            <a:extLst>
              <a:ext uri="{FF2B5EF4-FFF2-40B4-BE49-F238E27FC236}">
                <a16:creationId xmlns:a16="http://schemas.microsoft.com/office/drawing/2014/main" id="{389AF915-F8DC-714E-C7B9-AB70250478F0}"/>
              </a:ext>
            </a:extLst>
          </p:cNvPr>
          <p:cNvSpPr>
            <a:spLocks noGrp="1"/>
          </p:cNvSpPr>
          <p:nvPr>
            <p:ph type="body" sz="quarter" idx="13"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Tree>
    <p:extLst>
      <p:ext uri="{BB962C8B-B14F-4D97-AF65-F5344CB8AC3E}">
        <p14:creationId xmlns:p14="http://schemas.microsoft.com/office/powerpoint/2010/main" val="1321202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B0C6BB-F024-7B4F-A916-1E574B1541C8}"/>
              </a:ext>
            </a:extLst>
          </p:cNvPr>
          <p:cNvSpPr>
            <a:spLocks noGrp="1"/>
          </p:cNvSpPr>
          <p:nvPr>
            <p:ph type="body" idx="1"/>
          </p:nvPr>
        </p:nvSpPr>
        <p:spPr>
          <a:xfrm>
            <a:off x="838200" y="1290568"/>
            <a:ext cx="10515600" cy="4886395"/>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cxnSp>
        <p:nvCxnSpPr>
          <p:cNvPr id="19" name="Straight Connector 18">
            <a:extLst>
              <a:ext uri="{FF2B5EF4-FFF2-40B4-BE49-F238E27FC236}">
                <a16:creationId xmlns:a16="http://schemas.microsoft.com/office/drawing/2014/main" id="{E4E4E9B8-101E-8C40-885A-F55C07567F21}"/>
              </a:ext>
            </a:extLst>
          </p:cNvPr>
          <p:cNvCxnSpPr>
            <a:cxnSpLocks/>
          </p:cNvCxnSpPr>
          <p:nvPr/>
        </p:nvCxnSpPr>
        <p:spPr bwMode="auto">
          <a:xfrm>
            <a:off x="360000" y="1152000"/>
            <a:ext cx="10560078" cy="0"/>
          </a:xfrm>
          <a:prstGeom prst="line">
            <a:avLst/>
          </a:prstGeom>
          <a:blipFill dpi="0" rotWithShape="0">
            <a:blip r:embed="rId8"/>
            <a:srcRect/>
            <a:tile tx="0" ty="0" sx="100000" sy="100000" flip="none" algn="tl"/>
          </a:blipFill>
          <a:ln w="12700" cap="flat" cmpd="sng" algn="ctr">
            <a:solidFill>
              <a:srgbClr val="7AB51D"/>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05AE2691-09BB-C647-9FCF-013218485002}"/>
              </a:ext>
            </a:extLst>
          </p:cNvPr>
          <p:cNvCxnSpPr>
            <a:cxnSpLocks/>
          </p:cNvCxnSpPr>
          <p:nvPr/>
        </p:nvCxnSpPr>
        <p:spPr bwMode="auto">
          <a:xfrm>
            <a:off x="360000" y="6226072"/>
            <a:ext cx="11520000" cy="0"/>
          </a:xfrm>
          <a:prstGeom prst="line">
            <a:avLst/>
          </a:prstGeom>
          <a:blipFill dpi="0" rotWithShape="0">
            <a:blip r:embed="rId8"/>
            <a:srcRect/>
            <a:tile tx="0" ty="0" sx="100000" sy="100000" flip="none" algn="tl"/>
          </a:blipFill>
          <a:ln w="12700" cap="flat" cmpd="sng" algn="ctr">
            <a:solidFill>
              <a:srgbClr val="7AB51D"/>
            </a:solidFill>
            <a:prstDash val="solid"/>
            <a:round/>
            <a:headEnd type="none" w="med" len="med"/>
            <a:tailEnd type="none" w="med" len="med"/>
          </a:ln>
          <a:effectLst/>
        </p:spPr>
      </p:cxnSp>
      <p:sp>
        <p:nvSpPr>
          <p:cNvPr id="21" name="Slide Number Placeholder 6">
            <a:extLst>
              <a:ext uri="{FF2B5EF4-FFF2-40B4-BE49-F238E27FC236}">
                <a16:creationId xmlns:a16="http://schemas.microsoft.com/office/drawing/2014/main" id="{D9B11A88-1872-3E4D-8357-93920F91A5D7}"/>
              </a:ext>
            </a:extLst>
          </p:cNvPr>
          <p:cNvSpPr txBox="1">
            <a:spLocks/>
          </p:cNvSpPr>
          <p:nvPr/>
        </p:nvSpPr>
        <p:spPr>
          <a:xfrm>
            <a:off x="9330723" y="6389195"/>
            <a:ext cx="2585551" cy="365000"/>
          </a:xfrm>
          <a:prstGeom prst="rect">
            <a:avLst/>
          </a:prstGeom>
        </p:spPr>
        <p:txBody>
          <a:bodyPr/>
          <a:lstStyle>
            <a:defPPr>
              <a:defRPr lang="en-US"/>
            </a:defPPr>
            <a:lvl1pPr marL="0" algn="r" defTabSz="914400" rtl="0" eaLnBrk="1" latinLnBrk="0" hangingPunct="1">
              <a:defRPr sz="1500" kern="1200">
                <a:solidFill>
                  <a:schemeClr val="tx1"/>
                </a:solidFill>
                <a:latin typeface="Calibri Light" panose="020F03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AF2FF1-0F85-5948-B45D-85D15C7A6F9F}" type="slidenum">
              <a:rPr lang="en-US" smtClean="0">
                <a:solidFill>
                  <a:schemeClr val="tx1">
                    <a:lumMod val="75000"/>
                    <a:lumOff val="25000"/>
                  </a:schemeClr>
                </a:solidFill>
                <a:latin typeface="+mn-lt"/>
              </a:rPr>
              <a:pPr/>
              <a:t>‹Nr.›</a:t>
            </a:fld>
            <a:endParaRPr lang="en-US" dirty="0">
              <a:solidFill>
                <a:schemeClr val="tx1">
                  <a:lumMod val="75000"/>
                  <a:lumOff val="25000"/>
                </a:schemeClr>
              </a:solidFill>
              <a:latin typeface="+mn-lt"/>
            </a:endParaRPr>
          </a:p>
        </p:txBody>
      </p:sp>
      <p:pic>
        <p:nvPicPr>
          <p:cNvPr id="22" name="Picture 21">
            <a:extLst>
              <a:ext uri="{FF2B5EF4-FFF2-40B4-BE49-F238E27FC236}">
                <a16:creationId xmlns:a16="http://schemas.microsoft.com/office/drawing/2014/main" id="{21B31D17-1F23-BC44-A237-A2155205E11C}"/>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34248"/>
          <a:stretch/>
        </p:blipFill>
        <p:spPr>
          <a:xfrm>
            <a:off x="10898505" y="322814"/>
            <a:ext cx="1203716" cy="835550"/>
          </a:xfrm>
          <a:prstGeom prst="rect">
            <a:avLst/>
          </a:prstGeom>
        </p:spPr>
      </p:pic>
      <p:sp>
        <p:nvSpPr>
          <p:cNvPr id="4" name="Title 1">
            <a:extLst>
              <a:ext uri="{FF2B5EF4-FFF2-40B4-BE49-F238E27FC236}">
                <a16:creationId xmlns:a16="http://schemas.microsoft.com/office/drawing/2014/main" id="{2BDFEDE7-E7EF-BA56-C693-D677BAC4656F}"/>
              </a:ext>
            </a:extLst>
          </p:cNvPr>
          <p:cNvSpPr txBox="1">
            <a:spLocks/>
          </p:cNvSpPr>
          <p:nvPr/>
        </p:nvSpPr>
        <p:spPr>
          <a:xfrm>
            <a:off x="-429117" y="3401109"/>
            <a:ext cx="10858748" cy="44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endParaRPr lang="en-US" dirty="0">
              <a:solidFill>
                <a:schemeClr val="tx1">
                  <a:lumMod val="75000"/>
                  <a:lumOff val="25000"/>
                </a:schemeClr>
              </a:solidFill>
              <a:latin typeface="Oswald" panose="00000500000000000000" pitchFamily="2" charset="0"/>
              <a:ea typeface="Open Sans Condensed Light" panose="020B0306030504020204" pitchFamily="34" charset="0"/>
              <a:cs typeface="Open Sans Condensed Light" panose="020B0306030504020204" pitchFamily="34" charset="0"/>
            </a:endParaRPr>
          </a:p>
        </p:txBody>
      </p:sp>
      <p:sp>
        <p:nvSpPr>
          <p:cNvPr id="5" name="Titelplatzhalter 4">
            <a:extLst>
              <a:ext uri="{FF2B5EF4-FFF2-40B4-BE49-F238E27FC236}">
                <a16:creationId xmlns:a16="http://schemas.microsoft.com/office/drawing/2014/main" id="{FF3EC424-F876-BDCD-A7C1-A5D874A0BF09}"/>
              </a:ext>
            </a:extLst>
          </p:cNvPr>
          <p:cNvSpPr>
            <a:spLocks noGrp="1"/>
          </p:cNvSpPr>
          <p:nvPr>
            <p:ph type="title"/>
          </p:nvPr>
        </p:nvSpPr>
        <p:spPr>
          <a:xfrm>
            <a:off x="371453" y="103805"/>
            <a:ext cx="10515600" cy="1054559"/>
          </a:xfrm>
          <a:prstGeom prst="rect">
            <a:avLst/>
          </a:prstGeom>
        </p:spPr>
        <p:txBody>
          <a:bodyPr vert="horz" lIns="91440" tIns="45720" rIns="91440" bIns="45720" rtlCol="0" anchor="b">
            <a:normAutofit/>
          </a:bodyPr>
          <a:lstStyle/>
          <a:p>
            <a:r>
              <a:rPr lang="de-DE" dirty="0"/>
              <a:t>Mastertitelformat bearbeiten</a:t>
            </a:r>
          </a:p>
        </p:txBody>
      </p:sp>
      <p:sp>
        <p:nvSpPr>
          <p:cNvPr id="2" name="Slide Number Placeholder 6">
            <a:extLst>
              <a:ext uri="{FF2B5EF4-FFF2-40B4-BE49-F238E27FC236}">
                <a16:creationId xmlns:a16="http://schemas.microsoft.com/office/drawing/2014/main" id="{A9FEC449-540F-CE78-4CED-98FA8B5F921B}"/>
              </a:ext>
            </a:extLst>
          </p:cNvPr>
          <p:cNvSpPr txBox="1">
            <a:spLocks/>
          </p:cNvSpPr>
          <p:nvPr/>
        </p:nvSpPr>
        <p:spPr>
          <a:xfrm>
            <a:off x="6618082" y="6460048"/>
            <a:ext cx="4882281" cy="365000"/>
          </a:xfrm>
          <a:prstGeom prst="rect">
            <a:avLst/>
          </a:prstGeom>
        </p:spPr>
        <p:txBody>
          <a:bodyPr/>
          <a:lstStyle>
            <a:defPPr>
              <a:defRPr lang="en-US"/>
            </a:defPPr>
            <a:lvl1pPr marL="0" algn="r" defTabSz="914400" rtl="0" eaLnBrk="1" latinLnBrk="0" hangingPunct="1">
              <a:defRPr sz="1500" kern="1200">
                <a:solidFill>
                  <a:schemeClr val="tx1"/>
                </a:solidFill>
                <a:latin typeface="Calibri Light" panose="020F03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noProof="0" dirty="0">
                <a:solidFill>
                  <a:schemeClr val="tx1">
                    <a:lumMod val="65000"/>
                    <a:lumOff val="35000"/>
                  </a:schemeClr>
                </a:solidFill>
              </a:rPr>
              <a:t>Your Name, Date</a:t>
            </a:r>
          </a:p>
          <a:p>
            <a:r>
              <a:rPr lang="en-US" sz="800" noProof="0" dirty="0">
                <a:solidFill>
                  <a:schemeClr val="tx1">
                    <a:lumMod val="65000"/>
                    <a:lumOff val="35000"/>
                  </a:schemeClr>
                </a:solidFill>
              </a:rPr>
              <a:t>Title</a:t>
            </a:r>
            <a:endParaRPr lang="en-US" sz="800" noProof="0" dirty="0">
              <a:solidFill>
                <a:schemeClr val="tx1">
                  <a:lumMod val="65000"/>
                  <a:lumOff val="35000"/>
                </a:schemeClr>
              </a:solidFill>
              <a:latin typeface="+mn-lt"/>
            </a:endParaRPr>
          </a:p>
        </p:txBody>
      </p:sp>
    </p:spTree>
    <p:extLst>
      <p:ext uri="{BB962C8B-B14F-4D97-AF65-F5344CB8AC3E}">
        <p14:creationId xmlns:p14="http://schemas.microsoft.com/office/powerpoint/2010/main" val="380840584"/>
      </p:ext>
    </p:extLst>
  </p:cSld>
  <p:clrMap bg1="lt1" tx1="dk1" bg2="lt2" tx2="dk2" accent1="accent1" accent2="accent2" accent3="accent3" accent4="accent4" accent5="accent5" accent6="accent6" hlink="hlink" folHlink="folHlink"/>
  <p:sldLayoutIdLst>
    <p:sldLayoutId id="2147483649" r:id="rId1"/>
    <p:sldLayoutId id="2147483675" r:id="rId2"/>
    <p:sldLayoutId id="2147483674" r:id="rId3"/>
    <p:sldLayoutId id="2147483671" r:id="rId4"/>
    <p:sldLayoutId id="2147483669" r:id="rId5"/>
    <p:sldLayoutId id="2147483673" r:id="rId6"/>
  </p:sldLayoutIdLst>
  <p:txStyles>
    <p:titleStyle>
      <a:lvl1pPr algn="l" defTabSz="914400" rtl="0" eaLnBrk="1" latinLnBrk="0" hangingPunct="1">
        <a:lnSpc>
          <a:spcPct val="90000"/>
        </a:lnSpc>
        <a:spcBef>
          <a:spcPct val="0"/>
        </a:spcBef>
        <a:buNone/>
        <a:defRPr sz="2800" kern="1200">
          <a:solidFill>
            <a:schemeClr val="tx1">
              <a:lumMod val="65000"/>
              <a:lumOff val="3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Oswald"/>
              </a:rPr>
              <a:t>Robust Level 3 Autonomous Drone Racing</a:t>
            </a:r>
          </a:p>
        </p:txBody>
      </p:sp>
      <p:sp>
        <p:nvSpPr>
          <p:cNvPr id="3" name="Content Placeholder 2"/>
          <p:cNvSpPr>
            <a:spLocks noGrp="1"/>
          </p:cNvSpPr>
          <p:nvPr>
            <p:ph sz="quarter" idx="10"/>
          </p:nvPr>
        </p:nvSpPr>
        <p:spPr/>
        <p:txBody>
          <a:bodyPr/>
          <a:lstStyle/>
          <a:p>
            <a:r>
              <a:t>by Gate Search and Time-Optimal Contouring Control</a:t>
            </a:r>
          </a:p>
        </p:txBody>
      </p:sp>
      <p:sp>
        <p:nvSpPr>
          <p:cNvPr id="4" name="Content Placeholder 3"/>
          <p:cNvSpPr>
            <a:spLocks noGrp="1"/>
          </p:cNvSpPr>
          <p:nvPr>
            <p:ph sz="quarter" idx="11"/>
          </p:nvPr>
        </p:nvSpPr>
        <p:spPr/>
        <p:txBody>
          <a:bodyPr/>
          <a:lstStyle/>
          <a:p>
            <a:r>
              <a:t>Ahmet Arda Hız  ·  Deniz Öztürk</a:t>
            </a:r>
          </a:p>
        </p:txBody>
      </p:sp>
      <p:sp>
        <p:nvSpPr>
          <p:cNvPr id="5" name="Content Placeholder 4"/>
          <p:cNvSpPr>
            <a:spLocks noGrp="1"/>
          </p:cNvSpPr>
          <p:nvPr>
            <p:ph sz="quarter" idx="12"/>
          </p:nvPr>
        </p:nvSpPr>
        <p:spPr/>
        <p:txBody>
          <a:bodyPr/>
          <a:lstStyle/>
          <a:p>
            <a:r>
              <a:t>Learning Systems and Robotics — TUM   |   Final Presentation, SS26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Oswald"/>
              </a:rPr>
              <a:t>From Cascaded PID to MPCC — What Changed</a:t>
            </a:r>
          </a:p>
        </p:txBody>
      </p:sp>
      <p:sp>
        <p:nvSpPr>
          <p:cNvPr id="3" name="Rounded Rectangle 2"/>
          <p:cNvSpPr/>
          <p:nvPr/>
        </p:nvSpPr>
        <p:spPr>
          <a:xfrm>
            <a:off x="384048" y="274320"/>
            <a:ext cx="2926080" cy="310896"/>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100" b="1">
                <a:solidFill>
                  <a:srgbClr val="FFFFFF"/>
                </a:solidFill>
                <a:latin typeface="Calibri Light"/>
              </a:rPr>
              <a:t>Recap</a:t>
            </a:r>
          </a:p>
        </p:txBody>
      </p:sp>
      <p:sp>
        <p:nvSpPr>
          <p:cNvPr id="4" name="TextBox 3"/>
          <p:cNvSpPr txBox="1"/>
          <p:nvPr/>
        </p:nvSpPr>
        <p:spPr>
          <a:xfrm>
            <a:off x="6583680" y="274320"/>
            <a:ext cx="3017520" cy="274320"/>
          </a:xfrm>
          <a:prstGeom prst="rect">
            <a:avLst/>
          </a:prstGeom>
          <a:noFill/>
        </p:spPr>
        <p:txBody>
          <a:bodyPr wrap="square" anchor="t">
            <a:spAutoFit/>
          </a:bodyPr>
          <a:lstStyle/>
          <a:p>
            <a:pPr algn="r">
              <a:spcAft>
                <a:spcPts val="600"/>
              </a:spcAft>
            </a:pPr>
            <a:r>
              <a:rPr sz="1000" b="0">
                <a:solidFill>
                  <a:srgbClr val="7F7F7F"/>
                </a:solidFill>
                <a:latin typeface="Calibri Light"/>
              </a:rPr>
              <a:t>Speaker: Arda</a:t>
            </a:r>
          </a:p>
        </p:txBody>
      </p:sp>
      <p:sp>
        <p:nvSpPr>
          <p:cNvPr id="5" name="TextBox 4"/>
          <p:cNvSpPr txBox="1"/>
          <p:nvPr/>
        </p:nvSpPr>
        <p:spPr>
          <a:xfrm>
            <a:off x="502920" y="1417320"/>
            <a:ext cx="6583680" cy="2800767"/>
          </a:xfrm>
          <a:prstGeom prst="rect">
            <a:avLst/>
          </a:prstGeom>
          <a:noFill/>
        </p:spPr>
        <p:txBody>
          <a:bodyPr wrap="square">
            <a:spAutoFit/>
          </a:bodyPr>
          <a:lstStyle/>
          <a:p>
            <a:pPr>
              <a:spcAft>
                <a:spcPts val="1200"/>
              </a:spcAft>
            </a:pPr>
            <a:r>
              <a:rPr sz="1700" dirty="0">
                <a:solidFill>
                  <a:srgbClr val="44546A"/>
                </a:solidFill>
                <a:latin typeface="Calibri Light"/>
              </a:rPr>
              <a:t>•  Progress presentation: we </a:t>
            </a:r>
            <a:r>
              <a:rPr lang="tr-TR" sz="1700" dirty="0" err="1">
                <a:solidFill>
                  <a:srgbClr val="44546A"/>
                </a:solidFill>
                <a:latin typeface="Calibri Light"/>
              </a:rPr>
              <a:t>presented</a:t>
            </a:r>
            <a:r>
              <a:rPr sz="1700" dirty="0">
                <a:solidFill>
                  <a:srgbClr val="44546A"/>
                </a:solidFill>
                <a:latin typeface="Calibri Light"/>
              </a:rPr>
              <a:t> a cascaded PID controller.</a:t>
            </a:r>
          </a:p>
          <a:p>
            <a:pPr>
              <a:spcAft>
                <a:spcPts val="1200"/>
              </a:spcAft>
            </a:pPr>
            <a:r>
              <a:rPr sz="1700" dirty="0">
                <a:solidFill>
                  <a:srgbClr val="44546A"/>
                </a:solidFill>
                <a:latin typeface="Calibri Light"/>
              </a:rPr>
              <a:t>•  Our stated end goal was a time-optimal MPCC racer.</a:t>
            </a:r>
          </a:p>
          <a:p>
            <a:pPr>
              <a:spcAft>
                <a:spcPts val="1200"/>
              </a:spcAft>
            </a:pPr>
            <a:r>
              <a:rPr sz="1700" dirty="0">
                <a:solidFill>
                  <a:srgbClr val="44546A"/>
                </a:solidFill>
                <a:latin typeface="Calibri Light"/>
              </a:rPr>
              <a:t>•  The blocker: the MPCC's online solver (</a:t>
            </a:r>
            <a:r>
              <a:rPr sz="1700" dirty="0" err="1">
                <a:solidFill>
                  <a:srgbClr val="44546A"/>
                </a:solidFill>
                <a:latin typeface="Calibri Light"/>
              </a:rPr>
              <a:t>acados</a:t>
            </a:r>
            <a:r>
              <a:rPr sz="1700" dirty="0">
                <a:solidFill>
                  <a:srgbClr val="44546A"/>
                </a:solidFill>
                <a:latin typeface="Calibri Light"/>
              </a:rPr>
              <a:t>) would sometimes fail to converge and the drone froze between gates — not demo-ready, so we fell back to PID.</a:t>
            </a:r>
          </a:p>
          <a:p>
            <a:pPr>
              <a:spcAft>
                <a:spcPts val="1200"/>
              </a:spcAft>
            </a:pPr>
            <a:r>
              <a:rPr sz="1700" dirty="0">
                <a:solidFill>
                  <a:srgbClr val="44546A"/>
                </a:solidFill>
                <a:latin typeface="Calibri Light"/>
              </a:rPr>
              <a:t>•  Fixed now: a robust solver restart (cold re-solve on failure) removes the freeze; MPCC runs reliably at 50 Hz.</a:t>
            </a:r>
          </a:p>
          <a:p>
            <a:pPr>
              <a:spcAft>
                <a:spcPts val="1200"/>
              </a:spcAft>
            </a:pPr>
            <a:r>
              <a:rPr sz="1700" dirty="0">
                <a:solidFill>
                  <a:srgbClr val="44546A"/>
                </a:solidFill>
                <a:latin typeface="Calibri Light"/>
              </a:rPr>
              <a:t>•  This talk presents the finished MPCC-based controller.</a:t>
            </a:r>
          </a:p>
        </p:txBody>
      </p:sp>
      <p:sp>
        <p:nvSpPr>
          <p:cNvPr id="6" name="Rounded Rectangle 5"/>
          <p:cNvSpPr/>
          <p:nvPr/>
        </p:nvSpPr>
        <p:spPr>
          <a:xfrm>
            <a:off x="7498079" y="1920240"/>
            <a:ext cx="4023360" cy="914400"/>
          </a:xfrm>
          <a:prstGeom prst="round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400" b="1">
                <a:solidFill>
                  <a:srgbClr val="FFFFFF"/>
                </a:solidFill>
                <a:latin typeface="Calibri Light"/>
              </a:rPr>
              <a:t>Progress talk</a:t>
            </a:r>
          </a:p>
          <a:p>
            <a:pPr algn="ctr">
              <a:spcAft>
                <a:spcPts val="0"/>
              </a:spcAft>
            </a:pPr>
            <a:r>
              <a:rPr sz="1400" b="1">
                <a:solidFill>
                  <a:srgbClr val="FFFFFF"/>
                </a:solidFill>
                <a:latin typeface="Calibri Light"/>
              </a:rPr>
              <a:t>Cascaded PID (fallback)</a:t>
            </a:r>
          </a:p>
        </p:txBody>
      </p:sp>
      <p:cxnSp>
        <p:nvCxnSpPr>
          <p:cNvPr id="7" name="Connector 6"/>
          <p:cNvCxnSpPr/>
          <p:nvPr/>
        </p:nvCxnSpPr>
        <p:spPr>
          <a:xfrm>
            <a:off x="9509760" y="3063240"/>
            <a:ext cx="0" cy="548640"/>
          </a:xfrm>
          <a:prstGeom prst="line">
            <a:avLst/>
          </a:prstGeom>
          <a:ln w="317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498079" y="3657600"/>
            <a:ext cx="4023360" cy="914400"/>
          </a:xfrm>
          <a:prstGeom prst="roundRect">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400" b="1">
                <a:solidFill>
                  <a:srgbClr val="FFFFFF"/>
                </a:solidFill>
                <a:latin typeface="Calibri Light"/>
              </a:rPr>
              <a:t>Final talk</a:t>
            </a:r>
          </a:p>
          <a:p>
            <a:pPr algn="ctr">
              <a:spcAft>
                <a:spcPts val="0"/>
              </a:spcAft>
            </a:pPr>
            <a:r>
              <a:rPr sz="1400" b="1">
                <a:solidFill>
                  <a:srgbClr val="FFFFFF"/>
                </a:solidFill>
                <a:latin typeface="Calibri Light"/>
              </a:rPr>
              <a:t>MPCC — blocker solved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Oswald"/>
              </a:rPr>
              <a:t>Our Angle — Find the Gates, Don't Trust the Map</a:t>
            </a:r>
          </a:p>
        </p:txBody>
      </p:sp>
      <p:sp>
        <p:nvSpPr>
          <p:cNvPr id="3" name="Rounded Rectangle 2"/>
          <p:cNvSpPr/>
          <p:nvPr/>
        </p:nvSpPr>
        <p:spPr>
          <a:xfrm>
            <a:off x="384048" y="274320"/>
            <a:ext cx="2926080" cy="310896"/>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100" b="1">
                <a:solidFill>
                  <a:srgbClr val="FFFFFF"/>
                </a:solidFill>
                <a:latin typeface="Calibri Light"/>
              </a:rPr>
              <a:t>Our angle</a:t>
            </a:r>
          </a:p>
        </p:txBody>
      </p:sp>
      <p:sp>
        <p:nvSpPr>
          <p:cNvPr id="4" name="TextBox 3"/>
          <p:cNvSpPr txBox="1"/>
          <p:nvPr/>
        </p:nvSpPr>
        <p:spPr>
          <a:xfrm>
            <a:off x="6583680" y="274320"/>
            <a:ext cx="3017520" cy="274320"/>
          </a:xfrm>
          <a:prstGeom prst="rect">
            <a:avLst/>
          </a:prstGeom>
          <a:noFill/>
        </p:spPr>
        <p:txBody>
          <a:bodyPr wrap="square" anchor="t">
            <a:spAutoFit/>
          </a:bodyPr>
          <a:lstStyle/>
          <a:p>
            <a:pPr algn="r">
              <a:spcAft>
                <a:spcPts val="600"/>
              </a:spcAft>
            </a:pPr>
            <a:r>
              <a:rPr sz="1000" b="0">
                <a:solidFill>
                  <a:srgbClr val="7F7F7F"/>
                </a:solidFill>
                <a:latin typeface="Calibri Light"/>
              </a:rPr>
              <a:t>Speaker: Arda</a:t>
            </a:r>
          </a:p>
        </p:txBody>
      </p:sp>
      <p:sp>
        <p:nvSpPr>
          <p:cNvPr id="5" name="TextBox 4"/>
          <p:cNvSpPr txBox="1"/>
          <p:nvPr/>
        </p:nvSpPr>
        <p:spPr>
          <a:xfrm>
            <a:off x="502920" y="1280160"/>
            <a:ext cx="5943600" cy="502920"/>
          </a:xfrm>
          <a:prstGeom prst="rect">
            <a:avLst/>
          </a:prstGeom>
          <a:noFill/>
        </p:spPr>
        <p:txBody>
          <a:bodyPr wrap="square" anchor="t">
            <a:spAutoFit/>
          </a:bodyPr>
          <a:lstStyle/>
          <a:p>
            <a:pPr algn="l">
              <a:spcAft>
                <a:spcPts val="600"/>
              </a:spcAft>
            </a:pPr>
            <a:r>
              <a:rPr sz="1400" b="0" dirty="0">
                <a:solidFill>
                  <a:srgbClr val="44546A"/>
                </a:solidFill>
                <a:latin typeface="Calibri Light"/>
              </a:rPr>
              <a:t>Everyone flies the same Level 3 task. Here is what was specific to our project.</a:t>
            </a:r>
          </a:p>
        </p:txBody>
      </p:sp>
      <p:sp>
        <p:nvSpPr>
          <p:cNvPr id="6" name="TextBox 5"/>
          <p:cNvSpPr txBox="1"/>
          <p:nvPr/>
        </p:nvSpPr>
        <p:spPr>
          <a:xfrm>
            <a:off x="502920" y="1874519"/>
            <a:ext cx="5943600" cy="4206240"/>
          </a:xfrm>
          <a:prstGeom prst="rect">
            <a:avLst/>
          </a:prstGeom>
          <a:noFill/>
        </p:spPr>
        <p:txBody>
          <a:bodyPr wrap="square">
            <a:spAutoFit/>
          </a:bodyPr>
          <a:lstStyle/>
          <a:p>
            <a:pPr>
              <a:spcAft>
                <a:spcPts val="1300"/>
              </a:spcAft>
            </a:pPr>
            <a:r>
              <a:rPr sz="1700">
                <a:solidFill>
                  <a:srgbClr val="44546A"/>
                </a:solidFill>
                <a:latin typeface="Calibri Light"/>
              </a:rPr>
              <a:t>•  The task, in one line: layout randomized every run, exact gate pose seen only within 0.7 m.</a:t>
            </a:r>
          </a:p>
          <a:p>
            <a:pPr>
              <a:spcAft>
                <a:spcPts val="1300"/>
              </a:spcAft>
            </a:pPr>
            <a:r>
              <a:rPr sz="1700">
                <a:solidFill>
                  <a:srgbClr val="44546A"/>
                </a:solidFill>
                <a:latin typeface="Calibri Light"/>
              </a:rPr>
              <a:t>•  The twist we hit: for most of the project the simulator gave no usable prior — every gate and obstacle sat at the origin.</a:t>
            </a:r>
          </a:p>
          <a:p>
            <a:pPr>
              <a:spcAft>
                <a:spcPts val="1300"/>
              </a:spcAft>
            </a:pPr>
            <a:r>
              <a:rPr sz="1700">
                <a:solidFill>
                  <a:srgbClr val="44546A"/>
                </a:solidFill>
                <a:latin typeface="Calibri Light"/>
              </a:rPr>
              <a:t>•  So planning from the nominal map was impossible; a known-track racer cannot fly this at all.</a:t>
            </a:r>
          </a:p>
          <a:p>
            <a:pPr>
              <a:spcAft>
                <a:spcPts val="1300"/>
              </a:spcAft>
            </a:pPr>
            <a:r>
              <a:rPr sz="1700">
                <a:solidFill>
                  <a:srgbClr val="44546A"/>
                </a:solidFill>
                <a:latin typeface="Calibri Light"/>
              </a:rPr>
              <a:t>•  Our design choice: do not trust the map. Find the gates by flying, then race them — one controller, any layout.</a:t>
            </a:r>
          </a:p>
        </p:txBody>
      </p:sp>
      <p:pic>
        <p:nvPicPr>
          <p:cNvPr id="7" name="Picture 6" descr="fig_montage.png"/>
          <p:cNvPicPr>
            <a:picLocks noChangeAspect="1"/>
          </p:cNvPicPr>
          <p:nvPr/>
        </p:nvPicPr>
        <p:blipFill>
          <a:blip r:embed="rId3"/>
          <a:stretch>
            <a:fillRect/>
          </a:stretch>
        </p:blipFill>
        <p:spPr>
          <a:xfrm>
            <a:off x="6492240" y="2612898"/>
            <a:ext cx="5212080" cy="1997964"/>
          </a:xfrm>
          <a:prstGeom prst="rect">
            <a:avLst/>
          </a:prstGeom>
        </p:spPr>
      </p:pic>
      <p:sp>
        <p:nvSpPr>
          <p:cNvPr id="8" name="TextBox 7"/>
          <p:cNvSpPr txBox="1"/>
          <p:nvPr/>
        </p:nvSpPr>
        <p:spPr>
          <a:xfrm>
            <a:off x="6492240" y="5760720"/>
            <a:ext cx="5212080" cy="274320"/>
          </a:xfrm>
          <a:prstGeom prst="rect">
            <a:avLst/>
          </a:prstGeom>
          <a:noFill/>
        </p:spPr>
        <p:txBody>
          <a:bodyPr wrap="square" anchor="t">
            <a:spAutoFit/>
          </a:bodyPr>
          <a:lstStyle/>
          <a:p>
            <a:pPr algn="ctr">
              <a:spcAft>
                <a:spcPts val="600"/>
              </a:spcAft>
            </a:pPr>
            <a:r>
              <a:rPr sz="1000" b="0">
                <a:solidFill>
                  <a:srgbClr val="7F7F7F"/>
                </a:solidFill>
                <a:latin typeface="Calibri Light"/>
              </a:rPr>
              <a:t>Level 3 in our LSY simulator — no reliable gate positions up front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Oswald"/>
              </a:rPr>
              <a:t>Our Approach — Two Phases, One Loop</a:t>
            </a:r>
          </a:p>
        </p:txBody>
      </p:sp>
      <p:sp>
        <p:nvSpPr>
          <p:cNvPr id="3" name="Rounded Rectangle 2"/>
          <p:cNvSpPr/>
          <p:nvPr/>
        </p:nvSpPr>
        <p:spPr>
          <a:xfrm>
            <a:off x="384048" y="274320"/>
            <a:ext cx="2926080" cy="310896"/>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100" b="1">
                <a:solidFill>
                  <a:srgbClr val="FFFFFF"/>
                </a:solidFill>
                <a:latin typeface="Calibri Light"/>
              </a:rPr>
              <a:t>Methodology</a:t>
            </a:r>
          </a:p>
        </p:txBody>
      </p:sp>
      <p:sp>
        <p:nvSpPr>
          <p:cNvPr id="4" name="TextBox 3"/>
          <p:cNvSpPr txBox="1"/>
          <p:nvPr/>
        </p:nvSpPr>
        <p:spPr>
          <a:xfrm>
            <a:off x="6583680" y="274320"/>
            <a:ext cx="3017520" cy="274320"/>
          </a:xfrm>
          <a:prstGeom prst="rect">
            <a:avLst/>
          </a:prstGeom>
          <a:noFill/>
        </p:spPr>
        <p:txBody>
          <a:bodyPr wrap="square" anchor="t">
            <a:spAutoFit/>
          </a:bodyPr>
          <a:lstStyle/>
          <a:p>
            <a:pPr algn="r">
              <a:spcAft>
                <a:spcPts val="600"/>
              </a:spcAft>
            </a:pPr>
            <a:r>
              <a:rPr sz="1000" b="0">
                <a:solidFill>
                  <a:srgbClr val="7F7F7F"/>
                </a:solidFill>
                <a:latin typeface="Calibri Light"/>
              </a:rPr>
              <a:t>Speaker: Arda</a:t>
            </a:r>
          </a:p>
        </p:txBody>
      </p:sp>
      <p:sp>
        <p:nvSpPr>
          <p:cNvPr id="5" name="TextBox 4"/>
          <p:cNvSpPr txBox="1"/>
          <p:nvPr/>
        </p:nvSpPr>
        <p:spPr>
          <a:xfrm>
            <a:off x="502920" y="1234440"/>
            <a:ext cx="11155680" cy="457200"/>
          </a:xfrm>
          <a:prstGeom prst="rect">
            <a:avLst/>
          </a:prstGeom>
          <a:noFill/>
        </p:spPr>
        <p:txBody>
          <a:bodyPr wrap="square" anchor="t">
            <a:spAutoFit/>
          </a:bodyPr>
          <a:lstStyle/>
          <a:p>
            <a:pPr algn="l">
              <a:spcAft>
                <a:spcPts val="600"/>
              </a:spcAft>
            </a:pPr>
            <a:r>
              <a:rPr sz="1500" b="0">
                <a:solidFill>
                  <a:srgbClr val="44546A"/>
                </a:solidFill>
                <a:latin typeface="Calibri Light"/>
              </a:rPr>
              <a:t>Search first, then race — the same racing core runs after the gates are found. Loop runs at 50 Hz.</a:t>
            </a:r>
          </a:p>
        </p:txBody>
      </p:sp>
      <p:sp>
        <p:nvSpPr>
          <p:cNvPr id="6" name="Rounded Rectangle 5"/>
          <p:cNvSpPr/>
          <p:nvPr/>
        </p:nvSpPr>
        <p:spPr>
          <a:xfrm>
            <a:off x="457200" y="2743200"/>
            <a:ext cx="2468880" cy="1051560"/>
          </a:xfrm>
          <a:prstGeom prst="round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300" b="1">
                <a:solidFill>
                  <a:srgbClr val="FFFFFF"/>
                </a:solidFill>
                <a:latin typeface="Calibri Light"/>
              </a:rPr>
              <a:t>Observation</a:t>
            </a:r>
          </a:p>
          <a:p>
            <a:pPr algn="ctr">
              <a:spcAft>
                <a:spcPts val="0"/>
              </a:spcAft>
            </a:pPr>
            <a:r>
              <a:rPr sz="1300" b="1">
                <a:solidFill>
                  <a:srgbClr val="FFFFFF"/>
                </a:solidFill>
                <a:latin typeface="Calibri Light"/>
              </a:rPr>
              <a:t>(gates revealed
within 0.7 m)</a:t>
            </a:r>
          </a:p>
        </p:txBody>
      </p:sp>
      <p:sp>
        <p:nvSpPr>
          <p:cNvPr id="7" name="Rounded Rectangle 6"/>
          <p:cNvSpPr/>
          <p:nvPr/>
        </p:nvSpPr>
        <p:spPr>
          <a:xfrm>
            <a:off x="3246120" y="2743200"/>
            <a:ext cx="2468880" cy="1051560"/>
          </a:xfrm>
          <a:prstGeom prst="roundRect">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300" b="1">
                <a:solidFill>
                  <a:srgbClr val="FFFFFF"/>
                </a:solidFill>
                <a:latin typeface="Calibri Light"/>
              </a:rPr>
              <a:t>Gate Search</a:t>
            </a:r>
          </a:p>
          <a:p>
            <a:pPr algn="ctr">
              <a:spcAft>
                <a:spcPts val="0"/>
              </a:spcAft>
            </a:pPr>
            <a:r>
              <a:rPr sz="1300" b="1">
                <a:solidFill>
                  <a:srgbClr val="FFFFFF"/>
                </a:solidFill>
                <a:latin typeface="Calibri Light"/>
              </a:rPr>
              <a:t>blind spiral sweep</a:t>
            </a:r>
          </a:p>
        </p:txBody>
      </p:sp>
      <p:sp>
        <p:nvSpPr>
          <p:cNvPr id="8" name="Rounded Rectangle 7"/>
          <p:cNvSpPr/>
          <p:nvPr/>
        </p:nvSpPr>
        <p:spPr>
          <a:xfrm>
            <a:off x="6035040" y="2743200"/>
            <a:ext cx="2468880" cy="1051560"/>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300" b="1">
                <a:solidFill>
                  <a:srgbClr val="FFFFFF"/>
                </a:solidFill>
                <a:latin typeface="Calibri Light"/>
              </a:rPr>
              <a:t>Time-Optimal MPCC</a:t>
            </a:r>
          </a:p>
          <a:p>
            <a:pPr algn="ctr">
              <a:spcAft>
                <a:spcPts val="0"/>
              </a:spcAft>
            </a:pPr>
            <a:r>
              <a:rPr sz="1300" b="1">
                <a:solidFill>
                  <a:srgbClr val="FFFFFF"/>
                </a:solidFill>
                <a:latin typeface="Calibri Light"/>
              </a:rPr>
              <a:t>race the found gates</a:t>
            </a:r>
          </a:p>
        </p:txBody>
      </p:sp>
      <p:sp>
        <p:nvSpPr>
          <p:cNvPr id="9" name="Rounded Rectangle 8"/>
          <p:cNvSpPr/>
          <p:nvPr/>
        </p:nvSpPr>
        <p:spPr>
          <a:xfrm>
            <a:off x="8823960" y="2743200"/>
            <a:ext cx="2468880" cy="1051560"/>
          </a:xfrm>
          <a:prstGeom prst="round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300" b="1">
                <a:solidFill>
                  <a:srgbClr val="FFFFFF"/>
                </a:solidFill>
                <a:latin typeface="Calibri Light"/>
              </a:rPr>
              <a:t>Attitude Control</a:t>
            </a:r>
          </a:p>
          <a:p>
            <a:pPr algn="ctr">
              <a:spcAft>
                <a:spcPts val="0"/>
              </a:spcAft>
            </a:pPr>
            <a:r>
              <a:rPr sz="1300" b="1">
                <a:solidFill>
                  <a:srgbClr val="FFFFFF"/>
                </a:solidFill>
                <a:latin typeface="Calibri Light"/>
              </a:rPr>
              <a:t>→ drone @ 500 Hz</a:t>
            </a:r>
          </a:p>
        </p:txBody>
      </p:sp>
      <p:cxnSp>
        <p:nvCxnSpPr>
          <p:cNvPr id="10" name="Connector 9"/>
          <p:cNvCxnSpPr/>
          <p:nvPr/>
        </p:nvCxnSpPr>
        <p:spPr>
          <a:xfrm>
            <a:off x="2926080" y="3268980"/>
            <a:ext cx="320040" cy="0"/>
          </a:xfrm>
          <a:prstGeom prst="line">
            <a:avLst/>
          </a:prstGeom>
          <a:ln w="317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715000" y="3268980"/>
            <a:ext cx="320040" cy="0"/>
          </a:xfrm>
          <a:prstGeom prst="line">
            <a:avLst/>
          </a:prstGeom>
          <a:ln w="317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503920" y="3268980"/>
            <a:ext cx="320040" cy="0"/>
          </a:xfrm>
          <a:prstGeom prst="line">
            <a:avLst/>
          </a:prstGeom>
          <a:ln w="317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0" y="2450592"/>
            <a:ext cx="2468880" cy="228600"/>
          </a:xfrm>
          <a:prstGeom prst="rect">
            <a:avLst/>
          </a:prstGeom>
          <a:noFill/>
        </p:spPr>
        <p:txBody>
          <a:bodyPr wrap="square" anchor="t">
            <a:spAutoFit/>
          </a:bodyPr>
          <a:lstStyle/>
          <a:p>
            <a:pPr algn="ctr">
              <a:spcAft>
                <a:spcPts val="0"/>
              </a:spcAft>
            </a:pPr>
            <a:r>
              <a:rPr sz="1000" b="0">
                <a:solidFill>
                  <a:srgbClr val="70AD47"/>
                </a:solidFill>
                <a:latin typeface="Calibri Light"/>
              </a:rPr>
              <a:t>discovered gates</a:t>
            </a:r>
          </a:p>
        </p:txBody>
      </p:sp>
      <p:sp>
        <p:nvSpPr>
          <p:cNvPr id="14" name="Freeform 13"/>
          <p:cNvSpPr/>
          <p:nvPr/>
        </p:nvSpPr>
        <p:spPr>
          <a:xfrm>
            <a:off x="1828800" y="3657600"/>
            <a:ext cx="8229600" cy="914400"/>
          </a:xfrm>
          <a:custGeom>
            <a:avLst/>
            <a:gdLst/>
            <a:ahLst/>
            <a:cxnLst/>
            <a:rect l="l" t="t" r="r" b="b"/>
            <a:pathLst>
              <a:path w="9" h="1">
                <a:moveTo>
                  <a:pt x="9" y="0"/>
                </a:moveTo>
                <a:lnTo>
                  <a:pt x="9" y="1"/>
                </a:lnTo>
                <a:lnTo>
                  <a:pt x="0" y="1"/>
                </a:lnTo>
                <a:lnTo>
                  <a:pt x="0" y="0"/>
                </a:lnTo>
              </a:path>
            </a:pathLst>
          </a:custGeom>
          <a:noFill/>
          <a:ln w="31750">
            <a:solidFill>
              <a:srgbClr val="ED7D31"/>
            </a:solidFill>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0" y="4617720"/>
            <a:ext cx="4572000" cy="228600"/>
          </a:xfrm>
          <a:prstGeom prst="rect">
            <a:avLst/>
          </a:prstGeom>
          <a:noFill/>
        </p:spPr>
        <p:txBody>
          <a:bodyPr wrap="square" anchor="t">
            <a:spAutoFit/>
          </a:bodyPr>
          <a:lstStyle/>
          <a:p>
            <a:pPr algn="ctr">
              <a:spcAft>
                <a:spcPts val="0"/>
              </a:spcAft>
            </a:pPr>
            <a:r>
              <a:rPr sz="1100" b="0">
                <a:solidFill>
                  <a:srgbClr val="ED7D31"/>
                </a:solidFill>
                <a:latin typeface="Calibri Light"/>
              </a:rPr>
              <a:t>closed loop @ 50 Hz — re-plan as new gates are revealed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Oswald"/>
              </a:rPr>
              <a:t>Phase 1 — Blind Gate Search</a:t>
            </a:r>
          </a:p>
        </p:txBody>
      </p:sp>
      <p:sp>
        <p:nvSpPr>
          <p:cNvPr id="3" name="Rounded Rectangle 2"/>
          <p:cNvSpPr/>
          <p:nvPr/>
        </p:nvSpPr>
        <p:spPr>
          <a:xfrm>
            <a:off x="384048" y="274320"/>
            <a:ext cx="2926080" cy="310896"/>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100" b="1">
                <a:solidFill>
                  <a:srgbClr val="FFFFFF"/>
                </a:solidFill>
                <a:latin typeface="Calibri Light"/>
              </a:rPr>
              <a:t>Methodology</a:t>
            </a:r>
          </a:p>
        </p:txBody>
      </p:sp>
      <p:sp>
        <p:nvSpPr>
          <p:cNvPr id="4" name="TextBox 3"/>
          <p:cNvSpPr txBox="1"/>
          <p:nvPr/>
        </p:nvSpPr>
        <p:spPr>
          <a:xfrm>
            <a:off x="6583680" y="274320"/>
            <a:ext cx="3017520" cy="274320"/>
          </a:xfrm>
          <a:prstGeom prst="rect">
            <a:avLst/>
          </a:prstGeom>
          <a:noFill/>
        </p:spPr>
        <p:txBody>
          <a:bodyPr wrap="square" anchor="t">
            <a:spAutoFit/>
          </a:bodyPr>
          <a:lstStyle/>
          <a:p>
            <a:pPr algn="r">
              <a:spcAft>
                <a:spcPts val="600"/>
              </a:spcAft>
            </a:pPr>
            <a:r>
              <a:rPr sz="1000" b="0">
                <a:solidFill>
                  <a:srgbClr val="7F7F7F"/>
                </a:solidFill>
                <a:latin typeface="Calibri Light"/>
              </a:rPr>
              <a:t>Speaker: Arda</a:t>
            </a:r>
          </a:p>
        </p:txBody>
      </p:sp>
      <p:sp>
        <p:nvSpPr>
          <p:cNvPr id="5" name="Rounded Rectangle 4"/>
          <p:cNvSpPr/>
          <p:nvPr/>
        </p:nvSpPr>
        <p:spPr>
          <a:xfrm>
            <a:off x="548640" y="1417320"/>
            <a:ext cx="3383280" cy="548640"/>
          </a:xfrm>
          <a:prstGeom prst="roundRect">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200" b="1">
                <a:solidFill>
                  <a:srgbClr val="FFFFFF"/>
                </a:solidFill>
                <a:latin typeface="Calibri Light"/>
              </a:rPr>
              <a:t>Fly fixed spiral (climb above the poles)</a:t>
            </a:r>
          </a:p>
        </p:txBody>
      </p:sp>
      <p:sp>
        <p:nvSpPr>
          <p:cNvPr id="6" name="Diamond 5"/>
          <p:cNvSpPr/>
          <p:nvPr/>
        </p:nvSpPr>
        <p:spPr>
          <a:xfrm>
            <a:off x="548640" y="2240280"/>
            <a:ext cx="3383280" cy="640080"/>
          </a:xfrm>
          <a:prstGeom prst="diamond">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200" b="1">
                <a:solidFill>
                  <a:srgbClr val="FFFFFF"/>
                </a:solidFill>
                <a:latin typeface="Calibri Light"/>
              </a:rPr>
              <a:t>Gate within 0.7 m?</a:t>
            </a:r>
          </a:p>
        </p:txBody>
      </p:sp>
      <p:sp>
        <p:nvSpPr>
          <p:cNvPr id="7" name="Rounded Rectangle 6"/>
          <p:cNvSpPr/>
          <p:nvPr/>
        </p:nvSpPr>
        <p:spPr>
          <a:xfrm>
            <a:off x="4251959" y="2286000"/>
            <a:ext cx="2194560" cy="548640"/>
          </a:xfrm>
          <a:prstGeom prst="round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100" b="1">
                <a:solidFill>
                  <a:srgbClr val="FFFFFF"/>
                </a:solidFill>
                <a:latin typeface="Calibri Light"/>
              </a:rPr>
              <a:t>Reveal pose,
add gate to set K</a:t>
            </a:r>
          </a:p>
        </p:txBody>
      </p:sp>
      <p:sp>
        <p:nvSpPr>
          <p:cNvPr id="8" name="Diamond 7"/>
          <p:cNvSpPr/>
          <p:nvPr/>
        </p:nvSpPr>
        <p:spPr>
          <a:xfrm>
            <a:off x="548640" y="3337560"/>
            <a:ext cx="3383280" cy="640080"/>
          </a:xfrm>
          <a:prstGeom prst="diamond">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200" b="1">
                <a:solidFill>
                  <a:srgbClr val="FFFFFF"/>
                </a:solidFill>
                <a:latin typeface="Calibri Light"/>
              </a:rPr>
              <a:t>All gates found
or spiral done?</a:t>
            </a:r>
          </a:p>
        </p:txBody>
      </p:sp>
      <p:sp>
        <p:nvSpPr>
          <p:cNvPr id="9" name="Rounded Rectangle 8"/>
          <p:cNvSpPr/>
          <p:nvPr/>
        </p:nvSpPr>
        <p:spPr>
          <a:xfrm>
            <a:off x="548640" y="4480560"/>
            <a:ext cx="3383280" cy="54864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200" b="1">
                <a:solidFill>
                  <a:srgbClr val="FFFFFF"/>
                </a:solidFill>
                <a:latin typeface="Calibri Light"/>
              </a:rPr>
              <a:t>Race the gates (MPCC)</a:t>
            </a:r>
          </a:p>
        </p:txBody>
      </p:sp>
      <p:cxnSp>
        <p:nvCxnSpPr>
          <p:cNvPr id="10" name="Connector 9"/>
          <p:cNvCxnSpPr/>
          <p:nvPr/>
        </p:nvCxnSpPr>
        <p:spPr>
          <a:xfrm>
            <a:off x="2240280" y="1965960"/>
            <a:ext cx="0" cy="27432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931920" y="2560320"/>
            <a:ext cx="320039"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94759" y="2331720"/>
            <a:ext cx="640080" cy="228600"/>
          </a:xfrm>
          <a:prstGeom prst="rect">
            <a:avLst/>
          </a:prstGeom>
          <a:noFill/>
        </p:spPr>
        <p:txBody>
          <a:bodyPr wrap="square" anchor="t">
            <a:spAutoFit/>
          </a:bodyPr>
          <a:lstStyle/>
          <a:p>
            <a:pPr algn="ctr">
              <a:spcAft>
                <a:spcPts val="0"/>
              </a:spcAft>
            </a:pPr>
            <a:r>
              <a:rPr sz="1000" b="0">
                <a:solidFill>
                  <a:srgbClr val="70AD47"/>
                </a:solidFill>
                <a:latin typeface="Calibri Light"/>
              </a:rPr>
              <a:t>yes</a:t>
            </a:r>
          </a:p>
        </p:txBody>
      </p:sp>
      <p:cxnSp>
        <p:nvCxnSpPr>
          <p:cNvPr id="13" name="Connector 12"/>
          <p:cNvCxnSpPr/>
          <p:nvPr/>
        </p:nvCxnSpPr>
        <p:spPr>
          <a:xfrm>
            <a:off x="2240280" y="2880360"/>
            <a:ext cx="0" cy="45720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331720" y="2926080"/>
            <a:ext cx="548640" cy="228600"/>
          </a:xfrm>
          <a:prstGeom prst="rect">
            <a:avLst/>
          </a:prstGeom>
          <a:noFill/>
        </p:spPr>
        <p:txBody>
          <a:bodyPr wrap="square" anchor="t">
            <a:spAutoFit/>
          </a:bodyPr>
          <a:lstStyle/>
          <a:p>
            <a:pPr algn="ctr">
              <a:spcAft>
                <a:spcPts val="0"/>
              </a:spcAft>
            </a:pPr>
            <a:r>
              <a:rPr sz="1000" b="0">
                <a:solidFill>
                  <a:srgbClr val="44546A"/>
                </a:solidFill>
                <a:latin typeface="Calibri Light"/>
              </a:rPr>
              <a:t>no</a:t>
            </a:r>
          </a:p>
        </p:txBody>
      </p:sp>
      <p:cxnSp>
        <p:nvCxnSpPr>
          <p:cNvPr id="15" name="Connector 14"/>
          <p:cNvCxnSpPr/>
          <p:nvPr/>
        </p:nvCxnSpPr>
        <p:spPr>
          <a:xfrm>
            <a:off x="2240280" y="3977639"/>
            <a:ext cx="0" cy="502921"/>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31720" y="4023360"/>
            <a:ext cx="548640" cy="228600"/>
          </a:xfrm>
          <a:prstGeom prst="rect">
            <a:avLst/>
          </a:prstGeom>
          <a:noFill/>
        </p:spPr>
        <p:txBody>
          <a:bodyPr wrap="square" anchor="t">
            <a:spAutoFit/>
          </a:bodyPr>
          <a:lstStyle/>
          <a:p>
            <a:pPr algn="ctr">
              <a:spcAft>
                <a:spcPts val="0"/>
              </a:spcAft>
            </a:pPr>
            <a:r>
              <a:rPr sz="1000" b="0">
                <a:solidFill>
                  <a:srgbClr val="70AD47"/>
                </a:solidFill>
                <a:latin typeface="Calibri Light"/>
              </a:rPr>
              <a:t>yes</a:t>
            </a:r>
          </a:p>
        </p:txBody>
      </p:sp>
      <p:sp>
        <p:nvSpPr>
          <p:cNvPr id="17" name="Freeform 16"/>
          <p:cNvSpPr/>
          <p:nvPr/>
        </p:nvSpPr>
        <p:spPr>
          <a:xfrm>
            <a:off x="100584" y="1828800"/>
            <a:ext cx="813815" cy="1828800"/>
          </a:xfrm>
          <a:custGeom>
            <a:avLst/>
            <a:gdLst/>
            <a:ahLst/>
            <a:cxnLst/>
            <a:rect l="l" t="t" r="r" b="b"/>
            <a:pathLst>
              <a:path w="1" h="2">
                <a:moveTo>
                  <a:pt x="1" y="2"/>
                </a:moveTo>
                <a:lnTo>
                  <a:pt x="0" y="2"/>
                </a:lnTo>
                <a:lnTo>
                  <a:pt x="0" y="0"/>
                </a:lnTo>
                <a:lnTo>
                  <a:pt x="1" y="0"/>
                </a:lnTo>
              </a:path>
            </a:pathLst>
          </a:custGeom>
          <a:noFill/>
          <a:ln w="25400">
            <a:solidFill>
              <a:srgbClr val="595959"/>
            </a:solidFill>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8288" y="2331720"/>
            <a:ext cx="502920" cy="228600"/>
          </a:xfrm>
          <a:prstGeom prst="rect">
            <a:avLst/>
          </a:prstGeom>
          <a:noFill/>
        </p:spPr>
        <p:txBody>
          <a:bodyPr wrap="square" anchor="t">
            <a:spAutoFit/>
          </a:bodyPr>
          <a:lstStyle/>
          <a:p>
            <a:pPr algn="ctr">
              <a:spcAft>
                <a:spcPts val="0"/>
              </a:spcAft>
            </a:pPr>
            <a:r>
              <a:rPr sz="1000" b="0">
                <a:solidFill>
                  <a:srgbClr val="595959"/>
                </a:solidFill>
                <a:latin typeface="Calibri Light"/>
              </a:rPr>
              <a:t>no</a:t>
            </a:r>
          </a:p>
        </p:txBody>
      </p:sp>
      <p:sp>
        <p:nvSpPr>
          <p:cNvPr id="19" name="Freeform 18"/>
          <p:cNvSpPr/>
          <p:nvPr/>
        </p:nvSpPr>
        <p:spPr>
          <a:xfrm>
            <a:off x="3657600" y="2743200"/>
            <a:ext cx="1828800" cy="914400"/>
          </a:xfrm>
          <a:custGeom>
            <a:avLst/>
            <a:gdLst/>
            <a:ahLst/>
            <a:cxnLst/>
            <a:rect l="l" t="t" r="r" b="b"/>
            <a:pathLst>
              <a:path w="2" h="1">
                <a:moveTo>
                  <a:pt x="2" y="0"/>
                </a:moveTo>
                <a:lnTo>
                  <a:pt x="2" y="1"/>
                </a:lnTo>
                <a:lnTo>
                  <a:pt x="0" y="1"/>
                </a:lnTo>
              </a:path>
            </a:pathLst>
          </a:custGeom>
          <a:noFill/>
          <a:ln w="22225">
            <a:solidFill>
              <a:srgbClr val="595959"/>
            </a:solidFill>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ig_topdown.png"/>
          <p:cNvPicPr>
            <a:picLocks noChangeAspect="1"/>
          </p:cNvPicPr>
          <p:nvPr/>
        </p:nvPicPr>
        <p:blipFill>
          <a:blip r:embed="rId3"/>
          <a:stretch>
            <a:fillRect/>
          </a:stretch>
        </p:blipFill>
        <p:spPr>
          <a:xfrm>
            <a:off x="6309360" y="1794115"/>
            <a:ext cx="5486400" cy="3452648"/>
          </a:xfrm>
          <a:prstGeom prst="rect">
            <a:avLst/>
          </a:prstGeom>
        </p:spPr>
      </p:pic>
      <p:sp>
        <p:nvSpPr>
          <p:cNvPr id="21" name="TextBox 20"/>
          <p:cNvSpPr txBox="1"/>
          <p:nvPr/>
        </p:nvSpPr>
        <p:spPr>
          <a:xfrm>
            <a:off x="6309360" y="5669280"/>
            <a:ext cx="5486400" cy="274320"/>
          </a:xfrm>
          <a:prstGeom prst="rect">
            <a:avLst/>
          </a:prstGeom>
          <a:noFill/>
        </p:spPr>
        <p:txBody>
          <a:bodyPr wrap="square" anchor="t">
            <a:spAutoFit/>
          </a:bodyPr>
          <a:lstStyle/>
          <a:p>
            <a:pPr algn="ctr">
              <a:spcAft>
                <a:spcPts val="600"/>
              </a:spcAft>
            </a:pPr>
            <a:r>
              <a:rPr sz="1000" b="0">
                <a:solidFill>
                  <a:srgbClr val="7F7F7F"/>
                </a:solidFill>
                <a:latin typeface="Calibri Light"/>
              </a:rPr>
              <a:t>Top-down: wide loops = spiral search, then the race (colored by speed)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Oswald"/>
              </a:rPr>
              <a:t>Phase 2 — Time-Optimal MPCC</a:t>
            </a:r>
          </a:p>
        </p:txBody>
      </p:sp>
      <p:sp>
        <p:nvSpPr>
          <p:cNvPr id="3" name="Rounded Rectangle 2"/>
          <p:cNvSpPr/>
          <p:nvPr/>
        </p:nvSpPr>
        <p:spPr>
          <a:xfrm>
            <a:off x="384048" y="274320"/>
            <a:ext cx="2926080" cy="310896"/>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100" b="1">
                <a:solidFill>
                  <a:srgbClr val="FFFFFF"/>
                </a:solidFill>
                <a:latin typeface="Calibri Light"/>
              </a:rPr>
              <a:t>Methodology</a:t>
            </a:r>
          </a:p>
        </p:txBody>
      </p:sp>
      <p:sp>
        <p:nvSpPr>
          <p:cNvPr id="4" name="TextBox 3"/>
          <p:cNvSpPr txBox="1"/>
          <p:nvPr/>
        </p:nvSpPr>
        <p:spPr>
          <a:xfrm>
            <a:off x="6583680" y="274320"/>
            <a:ext cx="3017520" cy="274320"/>
          </a:xfrm>
          <a:prstGeom prst="rect">
            <a:avLst/>
          </a:prstGeom>
          <a:noFill/>
        </p:spPr>
        <p:txBody>
          <a:bodyPr wrap="square" anchor="t">
            <a:spAutoFit/>
          </a:bodyPr>
          <a:lstStyle/>
          <a:p>
            <a:pPr algn="r">
              <a:spcAft>
                <a:spcPts val="600"/>
              </a:spcAft>
            </a:pPr>
            <a:r>
              <a:rPr sz="1000" b="0">
                <a:solidFill>
                  <a:srgbClr val="7F7F7F"/>
                </a:solidFill>
                <a:latin typeface="Calibri Light"/>
              </a:rPr>
              <a:t>Speaker: Deniz</a:t>
            </a:r>
          </a:p>
        </p:txBody>
      </p:sp>
      <p:sp>
        <p:nvSpPr>
          <p:cNvPr id="5" name="TextBox 4"/>
          <p:cNvSpPr txBox="1"/>
          <p:nvPr/>
        </p:nvSpPr>
        <p:spPr>
          <a:xfrm>
            <a:off x="502920" y="1417320"/>
            <a:ext cx="6035040" cy="4572000"/>
          </a:xfrm>
          <a:prstGeom prst="rect">
            <a:avLst/>
          </a:prstGeom>
          <a:noFill/>
        </p:spPr>
        <p:txBody>
          <a:bodyPr wrap="square">
            <a:spAutoFit/>
          </a:bodyPr>
          <a:lstStyle/>
          <a:p>
            <a:pPr>
              <a:spcAft>
                <a:spcPts val="900"/>
              </a:spcAft>
            </a:pPr>
            <a:r>
              <a:rPr sz="1600">
                <a:solidFill>
                  <a:srgbClr val="44546A"/>
                </a:solidFill>
                <a:latin typeface="Calibri Light"/>
              </a:rPr>
              <a:t>•  Fit a spline through the found gates; MPCC races along it.</a:t>
            </a:r>
          </a:p>
          <a:p>
            <a:pPr>
              <a:spcAft>
                <a:spcPts val="900"/>
              </a:spcAft>
            </a:pPr>
            <a:r>
              <a:rPr sz="1600">
                <a:solidFill>
                  <a:srgbClr val="44546A"/>
                </a:solidFill>
                <a:latin typeface="Calibri Light"/>
              </a:rPr>
              <a:t>•  Progress is a state; the solver is rewarded for progress, so speed is an output, not a fixed reference.</a:t>
            </a:r>
          </a:p>
          <a:p>
            <a:pPr>
              <a:spcAft>
                <a:spcPts val="900"/>
              </a:spcAft>
            </a:pPr>
            <a:r>
              <a:rPr sz="1600">
                <a:solidFill>
                  <a:srgbClr val="44546A"/>
                </a:solidFill>
                <a:latin typeface="Calibri Light"/>
              </a:rPr>
              <a:t>•  Respects the real limits: thrust, tilt, and a friction-circle speed cap in the turns.</a:t>
            </a:r>
          </a:p>
          <a:p>
            <a:pPr lvl="1">
              <a:spcAft>
                <a:spcPts val="900"/>
              </a:spcAft>
            </a:pPr>
            <a:r>
              <a:rPr sz="1500">
                <a:solidFill>
                  <a:srgbClr val="44546A"/>
                </a:solidFill>
                <a:latin typeface="Calibri Light"/>
              </a:rPr>
              <a:t>–  Gate-aware weight: track stiffly only at the gates, run free on the straights.</a:t>
            </a:r>
          </a:p>
          <a:p>
            <a:pPr lvl="1">
              <a:spcAft>
                <a:spcPts val="900"/>
              </a:spcAft>
            </a:pPr>
            <a:r>
              <a:rPr sz="1500">
                <a:solidFill>
                  <a:srgbClr val="44546A"/>
                </a:solidFill>
                <a:latin typeface="Calibri Light"/>
              </a:rPr>
              <a:t>–  Progress anchor: never skip a gate at a hairpin fold.</a:t>
            </a:r>
          </a:p>
          <a:p>
            <a:pPr>
              <a:spcAft>
                <a:spcPts val="900"/>
              </a:spcAft>
            </a:pPr>
            <a:r>
              <a:rPr sz="1600">
                <a:solidFill>
                  <a:srgbClr val="44546A"/>
                </a:solidFill>
                <a:latin typeface="Calibri Light"/>
              </a:rPr>
              <a:t>•  Solved in real time with acados (SQP-RTI) at 50 Hz.</a:t>
            </a:r>
          </a:p>
        </p:txBody>
      </p:sp>
      <p:cxnSp>
        <p:nvCxnSpPr>
          <p:cNvPr id="6" name="Connector 5"/>
          <p:cNvCxnSpPr/>
          <p:nvPr/>
        </p:nvCxnSpPr>
        <p:spPr>
          <a:xfrm flipV="1">
            <a:off x="6766560" y="2834640"/>
            <a:ext cx="4206240" cy="1188720"/>
          </a:xfrm>
          <a:prstGeom prst="line">
            <a:avLst/>
          </a:prstGeom>
          <a:ln w="38100">
            <a:solidFill>
              <a:srgbClr val="4472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424160" y="2514600"/>
            <a:ext cx="914400" cy="228600"/>
          </a:xfrm>
          <a:prstGeom prst="rect">
            <a:avLst/>
          </a:prstGeom>
          <a:noFill/>
        </p:spPr>
        <p:txBody>
          <a:bodyPr wrap="square" anchor="t">
            <a:spAutoFit/>
          </a:bodyPr>
          <a:lstStyle/>
          <a:p>
            <a:pPr algn="ctr">
              <a:spcAft>
                <a:spcPts val="0"/>
              </a:spcAft>
            </a:pPr>
            <a:r>
              <a:rPr sz="1100" b="0">
                <a:solidFill>
                  <a:srgbClr val="4472C4"/>
                </a:solidFill>
                <a:latin typeface="Calibri Light"/>
              </a:rPr>
              <a:t>path / tangent</a:t>
            </a:r>
          </a:p>
        </p:txBody>
      </p:sp>
      <p:sp>
        <p:nvSpPr>
          <p:cNvPr id="8" name="Oval 7"/>
          <p:cNvSpPr/>
          <p:nvPr/>
        </p:nvSpPr>
        <p:spPr>
          <a:xfrm>
            <a:off x="8458200" y="3520440"/>
            <a:ext cx="91440" cy="91440"/>
          </a:xfrm>
          <a:prstGeom prst="ellipse">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860536" y="2276856"/>
            <a:ext cx="109728" cy="109728"/>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V="1">
            <a:off x="8503920" y="3337560"/>
            <a:ext cx="594360" cy="228600"/>
          </a:xfrm>
          <a:prstGeom prst="line">
            <a:avLst/>
          </a:prstGeom>
          <a:ln w="317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8915400" y="2331720"/>
            <a:ext cx="182880" cy="1005840"/>
          </a:xfrm>
          <a:prstGeom prst="line">
            <a:avLst/>
          </a:prstGeom>
          <a:ln w="31750">
            <a:solidFill>
              <a:srgbClr val="70AD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321040" y="3621024"/>
            <a:ext cx="1097280" cy="228600"/>
          </a:xfrm>
          <a:prstGeom prst="rect">
            <a:avLst/>
          </a:prstGeom>
          <a:noFill/>
        </p:spPr>
        <p:txBody>
          <a:bodyPr wrap="square" anchor="t">
            <a:spAutoFit/>
          </a:bodyPr>
          <a:lstStyle/>
          <a:p>
            <a:pPr algn="ctr">
              <a:spcAft>
                <a:spcPts val="0"/>
              </a:spcAft>
            </a:pPr>
            <a:r>
              <a:rPr sz="1000" b="0">
                <a:solidFill>
                  <a:srgbClr val="44546A"/>
                </a:solidFill>
                <a:latin typeface="Calibri Light"/>
              </a:rPr>
              <a:t>p_ref</a:t>
            </a:r>
          </a:p>
        </p:txBody>
      </p:sp>
      <p:sp>
        <p:nvSpPr>
          <p:cNvPr id="13" name="TextBox 12"/>
          <p:cNvSpPr txBox="1"/>
          <p:nvPr/>
        </p:nvSpPr>
        <p:spPr>
          <a:xfrm>
            <a:off x="8823960" y="2057400"/>
            <a:ext cx="1097280" cy="228600"/>
          </a:xfrm>
          <a:prstGeom prst="rect">
            <a:avLst/>
          </a:prstGeom>
          <a:noFill/>
        </p:spPr>
        <p:txBody>
          <a:bodyPr wrap="square" anchor="t">
            <a:spAutoFit/>
          </a:bodyPr>
          <a:lstStyle/>
          <a:p>
            <a:pPr algn="ctr">
              <a:spcAft>
                <a:spcPts val="0"/>
              </a:spcAft>
            </a:pPr>
            <a:r>
              <a:rPr sz="1000" b="0">
                <a:solidFill>
                  <a:srgbClr val="C00000"/>
                </a:solidFill>
                <a:latin typeface="Calibri Light"/>
              </a:rPr>
              <a:t>drone p</a:t>
            </a:r>
          </a:p>
        </p:txBody>
      </p:sp>
      <p:sp>
        <p:nvSpPr>
          <p:cNvPr id="14" name="TextBox 13"/>
          <p:cNvSpPr txBox="1"/>
          <p:nvPr/>
        </p:nvSpPr>
        <p:spPr>
          <a:xfrm>
            <a:off x="8778240" y="3355848"/>
            <a:ext cx="914400" cy="228600"/>
          </a:xfrm>
          <a:prstGeom prst="rect">
            <a:avLst/>
          </a:prstGeom>
          <a:noFill/>
        </p:spPr>
        <p:txBody>
          <a:bodyPr wrap="square" anchor="t">
            <a:spAutoFit/>
          </a:bodyPr>
          <a:lstStyle/>
          <a:p>
            <a:pPr algn="ctr">
              <a:spcAft>
                <a:spcPts val="0"/>
              </a:spcAft>
            </a:pPr>
            <a:r>
              <a:rPr sz="1100" b="0">
                <a:solidFill>
                  <a:srgbClr val="ED7D31"/>
                </a:solidFill>
                <a:latin typeface="Calibri Light"/>
              </a:rPr>
              <a:t>e_l</a:t>
            </a:r>
          </a:p>
        </p:txBody>
      </p:sp>
      <p:sp>
        <p:nvSpPr>
          <p:cNvPr id="15" name="TextBox 14"/>
          <p:cNvSpPr txBox="1"/>
          <p:nvPr/>
        </p:nvSpPr>
        <p:spPr>
          <a:xfrm>
            <a:off x="9144000" y="2651760"/>
            <a:ext cx="731520" cy="228600"/>
          </a:xfrm>
          <a:prstGeom prst="rect">
            <a:avLst/>
          </a:prstGeom>
          <a:noFill/>
        </p:spPr>
        <p:txBody>
          <a:bodyPr wrap="square" anchor="t">
            <a:spAutoFit/>
          </a:bodyPr>
          <a:lstStyle/>
          <a:p>
            <a:pPr algn="ctr">
              <a:spcAft>
                <a:spcPts val="0"/>
              </a:spcAft>
            </a:pPr>
            <a:r>
              <a:rPr sz="1100" b="0">
                <a:solidFill>
                  <a:srgbClr val="70AD47"/>
                </a:solidFill>
                <a:latin typeface="Calibri Light"/>
              </a:rPr>
              <a:t>e_c</a:t>
            </a:r>
          </a:p>
        </p:txBody>
      </p:sp>
      <p:sp>
        <p:nvSpPr>
          <p:cNvPr id="16" name="TextBox 15"/>
          <p:cNvSpPr txBox="1"/>
          <p:nvPr/>
        </p:nvSpPr>
        <p:spPr>
          <a:xfrm>
            <a:off x="6583680" y="5623560"/>
            <a:ext cx="4937760" cy="274320"/>
          </a:xfrm>
          <a:prstGeom prst="rect">
            <a:avLst/>
          </a:prstGeom>
          <a:noFill/>
        </p:spPr>
        <p:txBody>
          <a:bodyPr wrap="square" anchor="t">
            <a:spAutoFit/>
          </a:bodyPr>
          <a:lstStyle/>
          <a:p>
            <a:pPr algn="ctr">
              <a:spcAft>
                <a:spcPts val="600"/>
              </a:spcAft>
            </a:pPr>
            <a:r>
              <a:rPr sz="1000" b="0">
                <a:solidFill>
                  <a:srgbClr val="7F7F7F"/>
                </a:solidFill>
                <a:latin typeface="Calibri Light"/>
              </a:rPr>
              <a:t>Contouring geometry: lag e_l along the path, contouring e_c across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Oswald"/>
              </a:rPr>
              <a:t>Results — Randomized Level 3</a:t>
            </a:r>
          </a:p>
        </p:txBody>
      </p:sp>
      <p:sp>
        <p:nvSpPr>
          <p:cNvPr id="3" name="Rounded Rectangle 2"/>
          <p:cNvSpPr/>
          <p:nvPr/>
        </p:nvSpPr>
        <p:spPr>
          <a:xfrm>
            <a:off x="384048" y="274320"/>
            <a:ext cx="2926080" cy="310896"/>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100" b="1">
                <a:solidFill>
                  <a:srgbClr val="FFFFFF"/>
                </a:solidFill>
                <a:latin typeface="Calibri Light"/>
              </a:rPr>
              <a:t>Results</a:t>
            </a:r>
          </a:p>
        </p:txBody>
      </p:sp>
      <p:sp>
        <p:nvSpPr>
          <p:cNvPr id="4" name="TextBox 3"/>
          <p:cNvSpPr txBox="1"/>
          <p:nvPr/>
        </p:nvSpPr>
        <p:spPr>
          <a:xfrm>
            <a:off x="6583680" y="274320"/>
            <a:ext cx="3017520" cy="274320"/>
          </a:xfrm>
          <a:prstGeom prst="rect">
            <a:avLst/>
          </a:prstGeom>
          <a:noFill/>
        </p:spPr>
        <p:txBody>
          <a:bodyPr wrap="square" anchor="t">
            <a:spAutoFit/>
          </a:bodyPr>
          <a:lstStyle/>
          <a:p>
            <a:pPr algn="r">
              <a:spcAft>
                <a:spcPts val="600"/>
              </a:spcAft>
            </a:pPr>
            <a:r>
              <a:rPr sz="1000" b="0">
                <a:solidFill>
                  <a:srgbClr val="7F7F7F"/>
                </a:solidFill>
                <a:latin typeface="Calibri Light"/>
              </a:rPr>
              <a:t>Speaker: Deniz</a:t>
            </a:r>
          </a:p>
        </p:txBody>
      </p:sp>
      <p:graphicFrame>
        <p:nvGraphicFramePr>
          <p:cNvPr id="5" name="Table 4"/>
          <p:cNvGraphicFramePr>
            <a:graphicFrameLocks noGrp="1"/>
          </p:cNvGraphicFramePr>
          <p:nvPr/>
        </p:nvGraphicFramePr>
        <p:xfrm>
          <a:off x="457200" y="1554480"/>
          <a:ext cx="6766560" cy="29260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487680">
                <a:tc>
                  <a:txBody>
                    <a:bodyPr/>
                    <a:lstStyle/>
                    <a:p>
                      <a:pPr algn="l"/>
                      <a:r>
                        <a:rPr sz="1200" b="1">
                          <a:solidFill>
                            <a:srgbClr val="FFFFFF"/>
                          </a:solidFill>
                          <a:latin typeface="Calibri Light"/>
                        </a:rPr>
                        <a:t>Setting</a:t>
                      </a:r>
                    </a:p>
                  </a:txBody>
                  <a:tcPr anchor="ctr">
                    <a:solidFill>
                      <a:srgbClr val="44546A"/>
                    </a:solidFill>
                  </a:tcPr>
                </a:tc>
                <a:tc>
                  <a:txBody>
                    <a:bodyPr/>
                    <a:lstStyle/>
                    <a:p>
                      <a:pPr algn="l"/>
                      <a:r>
                        <a:rPr sz="1200" b="1">
                          <a:solidFill>
                            <a:srgbClr val="FFFFFF"/>
                          </a:solidFill>
                          <a:latin typeface="Calibri Light"/>
                        </a:rPr>
                        <a:t>Track</a:t>
                      </a:r>
                    </a:p>
                  </a:txBody>
                  <a:tcPr anchor="ctr">
                    <a:solidFill>
                      <a:srgbClr val="44546A"/>
                    </a:solidFill>
                  </a:tcPr>
                </a:tc>
                <a:tc>
                  <a:txBody>
                    <a:bodyPr/>
                    <a:lstStyle/>
                    <a:p>
                      <a:pPr algn="ctr"/>
                      <a:r>
                        <a:rPr sz="1200" b="1">
                          <a:solidFill>
                            <a:srgbClr val="FFFFFF"/>
                          </a:solidFill>
                          <a:latin typeface="Calibri Light"/>
                        </a:rPr>
                        <a:t>Success</a:t>
                      </a:r>
                    </a:p>
                  </a:txBody>
                  <a:tcPr anchor="ctr">
                    <a:solidFill>
                      <a:srgbClr val="44546A"/>
                    </a:solidFill>
                  </a:tcPr>
                </a:tc>
                <a:tc>
                  <a:txBody>
                    <a:bodyPr/>
                    <a:lstStyle/>
                    <a:p>
                      <a:pPr algn="ctr"/>
                      <a:r>
                        <a:rPr sz="1200" b="1">
                          <a:solidFill>
                            <a:srgbClr val="FFFFFF"/>
                          </a:solidFill>
                          <a:latin typeface="Calibri Light"/>
                        </a:rPr>
                        <a:t>Lap (s)</a:t>
                      </a:r>
                    </a:p>
                  </a:txBody>
                  <a:tcPr anchor="ctr">
                    <a:solidFill>
                      <a:srgbClr val="44546A"/>
                    </a:solidFill>
                  </a:tcPr>
                </a:tc>
                <a:extLst>
                  <a:ext uri="{0D108BD9-81ED-4DB2-BD59-A6C34878D82A}">
                    <a16:rowId xmlns:a16="http://schemas.microsoft.com/office/drawing/2014/main" val="10000"/>
                  </a:ext>
                </a:extLst>
              </a:tr>
              <a:tr h="487680">
                <a:tc>
                  <a:txBody>
                    <a:bodyPr/>
                    <a:lstStyle/>
                    <a:p>
                      <a:pPr algn="l"/>
                      <a:r>
                        <a:rPr sz="1200" b="0">
                          <a:solidFill>
                            <a:srgbClr val="44546A"/>
                          </a:solidFill>
                          <a:latin typeface="Calibri Light"/>
                        </a:rPr>
                        <a:t>v24_r10</a:t>
                      </a:r>
                    </a:p>
                  </a:txBody>
                  <a:tcPr anchor="ctr">
                    <a:solidFill>
                      <a:srgbClr val="EEF1F6"/>
                    </a:solidFill>
                  </a:tcPr>
                </a:tc>
                <a:tc>
                  <a:txBody>
                    <a:bodyPr/>
                    <a:lstStyle/>
                    <a:p>
                      <a:pPr algn="l"/>
                      <a:r>
                        <a:rPr sz="1200" b="0">
                          <a:solidFill>
                            <a:srgbClr val="44546A"/>
                          </a:solidFill>
                          <a:latin typeface="Calibri Light"/>
                        </a:rPr>
                        <a:t>level3.toml</a:t>
                      </a:r>
                    </a:p>
                  </a:txBody>
                  <a:tcPr anchor="ctr">
                    <a:solidFill>
                      <a:srgbClr val="EEF1F6"/>
                    </a:solidFill>
                  </a:tcPr>
                </a:tc>
                <a:tc>
                  <a:txBody>
                    <a:bodyPr/>
                    <a:lstStyle/>
                    <a:p>
                      <a:pPr algn="ctr"/>
                      <a:r>
                        <a:rPr sz="1200" b="0">
                          <a:solidFill>
                            <a:srgbClr val="44546A"/>
                          </a:solidFill>
                          <a:latin typeface="Calibri Light"/>
                        </a:rPr>
                        <a:t>12 / 20</a:t>
                      </a:r>
                    </a:p>
                  </a:txBody>
                  <a:tcPr anchor="ctr">
                    <a:solidFill>
                      <a:srgbClr val="EEF1F6"/>
                    </a:solidFill>
                  </a:tcPr>
                </a:tc>
                <a:tc>
                  <a:txBody>
                    <a:bodyPr/>
                    <a:lstStyle/>
                    <a:p>
                      <a:pPr algn="ctr"/>
                      <a:r>
                        <a:rPr sz="1200" b="0">
                          <a:solidFill>
                            <a:srgbClr val="44546A"/>
                          </a:solidFill>
                          <a:latin typeface="Calibri Light"/>
                        </a:rPr>
                        <a:t>18.8</a:t>
                      </a:r>
                    </a:p>
                  </a:txBody>
                  <a:tcPr anchor="ctr">
                    <a:solidFill>
                      <a:srgbClr val="EEF1F6"/>
                    </a:solidFill>
                  </a:tcPr>
                </a:tc>
                <a:extLst>
                  <a:ext uri="{0D108BD9-81ED-4DB2-BD59-A6C34878D82A}">
                    <a16:rowId xmlns:a16="http://schemas.microsoft.com/office/drawing/2014/main" val="10001"/>
                  </a:ext>
                </a:extLst>
              </a:tr>
              <a:tr h="487680">
                <a:tc>
                  <a:txBody>
                    <a:bodyPr/>
                    <a:lstStyle/>
                    <a:p>
                      <a:pPr algn="l"/>
                      <a:r>
                        <a:rPr sz="1200" b="0">
                          <a:solidFill>
                            <a:srgbClr val="44546A"/>
                          </a:solidFill>
                          <a:latin typeface="Calibri Light"/>
                        </a:rPr>
                        <a:t>v24_r10_fast</a:t>
                      </a:r>
                    </a:p>
                  </a:txBody>
                  <a:tcPr anchor="ctr">
                    <a:solidFill>
                      <a:srgbClr val="FFFFFF"/>
                    </a:solidFill>
                  </a:tcPr>
                </a:tc>
                <a:tc>
                  <a:txBody>
                    <a:bodyPr/>
                    <a:lstStyle/>
                    <a:p>
                      <a:pPr algn="l"/>
                      <a:r>
                        <a:rPr sz="1200" b="0">
                          <a:solidFill>
                            <a:srgbClr val="44546A"/>
                          </a:solidFill>
                          <a:latin typeface="Calibri Light"/>
                        </a:rPr>
                        <a:t>level3.toml</a:t>
                      </a:r>
                    </a:p>
                  </a:txBody>
                  <a:tcPr anchor="ctr">
                    <a:solidFill>
                      <a:srgbClr val="FFFFFF"/>
                    </a:solidFill>
                  </a:tcPr>
                </a:tc>
                <a:tc>
                  <a:txBody>
                    <a:bodyPr/>
                    <a:lstStyle/>
                    <a:p>
                      <a:pPr algn="ctr"/>
                      <a:r>
                        <a:rPr sz="1200" b="0">
                          <a:solidFill>
                            <a:srgbClr val="44546A"/>
                          </a:solidFill>
                          <a:latin typeface="Calibri Light"/>
                        </a:rPr>
                        <a:t>10 / 20</a:t>
                      </a:r>
                    </a:p>
                  </a:txBody>
                  <a:tcPr anchor="ctr">
                    <a:solidFill>
                      <a:srgbClr val="FFFFFF"/>
                    </a:solidFill>
                  </a:tcPr>
                </a:tc>
                <a:tc>
                  <a:txBody>
                    <a:bodyPr/>
                    <a:lstStyle/>
                    <a:p>
                      <a:pPr algn="ctr"/>
                      <a:r>
                        <a:rPr sz="1200" b="0">
                          <a:solidFill>
                            <a:srgbClr val="44546A"/>
                          </a:solidFill>
                          <a:latin typeface="Calibri Light"/>
                        </a:rPr>
                        <a:t>12.8</a:t>
                      </a:r>
                    </a:p>
                  </a:txBody>
                  <a:tcPr anchor="ctr">
                    <a:solidFill>
                      <a:srgbClr val="FFFFFF"/>
                    </a:solidFill>
                  </a:tcPr>
                </a:tc>
                <a:extLst>
                  <a:ext uri="{0D108BD9-81ED-4DB2-BD59-A6C34878D82A}">
                    <a16:rowId xmlns:a16="http://schemas.microsoft.com/office/drawing/2014/main" val="10002"/>
                  </a:ext>
                </a:extLst>
              </a:tr>
              <a:tr h="487680">
                <a:tc>
                  <a:txBody>
                    <a:bodyPr/>
                    <a:lstStyle/>
                    <a:p>
                      <a:pPr algn="l"/>
                      <a:r>
                        <a:rPr sz="1200" b="0">
                          <a:solidFill>
                            <a:srgbClr val="44546A"/>
                          </a:solidFill>
                          <a:latin typeface="Calibri Light"/>
                        </a:rPr>
                        <a:t>v24_r10</a:t>
                      </a:r>
                    </a:p>
                  </a:txBody>
                  <a:tcPr anchor="ctr">
                    <a:solidFill>
                      <a:srgbClr val="EEF1F6"/>
                    </a:solidFill>
                  </a:tcPr>
                </a:tc>
                <a:tc>
                  <a:txBody>
                    <a:bodyPr/>
                    <a:lstStyle/>
                    <a:p>
                      <a:pPr algn="l"/>
                      <a:r>
                        <a:rPr sz="1200" b="0">
                          <a:solidFill>
                            <a:srgbClr val="44546A"/>
                          </a:solidFill>
                          <a:latin typeface="Calibri Light"/>
                        </a:rPr>
                        <a:t>final.toml (graded)</a:t>
                      </a:r>
                    </a:p>
                  </a:txBody>
                  <a:tcPr anchor="ctr">
                    <a:solidFill>
                      <a:srgbClr val="EEF1F6"/>
                    </a:solidFill>
                  </a:tcPr>
                </a:tc>
                <a:tc>
                  <a:txBody>
                    <a:bodyPr/>
                    <a:lstStyle/>
                    <a:p>
                      <a:pPr algn="ctr"/>
                      <a:r>
                        <a:rPr sz="1200" b="0">
                          <a:solidFill>
                            <a:srgbClr val="44546A"/>
                          </a:solidFill>
                          <a:latin typeface="Calibri Light"/>
                        </a:rPr>
                        <a:t>17 / 20</a:t>
                      </a:r>
                    </a:p>
                  </a:txBody>
                  <a:tcPr anchor="ctr">
                    <a:solidFill>
                      <a:srgbClr val="EEF1F6"/>
                    </a:solidFill>
                  </a:tcPr>
                </a:tc>
                <a:tc>
                  <a:txBody>
                    <a:bodyPr/>
                    <a:lstStyle/>
                    <a:p>
                      <a:pPr algn="ctr"/>
                      <a:r>
                        <a:rPr sz="1200" b="0">
                          <a:solidFill>
                            <a:srgbClr val="44546A"/>
                          </a:solidFill>
                          <a:latin typeface="Calibri Light"/>
                        </a:rPr>
                        <a:t>26.9</a:t>
                      </a:r>
                    </a:p>
                  </a:txBody>
                  <a:tcPr anchor="ctr">
                    <a:solidFill>
                      <a:srgbClr val="EEF1F6"/>
                    </a:solidFill>
                  </a:tcPr>
                </a:tc>
                <a:extLst>
                  <a:ext uri="{0D108BD9-81ED-4DB2-BD59-A6C34878D82A}">
                    <a16:rowId xmlns:a16="http://schemas.microsoft.com/office/drawing/2014/main" val="10003"/>
                  </a:ext>
                </a:extLst>
              </a:tr>
              <a:tr h="487680">
                <a:tc>
                  <a:txBody>
                    <a:bodyPr/>
                    <a:lstStyle/>
                    <a:p>
                      <a:pPr algn="l"/>
                      <a:r>
                        <a:rPr sz="1200" b="0">
                          <a:solidFill>
                            <a:srgbClr val="44546A"/>
                          </a:solidFill>
                          <a:latin typeface="Calibri Light"/>
                        </a:rPr>
                        <a:t>v24_r10_fast</a:t>
                      </a:r>
                    </a:p>
                  </a:txBody>
                  <a:tcPr anchor="ctr">
                    <a:solidFill>
                      <a:srgbClr val="FCE7D5"/>
                    </a:solidFill>
                  </a:tcPr>
                </a:tc>
                <a:tc>
                  <a:txBody>
                    <a:bodyPr/>
                    <a:lstStyle/>
                    <a:p>
                      <a:pPr algn="l"/>
                      <a:r>
                        <a:rPr sz="1200" b="0">
                          <a:solidFill>
                            <a:srgbClr val="44546A"/>
                          </a:solidFill>
                          <a:latin typeface="Calibri Light"/>
                        </a:rPr>
                        <a:t>final.toml (graded)</a:t>
                      </a:r>
                    </a:p>
                  </a:txBody>
                  <a:tcPr anchor="ctr">
                    <a:solidFill>
                      <a:srgbClr val="FCE7D5"/>
                    </a:solidFill>
                  </a:tcPr>
                </a:tc>
                <a:tc>
                  <a:txBody>
                    <a:bodyPr/>
                    <a:lstStyle/>
                    <a:p>
                      <a:pPr algn="ctr"/>
                      <a:r>
                        <a:rPr sz="1200" b="0">
                          <a:solidFill>
                            <a:srgbClr val="44546A"/>
                          </a:solidFill>
                          <a:latin typeface="Calibri Light"/>
                        </a:rPr>
                        <a:t>14 / 20</a:t>
                      </a:r>
                    </a:p>
                  </a:txBody>
                  <a:tcPr anchor="ctr">
                    <a:solidFill>
                      <a:srgbClr val="FCE7D5"/>
                    </a:solidFill>
                  </a:tcPr>
                </a:tc>
                <a:tc>
                  <a:txBody>
                    <a:bodyPr/>
                    <a:lstStyle/>
                    <a:p>
                      <a:pPr algn="ctr"/>
                      <a:r>
                        <a:rPr sz="1200" b="0">
                          <a:solidFill>
                            <a:srgbClr val="44546A"/>
                          </a:solidFill>
                          <a:latin typeface="Calibri Light"/>
                        </a:rPr>
                        <a:t>18.4</a:t>
                      </a:r>
                    </a:p>
                  </a:txBody>
                  <a:tcPr anchor="ctr">
                    <a:solidFill>
                      <a:srgbClr val="FCE7D5"/>
                    </a:solidFill>
                  </a:tcPr>
                </a:tc>
                <a:extLst>
                  <a:ext uri="{0D108BD9-81ED-4DB2-BD59-A6C34878D82A}">
                    <a16:rowId xmlns:a16="http://schemas.microsoft.com/office/drawing/2014/main" val="10004"/>
                  </a:ext>
                </a:extLst>
              </a:tr>
              <a:tr h="487680">
                <a:tc>
                  <a:txBody>
                    <a:bodyPr/>
                    <a:lstStyle/>
                    <a:p>
                      <a:pPr algn="l"/>
                      <a:r>
                        <a:rPr sz="1200" b="0">
                          <a:solidFill>
                            <a:srgbClr val="44546A"/>
                          </a:solidFill>
                          <a:latin typeface="Calibri Light"/>
                        </a:rPr>
                        <a:t>v24_r10_nosearch</a:t>
                      </a:r>
                    </a:p>
                  </a:txBody>
                  <a:tcPr anchor="ctr">
                    <a:solidFill>
                      <a:srgbClr val="EEF1F6"/>
                    </a:solidFill>
                  </a:tcPr>
                </a:tc>
                <a:tc>
                  <a:txBody>
                    <a:bodyPr/>
                    <a:lstStyle/>
                    <a:p>
                      <a:pPr algn="l"/>
                      <a:r>
                        <a:rPr sz="1200" b="0">
                          <a:solidFill>
                            <a:srgbClr val="44546A"/>
                          </a:solidFill>
                          <a:latin typeface="Calibri Light"/>
                        </a:rPr>
                        <a:t>final.toml (graded)</a:t>
                      </a:r>
                    </a:p>
                  </a:txBody>
                  <a:tcPr anchor="ctr">
                    <a:solidFill>
                      <a:srgbClr val="EEF1F6"/>
                    </a:solidFill>
                  </a:tcPr>
                </a:tc>
                <a:tc>
                  <a:txBody>
                    <a:bodyPr/>
                    <a:lstStyle/>
                    <a:p>
                      <a:pPr algn="ctr"/>
                      <a:r>
                        <a:rPr sz="1200" b="0">
                          <a:solidFill>
                            <a:srgbClr val="44546A"/>
                          </a:solidFill>
                          <a:latin typeface="Calibri Light"/>
                        </a:rPr>
                        <a:t>11 / 20</a:t>
                      </a:r>
                    </a:p>
                  </a:txBody>
                  <a:tcPr anchor="ctr">
                    <a:solidFill>
                      <a:srgbClr val="EEF1F6"/>
                    </a:solidFill>
                  </a:tcPr>
                </a:tc>
                <a:tc>
                  <a:txBody>
                    <a:bodyPr/>
                    <a:lstStyle/>
                    <a:p>
                      <a:pPr algn="ctr"/>
                      <a:r>
                        <a:rPr sz="1200" b="0">
                          <a:solidFill>
                            <a:srgbClr val="44546A"/>
                          </a:solidFill>
                          <a:latin typeface="Calibri Light"/>
                        </a:rPr>
                        <a:t>8.7</a:t>
                      </a:r>
                    </a:p>
                  </a:txBody>
                  <a:tcPr anchor="ctr">
                    <a:solidFill>
                      <a:srgbClr val="EEF1F6"/>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457200" y="4754880"/>
            <a:ext cx="6766560" cy="1645920"/>
          </a:xfrm>
          <a:prstGeom prst="rect">
            <a:avLst/>
          </a:prstGeom>
          <a:noFill/>
        </p:spPr>
        <p:txBody>
          <a:bodyPr wrap="square">
            <a:spAutoFit/>
          </a:bodyPr>
          <a:lstStyle/>
          <a:p>
            <a:pPr>
              <a:spcAft>
                <a:spcPts val="600"/>
              </a:spcAft>
            </a:pPr>
            <a:r>
              <a:rPr sz="1300">
                <a:solidFill>
                  <a:srgbClr val="44546A"/>
                </a:solidFill>
                <a:latin typeface="Calibri Light"/>
              </a:rPr>
              <a:t>•  Graded track: fast setting clears 14/20 (70%) at 18.4 s — our headline.</a:t>
            </a:r>
          </a:p>
          <a:p>
            <a:pPr>
              <a:spcAft>
                <a:spcPts val="600"/>
              </a:spcAft>
            </a:pPr>
            <a:r>
              <a:rPr sz="1300">
                <a:solidFill>
                  <a:srgbClr val="44546A"/>
                </a:solidFill>
                <a:latin typeface="Calibri Light"/>
              </a:rPr>
              <a:t>•  Robust setting is most reliable (17/20) but slower; no-search is fastest (8.7 s) when a prior exists.</a:t>
            </a:r>
          </a:p>
        </p:txBody>
      </p:sp>
      <p:pic>
        <p:nvPicPr>
          <p:cNvPr id="7" name="Picture 6" descr="fig_speed.png"/>
          <p:cNvPicPr>
            <a:picLocks noChangeAspect="1"/>
          </p:cNvPicPr>
          <p:nvPr/>
        </p:nvPicPr>
        <p:blipFill>
          <a:blip r:embed="rId3"/>
          <a:stretch>
            <a:fillRect/>
          </a:stretch>
        </p:blipFill>
        <p:spPr>
          <a:xfrm>
            <a:off x="7360920" y="2057400"/>
            <a:ext cx="4389120" cy="2194560"/>
          </a:xfrm>
          <a:prstGeom prst="rect">
            <a:avLst/>
          </a:prstGeom>
        </p:spPr>
      </p:pic>
      <p:sp>
        <p:nvSpPr>
          <p:cNvPr id="8" name="TextBox 7"/>
          <p:cNvSpPr txBox="1"/>
          <p:nvPr/>
        </p:nvSpPr>
        <p:spPr>
          <a:xfrm>
            <a:off x="7360920" y="4800600"/>
            <a:ext cx="4389120" cy="274320"/>
          </a:xfrm>
          <a:prstGeom prst="rect">
            <a:avLst/>
          </a:prstGeom>
          <a:noFill/>
        </p:spPr>
        <p:txBody>
          <a:bodyPr wrap="square" anchor="t">
            <a:spAutoFit/>
          </a:bodyPr>
          <a:lstStyle/>
          <a:p>
            <a:pPr algn="ctr">
              <a:spcAft>
                <a:spcPts val="600"/>
              </a:spcAft>
            </a:pPr>
            <a:r>
              <a:rPr sz="1000" b="0">
                <a:solidFill>
                  <a:srgbClr val="7F7F7F"/>
                </a:solidFill>
                <a:latin typeface="Calibri Light"/>
              </a:rPr>
              <a:t>Speed vs time: long low-speed search, then a short fast race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Oswald"/>
              </a:rPr>
              <a:t>Flight Paths in Simulation</a:t>
            </a:r>
          </a:p>
        </p:txBody>
      </p:sp>
      <p:sp>
        <p:nvSpPr>
          <p:cNvPr id="3" name="Rounded Rectangle 2"/>
          <p:cNvSpPr/>
          <p:nvPr/>
        </p:nvSpPr>
        <p:spPr>
          <a:xfrm>
            <a:off x="384048" y="274320"/>
            <a:ext cx="2926080" cy="310896"/>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100" b="1">
                <a:solidFill>
                  <a:srgbClr val="FFFFFF"/>
                </a:solidFill>
                <a:latin typeface="Calibri Light"/>
              </a:rPr>
              <a:t>Results</a:t>
            </a:r>
          </a:p>
        </p:txBody>
      </p:sp>
      <p:sp>
        <p:nvSpPr>
          <p:cNvPr id="4" name="TextBox 3"/>
          <p:cNvSpPr txBox="1"/>
          <p:nvPr/>
        </p:nvSpPr>
        <p:spPr>
          <a:xfrm>
            <a:off x="6583680" y="274320"/>
            <a:ext cx="3017520" cy="274320"/>
          </a:xfrm>
          <a:prstGeom prst="rect">
            <a:avLst/>
          </a:prstGeom>
          <a:noFill/>
        </p:spPr>
        <p:txBody>
          <a:bodyPr wrap="square" anchor="t">
            <a:spAutoFit/>
          </a:bodyPr>
          <a:lstStyle/>
          <a:p>
            <a:pPr algn="r">
              <a:spcAft>
                <a:spcPts val="600"/>
              </a:spcAft>
            </a:pPr>
            <a:r>
              <a:rPr sz="1000" b="0">
                <a:solidFill>
                  <a:srgbClr val="7F7F7F"/>
                </a:solidFill>
                <a:latin typeface="Calibri Light"/>
              </a:rPr>
              <a:t>Speaker: Deniz</a:t>
            </a:r>
          </a:p>
        </p:txBody>
      </p:sp>
      <p:pic>
        <p:nvPicPr>
          <p:cNvPr id="5" name="Picture 4" descr="fig_topdown.png"/>
          <p:cNvPicPr>
            <a:picLocks noChangeAspect="1"/>
          </p:cNvPicPr>
          <p:nvPr/>
        </p:nvPicPr>
        <p:blipFill>
          <a:blip r:embed="rId3"/>
          <a:stretch>
            <a:fillRect/>
          </a:stretch>
        </p:blipFill>
        <p:spPr>
          <a:xfrm>
            <a:off x="365760" y="1828011"/>
            <a:ext cx="5669280" cy="3567736"/>
          </a:xfrm>
          <a:prstGeom prst="rect">
            <a:avLst/>
          </a:prstGeom>
        </p:spPr>
      </p:pic>
      <p:sp>
        <p:nvSpPr>
          <p:cNvPr id="6" name="TextBox 5"/>
          <p:cNvSpPr txBox="1"/>
          <p:nvPr/>
        </p:nvSpPr>
        <p:spPr>
          <a:xfrm>
            <a:off x="365760" y="5715000"/>
            <a:ext cx="5669280" cy="274320"/>
          </a:xfrm>
          <a:prstGeom prst="rect">
            <a:avLst/>
          </a:prstGeom>
          <a:noFill/>
        </p:spPr>
        <p:txBody>
          <a:bodyPr wrap="square" anchor="t">
            <a:spAutoFit/>
          </a:bodyPr>
          <a:lstStyle/>
          <a:p>
            <a:pPr algn="ctr">
              <a:spcAft>
                <a:spcPts val="600"/>
              </a:spcAft>
            </a:pPr>
            <a:r>
              <a:rPr sz="1000" b="0">
                <a:solidFill>
                  <a:srgbClr val="7F7F7F"/>
                </a:solidFill>
                <a:latin typeface="Calibri Light"/>
              </a:rPr>
              <a:t>Top-down — search loops then race, colored by speed</a:t>
            </a:r>
          </a:p>
        </p:txBody>
      </p:sp>
      <p:pic>
        <p:nvPicPr>
          <p:cNvPr id="7" name="Picture 6" descr="fig_3d.png"/>
          <p:cNvPicPr>
            <a:picLocks noChangeAspect="1"/>
          </p:cNvPicPr>
          <p:nvPr/>
        </p:nvPicPr>
        <p:blipFill>
          <a:blip r:embed="rId4"/>
          <a:stretch>
            <a:fillRect/>
          </a:stretch>
        </p:blipFill>
        <p:spPr>
          <a:xfrm>
            <a:off x="6175470" y="1463040"/>
            <a:ext cx="5571299" cy="4297680"/>
          </a:xfrm>
          <a:prstGeom prst="rect">
            <a:avLst/>
          </a:prstGeom>
        </p:spPr>
      </p:pic>
      <p:sp>
        <p:nvSpPr>
          <p:cNvPr id="8" name="TextBox 7"/>
          <p:cNvSpPr txBox="1"/>
          <p:nvPr/>
        </p:nvSpPr>
        <p:spPr>
          <a:xfrm>
            <a:off x="6126480" y="5715000"/>
            <a:ext cx="5669280" cy="274320"/>
          </a:xfrm>
          <a:prstGeom prst="rect">
            <a:avLst/>
          </a:prstGeom>
          <a:noFill/>
        </p:spPr>
        <p:txBody>
          <a:bodyPr wrap="square" anchor="t">
            <a:spAutoFit/>
          </a:bodyPr>
          <a:lstStyle/>
          <a:p>
            <a:pPr algn="ctr">
              <a:spcAft>
                <a:spcPts val="600"/>
              </a:spcAft>
            </a:pPr>
            <a:r>
              <a:rPr sz="1000" b="0">
                <a:solidFill>
                  <a:srgbClr val="7F7F7F"/>
                </a:solidFill>
                <a:latin typeface="Calibri Light"/>
              </a:rPr>
              <a:t>3D — spiral runs high above the poles, then descends to race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Oswald"/>
              </a:rPr>
              <a:t>Seeing It Fly — Simulation and Hardware</a:t>
            </a:r>
          </a:p>
        </p:txBody>
      </p:sp>
      <p:sp>
        <p:nvSpPr>
          <p:cNvPr id="3" name="Rounded Rectangle 2"/>
          <p:cNvSpPr/>
          <p:nvPr/>
        </p:nvSpPr>
        <p:spPr>
          <a:xfrm>
            <a:off x="384048" y="274320"/>
            <a:ext cx="2926080" cy="310896"/>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100" b="1">
                <a:solidFill>
                  <a:srgbClr val="FFFFFF"/>
                </a:solidFill>
                <a:latin typeface="Calibri Light"/>
              </a:rPr>
              <a:t>Demo</a:t>
            </a:r>
          </a:p>
        </p:txBody>
      </p:sp>
      <p:sp>
        <p:nvSpPr>
          <p:cNvPr id="4" name="TextBox 3"/>
          <p:cNvSpPr txBox="1"/>
          <p:nvPr/>
        </p:nvSpPr>
        <p:spPr>
          <a:xfrm>
            <a:off x="6583680" y="274320"/>
            <a:ext cx="3017520" cy="274320"/>
          </a:xfrm>
          <a:prstGeom prst="rect">
            <a:avLst/>
          </a:prstGeom>
          <a:noFill/>
        </p:spPr>
        <p:txBody>
          <a:bodyPr wrap="square" anchor="t">
            <a:spAutoFit/>
          </a:bodyPr>
          <a:lstStyle/>
          <a:p>
            <a:pPr algn="r">
              <a:spcAft>
                <a:spcPts val="600"/>
              </a:spcAft>
            </a:pPr>
            <a:r>
              <a:rPr sz="1000" b="0">
                <a:solidFill>
                  <a:srgbClr val="7F7F7F"/>
                </a:solidFill>
                <a:latin typeface="Calibri Light"/>
              </a:rPr>
              <a:t>Speaker: Deniz</a:t>
            </a:r>
          </a:p>
        </p:txBody>
      </p:sp>
      <p:sp>
        <p:nvSpPr>
          <p:cNvPr id="5" name="Rectangle 4"/>
          <p:cNvSpPr/>
          <p:nvPr/>
        </p:nvSpPr>
        <p:spPr>
          <a:xfrm>
            <a:off x="457200" y="1554480"/>
            <a:ext cx="5486400" cy="3566160"/>
          </a:xfrm>
          <a:prstGeom prst="rect">
            <a:avLst/>
          </a:prstGeom>
          <a:solidFill>
            <a:srgbClr val="2B2F36"/>
          </a:solidFill>
          <a:ln w="2222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Isosceles Triangle 5"/>
          <p:cNvSpPr/>
          <p:nvPr/>
        </p:nvSpPr>
        <p:spPr>
          <a:xfrm rot="5400000">
            <a:off x="2944368" y="2953512"/>
            <a:ext cx="512064" cy="51206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4663440"/>
            <a:ext cx="5486400" cy="365760"/>
          </a:xfrm>
          <a:prstGeom prst="rect">
            <a:avLst/>
          </a:prstGeom>
          <a:noFill/>
        </p:spPr>
        <p:txBody>
          <a:bodyPr wrap="square" anchor="t">
            <a:spAutoFit/>
          </a:bodyPr>
          <a:lstStyle/>
          <a:p>
            <a:pPr algn="ctr">
              <a:spcAft>
                <a:spcPts val="600"/>
              </a:spcAft>
            </a:pPr>
            <a:r>
              <a:rPr sz="1200" b="1">
                <a:solidFill>
                  <a:srgbClr val="FFFFFF"/>
                </a:solidFill>
                <a:latin typeface="Calibri Light"/>
              </a:rPr>
              <a:t>▶  Simulation flight — insert video</a:t>
            </a:r>
          </a:p>
        </p:txBody>
      </p:sp>
      <p:sp>
        <p:nvSpPr>
          <p:cNvPr id="8" name="Rectangle 7"/>
          <p:cNvSpPr/>
          <p:nvPr/>
        </p:nvSpPr>
        <p:spPr>
          <a:xfrm>
            <a:off x="6217920" y="1554480"/>
            <a:ext cx="5486400" cy="3566160"/>
          </a:xfrm>
          <a:prstGeom prst="rect">
            <a:avLst/>
          </a:prstGeom>
          <a:solidFill>
            <a:srgbClr val="2B2F36"/>
          </a:solidFill>
          <a:ln w="2222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Isosceles Triangle 8"/>
          <p:cNvSpPr/>
          <p:nvPr/>
        </p:nvSpPr>
        <p:spPr>
          <a:xfrm rot="5400000">
            <a:off x="8705088" y="2953512"/>
            <a:ext cx="512064" cy="51206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4663440"/>
            <a:ext cx="5486400" cy="365760"/>
          </a:xfrm>
          <a:prstGeom prst="rect">
            <a:avLst/>
          </a:prstGeom>
          <a:noFill/>
        </p:spPr>
        <p:txBody>
          <a:bodyPr wrap="square" anchor="t">
            <a:spAutoFit/>
          </a:bodyPr>
          <a:lstStyle/>
          <a:p>
            <a:pPr algn="ctr">
              <a:spcAft>
                <a:spcPts val="600"/>
              </a:spcAft>
            </a:pPr>
            <a:r>
              <a:rPr sz="1200" b="1">
                <a:solidFill>
                  <a:srgbClr val="FFFFFF"/>
                </a:solidFill>
                <a:latin typeface="Calibri Light"/>
              </a:rPr>
              <a:t>▶  Real Crazyflie flight — insert video</a:t>
            </a:r>
          </a:p>
        </p:txBody>
      </p:sp>
      <p:sp>
        <p:nvSpPr>
          <p:cNvPr id="11" name="TextBox 10"/>
          <p:cNvSpPr txBox="1"/>
          <p:nvPr/>
        </p:nvSpPr>
        <p:spPr>
          <a:xfrm>
            <a:off x="457200" y="5257800"/>
            <a:ext cx="11247120" cy="914400"/>
          </a:xfrm>
          <a:prstGeom prst="rect">
            <a:avLst/>
          </a:prstGeom>
          <a:noFill/>
        </p:spPr>
        <p:txBody>
          <a:bodyPr wrap="square" anchor="t">
            <a:spAutoFit/>
          </a:bodyPr>
          <a:lstStyle/>
          <a:p>
            <a:pPr algn="l">
              <a:spcAft>
                <a:spcPts val="600"/>
              </a:spcAft>
            </a:pPr>
            <a:r>
              <a:rPr sz="1400" b="0">
                <a:solidFill>
                  <a:srgbClr val="44546A"/>
                </a:solidFill>
                <a:latin typeface="Calibri Light"/>
              </a:rPr>
              <a:t>Hardware validation: the same racing core flew the real Crazyflie on a known track in 9.55 s.</a:t>
            </a:r>
          </a:p>
          <a:p>
            <a:pPr algn="l">
              <a:spcAft>
                <a:spcPts val="600"/>
              </a:spcAft>
            </a:pPr>
            <a:r>
              <a:rPr sz="1400" b="0">
                <a:solidFill>
                  <a:srgbClr val="44546A"/>
                </a:solidFill>
                <a:latin typeface="Calibri Light"/>
              </a:rPr>
              <a:t>(Drop the exported clips into the two frames above before presenting.)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Oswald"/>
              </a:rPr>
              <a:t>One Controller, Any Prior</a:t>
            </a:r>
          </a:p>
        </p:txBody>
      </p:sp>
      <p:sp>
        <p:nvSpPr>
          <p:cNvPr id="3" name="Rounded Rectangle 2"/>
          <p:cNvSpPr/>
          <p:nvPr/>
        </p:nvSpPr>
        <p:spPr>
          <a:xfrm>
            <a:off x="384048" y="274320"/>
            <a:ext cx="2926080" cy="310896"/>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100" b="1">
                <a:solidFill>
                  <a:srgbClr val="FFFFFF"/>
                </a:solidFill>
                <a:latin typeface="Calibri Light"/>
              </a:rPr>
              <a:t>Insight</a:t>
            </a:r>
          </a:p>
        </p:txBody>
      </p:sp>
      <p:sp>
        <p:nvSpPr>
          <p:cNvPr id="4" name="TextBox 3"/>
          <p:cNvSpPr txBox="1"/>
          <p:nvPr/>
        </p:nvSpPr>
        <p:spPr>
          <a:xfrm>
            <a:off x="6583680" y="274320"/>
            <a:ext cx="3017520" cy="274320"/>
          </a:xfrm>
          <a:prstGeom prst="rect">
            <a:avLst/>
          </a:prstGeom>
          <a:noFill/>
        </p:spPr>
        <p:txBody>
          <a:bodyPr wrap="square" anchor="t">
            <a:spAutoFit/>
          </a:bodyPr>
          <a:lstStyle/>
          <a:p>
            <a:pPr algn="r">
              <a:spcAft>
                <a:spcPts val="600"/>
              </a:spcAft>
            </a:pPr>
            <a:r>
              <a:rPr sz="1000" b="0">
                <a:solidFill>
                  <a:srgbClr val="7F7F7F"/>
                </a:solidFill>
                <a:latin typeface="Calibri Light"/>
              </a:rPr>
              <a:t>Speaker: Deniz</a:t>
            </a:r>
          </a:p>
        </p:txBody>
      </p:sp>
      <p:sp>
        <p:nvSpPr>
          <p:cNvPr id="5" name="Rounded Rectangle 4"/>
          <p:cNvSpPr/>
          <p:nvPr/>
        </p:nvSpPr>
        <p:spPr>
          <a:xfrm>
            <a:off x="640080" y="2194560"/>
            <a:ext cx="3291840" cy="1371600"/>
          </a:xfrm>
          <a:prstGeom prst="roundRect">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400" b="1">
                <a:solidFill>
                  <a:srgbClr val="FFFFFF"/>
                </a:solidFill>
                <a:latin typeface="Calibri Light"/>
              </a:rPr>
              <a:t>No usable prior</a:t>
            </a:r>
          </a:p>
          <a:p>
            <a:pPr algn="ctr">
              <a:spcAft>
                <a:spcPts val="0"/>
              </a:spcAft>
            </a:pPr>
            <a:r>
              <a:rPr sz="1400" b="1">
                <a:solidFill>
                  <a:srgbClr val="FFFFFF"/>
                </a:solidFill>
                <a:latin typeface="Calibri Light"/>
              </a:rPr>
              <a:t>full blind search</a:t>
            </a:r>
          </a:p>
          <a:p>
            <a:pPr algn="ctr">
              <a:spcAft>
                <a:spcPts val="0"/>
              </a:spcAft>
            </a:pPr>
            <a:r>
              <a:rPr sz="1400" b="1">
                <a:solidFill>
                  <a:srgbClr val="FFFFFF"/>
                </a:solidFill>
                <a:latin typeface="Calibri Light"/>
              </a:rPr>
              <a:t>(the regime we built for)</a:t>
            </a:r>
          </a:p>
        </p:txBody>
      </p:sp>
      <p:sp>
        <p:nvSpPr>
          <p:cNvPr id="6" name="Rounded Rectangle 5"/>
          <p:cNvSpPr/>
          <p:nvPr/>
        </p:nvSpPr>
        <p:spPr>
          <a:xfrm>
            <a:off x="4434840" y="2194560"/>
            <a:ext cx="3291840" cy="1371600"/>
          </a:xfrm>
          <a:prstGeom prst="round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400" b="1">
                <a:solidFill>
                  <a:srgbClr val="FFFFFF"/>
                </a:solidFill>
                <a:latin typeface="Calibri Light"/>
              </a:rPr>
              <a:t>Coarse prior (~15 cm)</a:t>
            </a:r>
          </a:p>
          <a:p>
            <a:pPr algn="ctr">
              <a:spcAft>
                <a:spcPts val="0"/>
              </a:spcAft>
            </a:pPr>
            <a:r>
              <a:rPr sz="1400" b="1">
                <a:solidFill>
                  <a:srgbClr val="FFFFFF"/>
                </a:solidFill>
                <a:latin typeface="Calibri Light"/>
              </a:rPr>
              <a:t>search or trust + refine</a:t>
            </a:r>
          </a:p>
        </p:txBody>
      </p:sp>
      <p:sp>
        <p:nvSpPr>
          <p:cNvPr id="7" name="Rounded Rectangle 6"/>
          <p:cNvSpPr/>
          <p:nvPr/>
        </p:nvSpPr>
        <p:spPr>
          <a:xfrm>
            <a:off x="8229600" y="2194560"/>
            <a:ext cx="3291840" cy="13716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400" b="1">
                <a:solidFill>
                  <a:srgbClr val="FFFFFF"/>
                </a:solidFill>
                <a:latin typeface="Calibri Light"/>
              </a:rPr>
              <a:t>Good prior</a:t>
            </a:r>
          </a:p>
          <a:p>
            <a:pPr algn="ctr">
              <a:spcAft>
                <a:spcPts val="0"/>
              </a:spcAft>
            </a:pPr>
            <a:r>
              <a:rPr sz="1400" b="1">
                <a:solidFill>
                  <a:srgbClr val="FFFFFF"/>
                </a:solidFill>
                <a:latin typeface="Calibri Light"/>
              </a:rPr>
              <a:t>no-search: 8.7 s</a:t>
            </a:r>
          </a:p>
        </p:txBody>
      </p:sp>
      <p:cxnSp>
        <p:nvCxnSpPr>
          <p:cNvPr id="8" name="Connector 7"/>
          <p:cNvCxnSpPr/>
          <p:nvPr/>
        </p:nvCxnSpPr>
        <p:spPr>
          <a:xfrm>
            <a:off x="3931920" y="2880360"/>
            <a:ext cx="502920" cy="0"/>
          </a:xfrm>
          <a:prstGeom prst="line">
            <a:avLst/>
          </a:prstGeom>
          <a:ln w="317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26679" y="2880360"/>
            <a:ext cx="502921" cy="0"/>
          </a:xfrm>
          <a:prstGeom prst="line">
            <a:avLst/>
          </a:prstGeom>
          <a:ln w="317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0080" y="457200"/>
            <a:ext cx="10972800" cy="548640"/>
          </a:xfrm>
          <a:prstGeom prst="rect">
            <a:avLst/>
          </a:prstGeom>
          <a:noFill/>
        </p:spPr>
        <p:txBody>
          <a:bodyPr wrap="square" anchor="t">
            <a:spAutoFit/>
          </a:bodyPr>
          <a:lstStyle/>
          <a:p>
            <a:pPr algn="l">
              <a:spcAft>
                <a:spcPts val="600"/>
              </a:spcAft>
            </a:pPr>
            <a:r>
              <a:rPr sz="1600" b="0">
                <a:solidFill>
                  <a:srgbClr val="44546A"/>
                </a:solidFill>
                <a:latin typeface="Calibri Light"/>
              </a:rPr>
              <a:t>Same racing core throughout — the controller degrades gracefully with how good the prior is.</a:t>
            </a:r>
          </a:p>
        </p:txBody>
      </p:sp>
      <p:sp>
        <p:nvSpPr>
          <p:cNvPr id="11" name="TextBox 10"/>
          <p:cNvSpPr txBox="1"/>
          <p:nvPr/>
        </p:nvSpPr>
        <p:spPr>
          <a:xfrm>
            <a:off x="640080" y="4023360"/>
            <a:ext cx="10972800" cy="2011680"/>
          </a:xfrm>
          <a:prstGeom prst="rect">
            <a:avLst/>
          </a:prstGeom>
          <a:noFill/>
        </p:spPr>
        <p:txBody>
          <a:bodyPr wrap="square">
            <a:spAutoFit/>
          </a:bodyPr>
          <a:lstStyle/>
          <a:p>
            <a:pPr>
              <a:spcAft>
                <a:spcPts val="800"/>
              </a:spcAft>
            </a:pPr>
            <a:r>
              <a:rPr sz="1500">
                <a:solidFill>
                  <a:srgbClr val="44546A"/>
                </a:solidFill>
                <a:latin typeface="Calibri Light"/>
              </a:rPr>
              <a:t>•  Blind search is our submitted, general method: it works even with a wrong prior or if motion capture drops out.</a:t>
            </a:r>
          </a:p>
          <a:p>
            <a:pPr>
              <a:spcAft>
                <a:spcPts val="800"/>
              </a:spcAft>
            </a:pPr>
            <a:r>
              <a:rPr sz="1500">
                <a:solidFill>
                  <a:srgbClr val="44546A"/>
                </a:solidFill>
                <a:latin typeface="Calibri Light"/>
              </a:rPr>
              <a:t>•  When a prior is reliable, the no-search variant reuses the exact same racing core and is far faster.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Oswald"/>
              </a:rPr>
              <a:t>Conclusion</a:t>
            </a:r>
          </a:p>
        </p:txBody>
      </p:sp>
      <p:sp>
        <p:nvSpPr>
          <p:cNvPr id="3" name="Rounded Rectangle 2"/>
          <p:cNvSpPr/>
          <p:nvPr/>
        </p:nvSpPr>
        <p:spPr>
          <a:xfrm>
            <a:off x="384048" y="274320"/>
            <a:ext cx="2926080" cy="310896"/>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100" b="1">
                <a:solidFill>
                  <a:srgbClr val="FFFFFF"/>
                </a:solidFill>
                <a:latin typeface="Calibri Light"/>
              </a:rPr>
              <a:t>Wrap-up</a:t>
            </a:r>
          </a:p>
        </p:txBody>
      </p:sp>
      <p:sp>
        <p:nvSpPr>
          <p:cNvPr id="4" name="TextBox 3"/>
          <p:cNvSpPr txBox="1"/>
          <p:nvPr/>
        </p:nvSpPr>
        <p:spPr>
          <a:xfrm>
            <a:off x="6583680" y="274320"/>
            <a:ext cx="3017520" cy="274320"/>
          </a:xfrm>
          <a:prstGeom prst="rect">
            <a:avLst/>
          </a:prstGeom>
          <a:noFill/>
        </p:spPr>
        <p:txBody>
          <a:bodyPr wrap="square" anchor="t">
            <a:spAutoFit/>
          </a:bodyPr>
          <a:lstStyle/>
          <a:p>
            <a:pPr algn="r">
              <a:spcAft>
                <a:spcPts val="600"/>
              </a:spcAft>
            </a:pPr>
            <a:r>
              <a:rPr sz="1000" b="0">
                <a:solidFill>
                  <a:srgbClr val="7F7F7F"/>
                </a:solidFill>
                <a:latin typeface="Calibri Light"/>
              </a:rPr>
              <a:t>Speaker: Deniz</a:t>
            </a:r>
          </a:p>
        </p:txBody>
      </p:sp>
      <p:sp>
        <p:nvSpPr>
          <p:cNvPr id="5" name="TextBox 4"/>
          <p:cNvSpPr txBox="1"/>
          <p:nvPr/>
        </p:nvSpPr>
        <p:spPr>
          <a:xfrm>
            <a:off x="640080" y="1554480"/>
            <a:ext cx="10972800" cy="3108960"/>
          </a:xfrm>
          <a:prstGeom prst="rect">
            <a:avLst/>
          </a:prstGeom>
          <a:noFill/>
        </p:spPr>
        <p:txBody>
          <a:bodyPr wrap="square">
            <a:spAutoFit/>
          </a:bodyPr>
          <a:lstStyle/>
          <a:p>
            <a:pPr>
              <a:spcAft>
                <a:spcPts val="1200"/>
              </a:spcAft>
            </a:pPr>
            <a:r>
              <a:rPr sz="1800">
                <a:solidFill>
                  <a:srgbClr val="44546A"/>
                </a:solidFill>
                <a:latin typeface="Calibri Light"/>
              </a:rPr>
              <a:t>•  A general Level 3 racer: blind spiral search finds the gates, time-optimal MPCC races them.</a:t>
            </a:r>
          </a:p>
          <a:p>
            <a:pPr>
              <a:spcAft>
                <a:spcPts val="1200"/>
              </a:spcAft>
            </a:pPr>
            <a:r>
              <a:rPr sz="1800">
                <a:solidFill>
                  <a:srgbClr val="44546A"/>
                </a:solidFill>
                <a:latin typeface="Calibri Light"/>
              </a:rPr>
              <a:t>•  Gate-aware weight and progress anchor keep the racing stage reliable.</a:t>
            </a:r>
          </a:p>
          <a:p>
            <a:pPr>
              <a:spcAft>
                <a:spcPts val="1200"/>
              </a:spcAft>
            </a:pPr>
            <a:r>
              <a:rPr sz="1800">
                <a:solidFill>
                  <a:srgbClr val="44546A"/>
                </a:solidFill>
                <a:latin typeface="Calibri Light"/>
              </a:rPr>
              <a:t>•  Graded final.toml: 14/20 at 18.4 s (fast) — and 9.55 s on the real drone with the same racing core.</a:t>
            </a:r>
          </a:p>
          <a:p>
            <a:pPr>
              <a:spcAft>
                <a:spcPts val="1200"/>
              </a:spcAft>
            </a:pPr>
            <a:r>
              <a:rPr sz="1800">
                <a:solidFill>
                  <a:srgbClr val="44546A"/>
                </a:solidFill>
                <a:latin typeface="Calibri Light"/>
              </a:rPr>
              <a:t>•  The MPCC blocker from the progress talk is solved; MPCC is now our controller.</a:t>
            </a:r>
          </a:p>
        </p:txBody>
      </p:sp>
      <p:sp>
        <p:nvSpPr>
          <p:cNvPr id="6" name="TextBox 5"/>
          <p:cNvSpPr txBox="1"/>
          <p:nvPr/>
        </p:nvSpPr>
        <p:spPr>
          <a:xfrm>
            <a:off x="640080" y="5029200"/>
            <a:ext cx="10972800" cy="914400"/>
          </a:xfrm>
          <a:prstGeom prst="rect">
            <a:avLst/>
          </a:prstGeom>
          <a:noFill/>
        </p:spPr>
        <p:txBody>
          <a:bodyPr wrap="square" anchor="t">
            <a:spAutoFit/>
          </a:bodyPr>
          <a:lstStyle/>
          <a:p>
            <a:pPr algn="ctr">
              <a:spcAft>
                <a:spcPts val="600"/>
              </a:spcAft>
            </a:pPr>
            <a:r>
              <a:rPr sz="2600" b="1">
                <a:solidFill>
                  <a:srgbClr val="ED7D31"/>
                </a:solidFill>
                <a:latin typeface="Oswald"/>
              </a:rPr>
              <a:t>Thank you — questions?</a:t>
            </a:r>
          </a:p>
        </p:txBody>
      </p:sp>
    </p:spTree>
  </p:cSld>
  <p:clrMapOvr>
    <a:masterClrMapping/>
  </p:clrMapOvr>
</p:sld>
</file>

<file path=ppt/theme/theme1.xml><?xml version="1.0" encoding="utf-8"?>
<a:theme xmlns:a="http://schemas.openxmlformats.org/drawingml/2006/main" name="LSY_template_2025_v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enutzerdefiniert 1">
      <a:majorFont>
        <a:latin typeface="Oswald"/>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5875">
          <a:solidFill>
            <a:schemeClr val="bg1">
              <a:lumMod val="50000"/>
            </a:schemeClr>
          </a:solidFill>
          <a:prstDash val="dash"/>
          <a:headEnd type="oval" w="sm" len="sm"/>
          <a:tailEnd type="stealth" w="lg" len="lg"/>
        </a:ln>
      </a:spPr>
      <a:bodyPr rtlCol="0" anchor="ctr"/>
      <a:lstStyle>
        <a:defPPr algn="ctr">
          <a:defRPr dirty="0"/>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LSY_template_2025_v3" id="{72C4A47F-C597-453D-A4D8-A8C5A5E25664}" vid="{2B9D18F7-30E7-4838-8BA8-E950BFA62F83}"/>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LSY_template_2025_v3</Template>
  <TotalTime>26</TotalTime>
  <Words>1854</Words>
  <Application>Microsoft Office PowerPoint</Application>
  <PresentationFormat>Breitbild</PresentationFormat>
  <Paragraphs>141</Paragraphs>
  <Slides>11</Slides>
  <Notes>11</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11</vt:i4>
      </vt:variant>
    </vt:vector>
  </HeadingPairs>
  <TitlesOfParts>
    <vt:vector size="17" baseType="lpstr">
      <vt:lpstr>Arial</vt:lpstr>
      <vt:lpstr>Calibri</vt:lpstr>
      <vt:lpstr>Calibri Light</vt:lpstr>
      <vt:lpstr>Oswald</vt:lpstr>
      <vt:lpstr>Oswald ExtraLight</vt:lpstr>
      <vt:lpstr>LSY_template_2025_v3</vt:lpstr>
      <vt:lpstr>Robust Level 3 Autonomous Drone Racing</vt:lpstr>
      <vt:lpstr>From Cascaded PID to MPCC — What Changed</vt:lpstr>
      <vt:lpstr>Our Angle — Find the Gates, Don't Trust the Map</vt:lpstr>
      <vt:lpstr>Our Approach — Two Phases, One Loop</vt:lpstr>
      <vt:lpstr>Phase 1 — Blind Gate Search</vt:lpstr>
      <vt:lpstr>Phase 2 — Time-Optimal MPCC</vt:lpstr>
      <vt:lpstr>Results — Randomized Level 3</vt:lpstr>
      <vt:lpstr>Flight Paths in Simulation</vt:lpstr>
      <vt:lpstr>Seeing It Fly — Simulation and Hardware</vt:lpstr>
      <vt:lpstr>One Controller, Any Prior</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Marcel Rath</dc:creator>
  <cp:lastModifiedBy>Arda Hiz</cp:lastModifiedBy>
  <cp:revision>13</cp:revision>
  <dcterms:created xsi:type="dcterms:W3CDTF">2025-11-18T15:10:33Z</dcterms:created>
  <dcterms:modified xsi:type="dcterms:W3CDTF">2026-07-07T12:58:45Z</dcterms:modified>
</cp:coreProperties>
</file>