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4"/>
    <p:sldId id="257" r:id="rId2"/>
    <p:sldId id="258" r:id="rId9"/>
    <p:sldId id="259" r:id="rId10"/>
    <p:sldId id="260" r:id="rId11"/>
    <p:sldId id="261" r:id="rId12"/>
    <p:sldId id="262" r:id="rId13"/>
    <p:sldId id="263" r:id="rId14"/>
    <p:sldId id="264" r:id="rId15"/>
    <p:sldId id="265"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152" d="100"/>
          <a:sy n="152" d="100"/>
        </p:scale>
        <p:origin x="576" y="104"/>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a:t>
            </a:r>
          </a:p>
          <a:p>
            <a:r>
              <a:t>Hi, we are Arda and Deniz. Our project is robust autonomous drone racing. The hard part of our setting: the gates move, and the drone only sees the true position very late. We built a controller that stays fast and reliable without running an optimizer in the loop. (~30s)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a:t>
            </a:r>
          </a:p>
          <a:p>
            <a:r>
              <a:t>The usual answers are online MPC — re-solving every control step — or reinforcement learning. Both are strong, but MPC needs a solver in the loop and we could not push it under 8 seconds, and RL needs training and is a black box. We took a simpler route: compute ONE time-optimal racing line offline, then track it. Online we only do two cheap things — warp the line onto the gate we just saw, and pace it with an adaptive clock. No optimizer in the loop. (~50s)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a:t>
            </a:r>
          </a:p>
          <a:p>
            <a:r>
              <a:t>The line is a smooth spline through the gates, and we force it to cross each opening straight, not at an angle. Then we put a time-optimal speed profile on it: the drone has one acceleration budget shared between turning and accelerating, so it is slow in the corners and at the gates and fast on the straights. Planned lap about 6.35 seconds, peak around 3.6 meters per second. (~45s)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a:t>
            </a:r>
          </a:p>
          <a:p>
            <a:r>
              <a:t>When a gate is revealed shifted, we do NOT replan. We slide the stored line onto the true gate, blend smoothly between gates, and push it clear of obstacles and posts. The shape the speed profile was built for stays the same; only the position moves. That is why reacting to the reveal is cheap. (~45s)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(then hand over to Deniz).</a:t>
            </a:r>
          </a:p>
          <a:p>
            <a:r>
              <a:t>This is our key idea. The reference is played back by a clock. Near a gate, if the drone has fallen behind — because the gate moved and it had to correct — the clock slows down or even stops and waits, then resumes. So the drone never arrives at a gate ahead of where it can actually hold the opening. That is what turns a fast line into a reliable one. — Deniz will take the results. (~50s)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a:t>
            </a:r>
          </a:p>
          <a:p>
            <a:r>
              <a:t>On the official simulation evaluation, the controller does the lap in 6.89 seconds. And the earlier controller in this line — an MPC version — we actually flew on the real drone in the last lab session at 9.55 seconds, matching its simulation. On the left is the real hardware run; on the right the new controller in simulation. (~50s)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a:t>
            </a:r>
          </a:p>
          <a:p>
            <a:r>
              <a:t>Robustness: 20 out of 20 runs finish in simulation. Against our MPC controller, which needs a solver, we are 2.6 seconds faster and finish more runs. And each design piece paid off: the adaptive clock alone got 19 of 20; running it at two-thirds rate near gates smoothed the correction; a little tuning recovered the last run — 20 of 20 at 6.89. (~50s)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a:t>
            </a:r>
          </a:p>
          <a:p>
            <a:r>
              <a:t>Quick timeline. We started with a global planner and a spline. Then a time-optimal MPC line — that became our flagship and it is the one we flew on hardware at 9.55 s. But it was solver-heavy and hard to speed up, so we rethought it as an offline line plus the adaptive clock. That is the controller in this talk: 6.89 s, 20 of 20 in sim. (~45s)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a:t>
            </a:r>
          </a:p>
          <a:p>
            <a:r>
              <a:t>Versus the literature: MPCC++ and the RL champions are very fast, but they need a solver in the loop or a lot of training. We trade a little optimality for a controller that is cheap, deterministic and easy to tune, with low run-to-run spread. Limitations: the warp handles gate position but not yaw, the line is tuned per track, and the new controller is not flown on hardware yet. Next steps: warp the yaw, auto-fit the offsets, and a hardware test. (~50s)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a:t>
            </a:r>
          </a:p>
          <a:p>
            <a:r>
              <a:t>Takeaway: split the problem into a fixed shape and an adaptive clock, and you get fast and reliable without a solver. 6.89 seconds and 20 of 20 in simulation, and 9.55 on the real drone. Thank you — happy to take questions. (~25s)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elfolie_LS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C778693-3A38-1540-A2BE-EADEC66B3949}"/>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a:latin typeface="Calibri" panose="020F0502020204030204" pitchFamily="34" charset="0"/>
            </a:endParaRPr>
          </a:p>
        </p:txBody>
      </p:sp>
      <p:sp>
        <p:nvSpPr>
          <p:cNvPr id="4" name="Line 3">
            <a:extLst>
              <a:ext uri="{FF2B5EF4-FFF2-40B4-BE49-F238E27FC236}">
                <a16:creationId xmlns:a16="http://schemas.microsoft.com/office/drawing/2014/main" id="{332D703C-206C-9013-9F25-15D75630A722}"/>
              </a:ext>
            </a:extLst>
          </p:cNvPr>
          <p:cNvSpPr>
            <a:spLocks noChangeShapeType="1"/>
          </p:cNvSpPr>
          <p:nvPr/>
        </p:nvSpPr>
        <p:spPr bwMode="auto">
          <a:xfrm rot="10800000" flipH="1">
            <a:off x="552244" y="2867524"/>
            <a:ext cx="10958652" cy="0"/>
          </a:xfrm>
          <a:prstGeom prst="line">
            <a:avLst/>
          </a:prstGeom>
          <a:noFill/>
          <a:ln w="38100">
            <a:gradFill flip="none" rotWithShape="1">
              <a:gsLst>
                <a:gs pos="0">
                  <a:schemeClr val="bg1"/>
                </a:gs>
                <a:gs pos="64000">
                  <a:srgbClr val="7AB51D"/>
                </a:gs>
              </a:gsLst>
              <a:lin ang="10800000" scaled="1"/>
              <a:tileRect/>
            </a:gradFill>
            <a:miter lim="800000"/>
            <a:headEnd/>
            <a:tailEnd/>
          </a:ln>
          <a:effectLst>
            <a:softEdge rad="0"/>
          </a:effectLst>
        </p:spPr>
        <p:txBody>
          <a:bodyPr lIns="0" tIns="0" rIns="0" bIns="0">
            <a:prstTxWarp prst="textNoShape">
              <a:avLst/>
            </a:prstTxWarp>
          </a:bodyPr>
          <a:lstStyle/>
          <a:p>
            <a:pPr>
              <a:defRPr/>
            </a:pPr>
            <a:endParaRPr lang="en-US" sz="1266" b="1">
              <a:latin typeface="Calibri" panose="020F0502020204030204" pitchFamily="34" charset="0"/>
            </a:endParaRPr>
          </a:p>
        </p:txBody>
      </p:sp>
      <p:pic>
        <p:nvPicPr>
          <p:cNvPr id="5" name="Picture 13">
            <a:extLst>
              <a:ext uri="{FF2B5EF4-FFF2-40B4-BE49-F238E27FC236}">
                <a16:creationId xmlns:a16="http://schemas.microsoft.com/office/drawing/2014/main" id="{5112925D-60A9-ED3F-9E7E-67890E2D0B8F}"/>
              </a:ext>
            </a:extLst>
          </p:cNvPr>
          <p:cNvPicPr>
            <a:picLocks noChangeAspect="1"/>
          </p:cNvPicPr>
          <p:nvPr/>
        </p:nvPicPr>
        <p:blipFill>
          <a:blip r:embed="rId2"/>
          <a:srcRect/>
          <a:stretch/>
        </p:blipFill>
        <p:spPr>
          <a:xfrm>
            <a:off x="10167870" y="4926526"/>
            <a:ext cx="1968195" cy="1931474"/>
          </a:xfrm>
          <a:prstGeom prst="rect">
            <a:avLst/>
          </a:prstGeom>
        </p:spPr>
      </p:pic>
      <p:pic>
        <p:nvPicPr>
          <p:cNvPr id="6" name="Picture 11" descr="A blue and black rectangles&#10;&#10;Description automatically generated with low confidence">
            <a:extLst>
              <a:ext uri="{FF2B5EF4-FFF2-40B4-BE49-F238E27FC236}">
                <a16:creationId xmlns:a16="http://schemas.microsoft.com/office/drawing/2014/main" id="{095E8400-2D38-B2FA-8821-543D2A733C57}"/>
              </a:ext>
            </a:extLst>
          </p:cNvPr>
          <p:cNvPicPr>
            <a:picLocks noChangeAspect="1"/>
          </p:cNvPicPr>
          <p:nvPr/>
        </p:nvPicPr>
        <p:blipFill>
          <a:blip r:embed="rId3"/>
          <a:stretch>
            <a:fillRect/>
          </a:stretch>
        </p:blipFill>
        <p:spPr>
          <a:xfrm>
            <a:off x="552244" y="5780200"/>
            <a:ext cx="1538189" cy="799137"/>
          </a:xfrm>
          <a:prstGeom prst="rect">
            <a:avLst/>
          </a:prstGeom>
        </p:spPr>
      </p:pic>
      <p:sp>
        <p:nvSpPr>
          <p:cNvPr id="8" name="Titel 7">
            <a:extLst>
              <a:ext uri="{FF2B5EF4-FFF2-40B4-BE49-F238E27FC236}">
                <a16:creationId xmlns:a16="http://schemas.microsoft.com/office/drawing/2014/main" id="{FCB1B460-9C8E-CB6C-D0E4-7CC22E8E0D32}"/>
              </a:ext>
            </a:extLst>
          </p:cNvPr>
          <p:cNvSpPr>
            <a:spLocks noGrp="1"/>
          </p:cNvSpPr>
          <p:nvPr>
            <p:ph type="title"/>
          </p:nvPr>
        </p:nvSpPr>
        <p:spPr>
          <a:xfrm>
            <a:off x="494188" y="1787523"/>
            <a:ext cx="11520000" cy="1080000"/>
          </a:xfrm>
          <a:prstGeom prst="rect">
            <a:avLst/>
          </a:prstGeom>
        </p:spPr>
        <p:txBody>
          <a:bodyPr anchor="b">
            <a:noAutofit/>
          </a:bodyPr>
          <a:lstStyle>
            <a:lvl1pPr>
              <a:defRPr sz="3200">
                <a:solidFill>
                  <a:schemeClr val="tx1">
                    <a:lumMod val="65000"/>
                    <a:lumOff val="35000"/>
                  </a:schemeClr>
                </a:solidFill>
              </a:defRPr>
            </a:lvl1pPr>
          </a:lstStyle>
          <a:p>
            <a:r>
              <a:rPr lang="de-DE"/>
              <a:t>Mastertitelformat bearbeiten</a:t>
            </a:r>
            <a:endParaRPr lang="de-DE" dirty="0"/>
          </a:p>
        </p:txBody>
      </p:sp>
      <p:sp>
        <p:nvSpPr>
          <p:cNvPr id="10" name="Inhaltsplatzhalter 9">
            <a:extLst>
              <a:ext uri="{FF2B5EF4-FFF2-40B4-BE49-F238E27FC236}">
                <a16:creationId xmlns:a16="http://schemas.microsoft.com/office/drawing/2014/main" id="{D4C5DFDD-7F34-717D-AEF3-A18C4F2AB5AB}"/>
              </a:ext>
            </a:extLst>
          </p:cNvPr>
          <p:cNvSpPr>
            <a:spLocks noGrp="1"/>
          </p:cNvSpPr>
          <p:nvPr>
            <p:ph sz="quarter" idx="10" hasCustomPrompt="1"/>
          </p:nvPr>
        </p:nvSpPr>
        <p:spPr>
          <a:xfrm>
            <a:off x="494188" y="2972414"/>
            <a:ext cx="11520000" cy="312936"/>
          </a:xfrm>
        </p:spPr>
        <p:txBody>
          <a:bodyPr>
            <a:noAutofit/>
          </a:bodyPr>
          <a:lstStyle>
            <a:lvl1pPr marL="0" indent="0">
              <a:buNone/>
              <a:defRPr sz="2000" i="1">
                <a:latin typeface="+mn-lt"/>
              </a:defRPr>
            </a:lvl1pPr>
          </a:lstStyle>
          <a:p>
            <a:pPr lvl="0"/>
            <a:r>
              <a:rPr lang="de-DE" dirty="0" err="1"/>
              <a:t>Subtitle</a:t>
            </a:r>
            <a:endParaRPr lang="de-DE" dirty="0"/>
          </a:p>
        </p:txBody>
      </p:sp>
      <p:sp>
        <p:nvSpPr>
          <p:cNvPr id="11" name="Inhaltsplatzhalter 9">
            <a:extLst>
              <a:ext uri="{FF2B5EF4-FFF2-40B4-BE49-F238E27FC236}">
                <a16:creationId xmlns:a16="http://schemas.microsoft.com/office/drawing/2014/main" id="{6447E8E3-03B3-CD18-A5BB-BDEE17125F72}"/>
              </a:ext>
            </a:extLst>
          </p:cNvPr>
          <p:cNvSpPr>
            <a:spLocks noGrp="1"/>
          </p:cNvSpPr>
          <p:nvPr>
            <p:ph sz="quarter" idx="11" hasCustomPrompt="1"/>
          </p:nvPr>
        </p:nvSpPr>
        <p:spPr>
          <a:xfrm>
            <a:off x="494188" y="3325925"/>
            <a:ext cx="11520000" cy="312936"/>
          </a:xfrm>
        </p:spPr>
        <p:txBody>
          <a:bodyPr>
            <a:noAutofit/>
          </a:bodyPr>
          <a:lstStyle>
            <a:lvl1pPr marL="0" indent="0">
              <a:buNone/>
              <a:defRPr sz="2000" i="0">
                <a:latin typeface="+mn-lt"/>
              </a:defRPr>
            </a:lvl1pPr>
          </a:lstStyle>
          <a:p>
            <a:pPr lvl="0"/>
            <a:r>
              <a:rPr lang="de-DE" dirty="0"/>
              <a:t>Date</a:t>
            </a:r>
          </a:p>
        </p:txBody>
      </p:sp>
      <p:sp>
        <p:nvSpPr>
          <p:cNvPr id="12" name="Inhaltsplatzhalter 9">
            <a:extLst>
              <a:ext uri="{FF2B5EF4-FFF2-40B4-BE49-F238E27FC236}">
                <a16:creationId xmlns:a16="http://schemas.microsoft.com/office/drawing/2014/main" id="{90B7E13C-6AED-A96A-DFFD-29A7DF10E4E3}"/>
              </a:ext>
            </a:extLst>
          </p:cNvPr>
          <p:cNvSpPr>
            <a:spLocks noGrp="1"/>
          </p:cNvSpPr>
          <p:nvPr>
            <p:ph sz="quarter" idx="12" hasCustomPrompt="1"/>
          </p:nvPr>
        </p:nvSpPr>
        <p:spPr>
          <a:xfrm>
            <a:off x="494188" y="4297363"/>
            <a:ext cx="11520000" cy="312936"/>
          </a:xfrm>
        </p:spPr>
        <p:txBody>
          <a:bodyPr>
            <a:noAutofit/>
          </a:bodyPr>
          <a:lstStyle>
            <a:lvl1pPr marL="0" indent="0">
              <a:buNone/>
              <a:defRPr sz="2000" i="0">
                <a:latin typeface="+mn-lt"/>
              </a:defRPr>
            </a:lvl1pPr>
          </a:lstStyle>
          <a:p>
            <a:pPr lvl="0"/>
            <a:r>
              <a:rPr lang="de-DE" dirty="0" err="1"/>
              <a:t>Your</a:t>
            </a:r>
            <a:r>
              <a:rPr lang="de-DE" dirty="0"/>
              <a:t> Name</a:t>
            </a:r>
          </a:p>
        </p:txBody>
      </p:sp>
      <p:sp>
        <p:nvSpPr>
          <p:cNvPr id="14" name="Textfeld 13">
            <a:extLst>
              <a:ext uri="{FF2B5EF4-FFF2-40B4-BE49-F238E27FC236}">
                <a16:creationId xmlns:a16="http://schemas.microsoft.com/office/drawing/2014/main" id="{CEA38894-2CF7-EB1B-6E8A-7395C31C1928}"/>
              </a:ext>
            </a:extLst>
          </p:cNvPr>
          <p:cNvSpPr txBox="1"/>
          <p:nvPr/>
        </p:nvSpPr>
        <p:spPr>
          <a:xfrm>
            <a:off x="494188" y="4618947"/>
            <a:ext cx="11520000" cy="400110"/>
          </a:xfrm>
          <a:prstGeom prst="rect">
            <a:avLst/>
          </a:prstGeom>
          <a:noFill/>
        </p:spPr>
        <p:txBody>
          <a:bodyPr wrap="square" rtlCol="0">
            <a:spAutoFit/>
          </a:bodyPr>
          <a:lstStyle/>
          <a:p>
            <a:r>
              <a:rPr lang="de-DE" sz="2000" i="1" dirty="0">
                <a:solidFill>
                  <a:schemeClr val="tx1">
                    <a:lumMod val="65000"/>
                    <a:lumOff val="35000"/>
                  </a:schemeClr>
                </a:solidFill>
              </a:rPr>
              <a:t>Learning Systems and Robotics Laboratory</a:t>
            </a:r>
          </a:p>
        </p:txBody>
      </p:sp>
    </p:spTree>
    <p:extLst>
      <p:ext uri="{BB962C8B-B14F-4D97-AF65-F5344CB8AC3E}">
        <p14:creationId xmlns:p14="http://schemas.microsoft.com/office/powerpoint/2010/main" val="35146661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folie_Chai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C778693-3A38-1540-A2BE-EADEC66B3949}"/>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a:latin typeface="Calibri" panose="020F0502020204030204" pitchFamily="34" charset="0"/>
            </a:endParaRPr>
          </a:p>
        </p:txBody>
      </p:sp>
      <p:sp>
        <p:nvSpPr>
          <p:cNvPr id="4" name="Line 3">
            <a:extLst>
              <a:ext uri="{FF2B5EF4-FFF2-40B4-BE49-F238E27FC236}">
                <a16:creationId xmlns:a16="http://schemas.microsoft.com/office/drawing/2014/main" id="{332D703C-206C-9013-9F25-15D75630A722}"/>
              </a:ext>
            </a:extLst>
          </p:cNvPr>
          <p:cNvSpPr>
            <a:spLocks noChangeShapeType="1"/>
          </p:cNvSpPr>
          <p:nvPr/>
        </p:nvSpPr>
        <p:spPr bwMode="auto">
          <a:xfrm rot="10800000" flipH="1">
            <a:off x="552244" y="2867524"/>
            <a:ext cx="10958652" cy="0"/>
          </a:xfrm>
          <a:prstGeom prst="line">
            <a:avLst/>
          </a:prstGeom>
          <a:noFill/>
          <a:ln w="38100">
            <a:gradFill flip="none" rotWithShape="1">
              <a:gsLst>
                <a:gs pos="0">
                  <a:schemeClr val="bg1"/>
                </a:gs>
                <a:gs pos="64000">
                  <a:srgbClr val="7AB51D"/>
                </a:gs>
              </a:gsLst>
              <a:lin ang="10800000" scaled="1"/>
              <a:tileRect/>
            </a:gradFill>
            <a:miter lim="800000"/>
            <a:headEnd/>
            <a:tailEnd/>
          </a:ln>
          <a:effectLst>
            <a:softEdge rad="0"/>
          </a:effectLst>
        </p:spPr>
        <p:txBody>
          <a:bodyPr lIns="0" tIns="0" rIns="0" bIns="0">
            <a:prstTxWarp prst="textNoShape">
              <a:avLst/>
            </a:prstTxWarp>
          </a:bodyPr>
          <a:lstStyle/>
          <a:p>
            <a:pPr>
              <a:defRPr/>
            </a:pPr>
            <a:endParaRPr lang="en-US" sz="1266" b="1">
              <a:latin typeface="Calibri" panose="020F0502020204030204" pitchFamily="34" charset="0"/>
            </a:endParaRPr>
          </a:p>
        </p:txBody>
      </p:sp>
      <p:pic>
        <p:nvPicPr>
          <p:cNvPr id="5" name="Picture 13">
            <a:extLst>
              <a:ext uri="{FF2B5EF4-FFF2-40B4-BE49-F238E27FC236}">
                <a16:creationId xmlns:a16="http://schemas.microsoft.com/office/drawing/2014/main" id="{5112925D-60A9-ED3F-9E7E-67890E2D0B8F}"/>
              </a:ext>
            </a:extLst>
          </p:cNvPr>
          <p:cNvPicPr>
            <a:picLocks noChangeAspect="1"/>
          </p:cNvPicPr>
          <p:nvPr/>
        </p:nvPicPr>
        <p:blipFill>
          <a:blip r:embed="rId2"/>
          <a:srcRect/>
          <a:stretch/>
        </p:blipFill>
        <p:spPr>
          <a:xfrm>
            <a:off x="10167870" y="4926526"/>
            <a:ext cx="1968195" cy="1931474"/>
          </a:xfrm>
          <a:prstGeom prst="rect">
            <a:avLst/>
          </a:prstGeom>
        </p:spPr>
      </p:pic>
      <p:pic>
        <p:nvPicPr>
          <p:cNvPr id="6" name="Picture 11" descr="A blue and black rectangles&#10;&#10;Description automatically generated with low confidence">
            <a:extLst>
              <a:ext uri="{FF2B5EF4-FFF2-40B4-BE49-F238E27FC236}">
                <a16:creationId xmlns:a16="http://schemas.microsoft.com/office/drawing/2014/main" id="{095E8400-2D38-B2FA-8821-543D2A733C57}"/>
              </a:ext>
            </a:extLst>
          </p:cNvPr>
          <p:cNvPicPr>
            <a:picLocks noChangeAspect="1"/>
          </p:cNvPicPr>
          <p:nvPr/>
        </p:nvPicPr>
        <p:blipFill>
          <a:blip r:embed="rId3"/>
          <a:stretch>
            <a:fillRect/>
          </a:stretch>
        </p:blipFill>
        <p:spPr>
          <a:xfrm>
            <a:off x="552244" y="5780200"/>
            <a:ext cx="1538189" cy="799137"/>
          </a:xfrm>
          <a:prstGeom prst="rect">
            <a:avLst/>
          </a:prstGeom>
        </p:spPr>
      </p:pic>
      <p:sp>
        <p:nvSpPr>
          <p:cNvPr id="8" name="Titel 7">
            <a:extLst>
              <a:ext uri="{FF2B5EF4-FFF2-40B4-BE49-F238E27FC236}">
                <a16:creationId xmlns:a16="http://schemas.microsoft.com/office/drawing/2014/main" id="{FCB1B460-9C8E-CB6C-D0E4-7CC22E8E0D32}"/>
              </a:ext>
            </a:extLst>
          </p:cNvPr>
          <p:cNvSpPr>
            <a:spLocks noGrp="1"/>
          </p:cNvSpPr>
          <p:nvPr>
            <p:ph type="title"/>
          </p:nvPr>
        </p:nvSpPr>
        <p:spPr>
          <a:xfrm>
            <a:off x="494188" y="1787523"/>
            <a:ext cx="11520000" cy="1080000"/>
          </a:xfrm>
          <a:prstGeom prst="rect">
            <a:avLst/>
          </a:prstGeom>
        </p:spPr>
        <p:txBody>
          <a:bodyPr anchor="b">
            <a:noAutofit/>
          </a:bodyPr>
          <a:lstStyle>
            <a:lvl1pPr>
              <a:defRPr sz="3200">
                <a:solidFill>
                  <a:schemeClr val="tx1">
                    <a:lumMod val="65000"/>
                    <a:lumOff val="35000"/>
                  </a:schemeClr>
                </a:solidFill>
              </a:defRPr>
            </a:lvl1pPr>
          </a:lstStyle>
          <a:p>
            <a:r>
              <a:rPr lang="de-DE"/>
              <a:t>Mastertitelformat bearbeiten</a:t>
            </a:r>
            <a:endParaRPr lang="de-DE" dirty="0"/>
          </a:p>
        </p:txBody>
      </p:sp>
      <p:sp>
        <p:nvSpPr>
          <p:cNvPr id="10" name="Inhaltsplatzhalter 9">
            <a:extLst>
              <a:ext uri="{FF2B5EF4-FFF2-40B4-BE49-F238E27FC236}">
                <a16:creationId xmlns:a16="http://schemas.microsoft.com/office/drawing/2014/main" id="{D4C5DFDD-7F34-717D-AEF3-A18C4F2AB5AB}"/>
              </a:ext>
            </a:extLst>
          </p:cNvPr>
          <p:cNvSpPr>
            <a:spLocks noGrp="1"/>
          </p:cNvSpPr>
          <p:nvPr>
            <p:ph sz="quarter" idx="10" hasCustomPrompt="1"/>
          </p:nvPr>
        </p:nvSpPr>
        <p:spPr>
          <a:xfrm>
            <a:off x="494188" y="2972414"/>
            <a:ext cx="11520000" cy="312936"/>
          </a:xfrm>
        </p:spPr>
        <p:txBody>
          <a:bodyPr>
            <a:noAutofit/>
          </a:bodyPr>
          <a:lstStyle>
            <a:lvl1pPr marL="0" indent="0">
              <a:buNone/>
              <a:defRPr sz="2000" i="1">
                <a:latin typeface="+mn-lt"/>
              </a:defRPr>
            </a:lvl1pPr>
          </a:lstStyle>
          <a:p>
            <a:pPr lvl="0"/>
            <a:r>
              <a:rPr lang="de-DE" dirty="0" err="1"/>
              <a:t>Subtitle</a:t>
            </a:r>
            <a:endParaRPr lang="de-DE" dirty="0"/>
          </a:p>
        </p:txBody>
      </p:sp>
      <p:sp>
        <p:nvSpPr>
          <p:cNvPr id="11" name="Inhaltsplatzhalter 9">
            <a:extLst>
              <a:ext uri="{FF2B5EF4-FFF2-40B4-BE49-F238E27FC236}">
                <a16:creationId xmlns:a16="http://schemas.microsoft.com/office/drawing/2014/main" id="{6447E8E3-03B3-CD18-A5BB-BDEE17125F72}"/>
              </a:ext>
            </a:extLst>
          </p:cNvPr>
          <p:cNvSpPr>
            <a:spLocks noGrp="1"/>
          </p:cNvSpPr>
          <p:nvPr>
            <p:ph sz="quarter" idx="11" hasCustomPrompt="1"/>
          </p:nvPr>
        </p:nvSpPr>
        <p:spPr>
          <a:xfrm>
            <a:off x="494188" y="3325925"/>
            <a:ext cx="11520000" cy="312936"/>
          </a:xfrm>
        </p:spPr>
        <p:txBody>
          <a:bodyPr>
            <a:noAutofit/>
          </a:bodyPr>
          <a:lstStyle>
            <a:lvl1pPr marL="0" indent="0">
              <a:buNone/>
              <a:defRPr sz="2000" i="0">
                <a:latin typeface="+mn-lt"/>
              </a:defRPr>
            </a:lvl1pPr>
          </a:lstStyle>
          <a:p>
            <a:pPr lvl="0"/>
            <a:r>
              <a:rPr lang="de-DE" dirty="0"/>
              <a:t>Date</a:t>
            </a:r>
          </a:p>
        </p:txBody>
      </p:sp>
      <p:sp>
        <p:nvSpPr>
          <p:cNvPr id="12" name="Inhaltsplatzhalter 9">
            <a:extLst>
              <a:ext uri="{FF2B5EF4-FFF2-40B4-BE49-F238E27FC236}">
                <a16:creationId xmlns:a16="http://schemas.microsoft.com/office/drawing/2014/main" id="{90B7E13C-6AED-A96A-DFFD-29A7DF10E4E3}"/>
              </a:ext>
            </a:extLst>
          </p:cNvPr>
          <p:cNvSpPr>
            <a:spLocks noGrp="1"/>
          </p:cNvSpPr>
          <p:nvPr>
            <p:ph sz="quarter" idx="12" hasCustomPrompt="1"/>
          </p:nvPr>
        </p:nvSpPr>
        <p:spPr>
          <a:xfrm>
            <a:off x="494188" y="4297363"/>
            <a:ext cx="11520000" cy="312936"/>
          </a:xfrm>
        </p:spPr>
        <p:txBody>
          <a:bodyPr>
            <a:noAutofit/>
          </a:bodyPr>
          <a:lstStyle>
            <a:lvl1pPr marL="0" indent="0">
              <a:buNone/>
              <a:defRPr sz="2000" i="0">
                <a:latin typeface="+mn-lt"/>
              </a:defRPr>
            </a:lvl1pPr>
          </a:lstStyle>
          <a:p>
            <a:pPr lvl="0"/>
            <a:r>
              <a:rPr lang="en-US" sz="2000" i="1" dirty="0">
                <a:solidFill>
                  <a:schemeClr val="tx1">
                    <a:lumMod val="65000"/>
                    <a:lumOff val="35000"/>
                  </a:schemeClr>
                </a:solidFill>
              </a:rPr>
              <a:t>Prof. Dr. Angela Schoellig</a:t>
            </a:r>
            <a:endParaRPr lang="de-DE" dirty="0"/>
          </a:p>
        </p:txBody>
      </p:sp>
      <p:sp>
        <p:nvSpPr>
          <p:cNvPr id="14" name="Textfeld 13">
            <a:extLst>
              <a:ext uri="{FF2B5EF4-FFF2-40B4-BE49-F238E27FC236}">
                <a16:creationId xmlns:a16="http://schemas.microsoft.com/office/drawing/2014/main" id="{CEA38894-2CF7-EB1B-6E8A-7395C31C1928}"/>
              </a:ext>
            </a:extLst>
          </p:cNvPr>
          <p:cNvSpPr txBox="1"/>
          <p:nvPr/>
        </p:nvSpPr>
        <p:spPr>
          <a:xfrm>
            <a:off x="494188" y="4614940"/>
            <a:ext cx="11520000" cy="707886"/>
          </a:xfrm>
          <a:prstGeom prst="rect">
            <a:avLst/>
          </a:prstGeom>
          <a:noFill/>
        </p:spPr>
        <p:txBody>
          <a:bodyPr wrap="square" rtlCol="0">
            <a:spAutoFit/>
          </a:bodyPr>
          <a:lstStyle/>
          <a:p>
            <a:r>
              <a:rPr lang="en-US" sz="2000" i="1" dirty="0">
                <a:solidFill>
                  <a:schemeClr val="tx1">
                    <a:lumMod val="65000"/>
                    <a:lumOff val="35000"/>
                  </a:schemeClr>
                </a:solidFill>
              </a:rPr>
              <a:t>Chair of Safety, Performance and Reliability for Learning Systems</a:t>
            </a:r>
            <a:br>
              <a:rPr lang="en-US" sz="2000" i="1" dirty="0">
                <a:solidFill>
                  <a:schemeClr val="tx1">
                    <a:lumMod val="65000"/>
                    <a:lumOff val="35000"/>
                  </a:schemeClr>
                </a:solidFill>
              </a:rPr>
            </a:br>
            <a:r>
              <a:rPr lang="en-US" sz="2000" i="1" dirty="0">
                <a:solidFill>
                  <a:schemeClr val="tx1">
                    <a:lumMod val="65000"/>
                    <a:lumOff val="35000"/>
                  </a:schemeClr>
                </a:solidFill>
              </a:rPr>
              <a:t>School of Computation, Information and Technology</a:t>
            </a:r>
          </a:p>
        </p:txBody>
      </p:sp>
    </p:spTree>
    <p:extLst>
      <p:ext uri="{BB962C8B-B14F-4D97-AF65-F5344CB8AC3E}">
        <p14:creationId xmlns:p14="http://schemas.microsoft.com/office/powerpoint/2010/main" val="1345900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C778693-3A38-1540-A2BE-EADEC66B3949}"/>
              </a:ext>
            </a:extLst>
          </p:cNvPr>
          <p:cNvSpPr/>
          <p:nvPr/>
        </p:nvSpPr>
        <p:spPr>
          <a:xfrm>
            <a:off x="0" y="0"/>
            <a:ext cx="12192000" cy="14879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a:latin typeface="Calibri" panose="020F0502020204030204" pitchFamily="34" charset="0"/>
            </a:endParaRPr>
          </a:p>
        </p:txBody>
      </p:sp>
      <p:sp>
        <p:nvSpPr>
          <p:cNvPr id="8" name="Titel 7">
            <a:extLst>
              <a:ext uri="{FF2B5EF4-FFF2-40B4-BE49-F238E27FC236}">
                <a16:creationId xmlns:a16="http://schemas.microsoft.com/office/drawing/2014/main" id="{FCB1B460-9C8E-CB6C-D0E4-7CC22E8E0D32}"/>
              </a:ext>
            </a:extLst>
          </p:cNvPr>
          <p:cNvSpPr>
            <a:spLocks noGrp="1"/>
          </p:cNvSpPr>
          <p:nvPr>
            <p:ph type="title"/>
          </p:nvPr>
        </p:nvSpPr>
        <p:spPr>
          <a:xfrm>
            <a:off x="582420" y="2679032"/>
            <a:ext cx="11520000" cy="633658"/>
          </a:xfrm>
          <a:prstGeom prst="rect">
            <a:avLst/>
          </a:prstGeom>
        </p:spPr>
        <p:txBody>
          <a:bodyPr anchor="b">
            <a:noAutofit/>
          </a:bodyPr>
          <a:lstStyle>
            <a:lvl1pPr>
              <a:defRPr sz="2800">
                <a:solidFill>
                  <a:schemeClr val="tx1">
                    <a:lumMod val="65000"/>
                    <a:lumOff val="35000"/>
                  </a:schemeClr>
                </a:solidFill>
              </a:defRPr>
            </a:lvl1pPr>
          </a:lstStyle>
          <a:p>
            <a:r>
              <a:rPr lang="de-DE"/>
              <a:t>Mastertitelformat bearbeiten</a:t>
            </a:r>
            <a:endParaRPr lang="de-DE" dirty="0"/>
          </a:p>
        </p:txBody>
      </p:sp>
      <p:sp>
        <p:nvSpPr>
          <p:cNvPr id="3" name="Textplatzhalter 7">
            <a:extLst>
              <a:ext uri="{FF2B5EF4-FFF2-40B4-BE49-F238E27FC236}">
                <a16:creationId xmlns:a16="http://schemas.microsoft.com/office/drawing/2014/main" id="{DD6D1FA6-8B2F-A650-E3C1-3CFCAF993DFE}"/>
              </a:ext>
            </a:extLst>
          </p:cNvPr>
          <p:cNvSpPr>
            <a:spLocks noGrp="1"/>
          </p:cNvSpPr>
          <p:nvPr>
            <p:ph type="body" sz="quarter" idx="11" hasCustomPrompt="1"/>
          </p:nvPr>
        </p:nvSpPr>
        <p:spPr>
          <a:xfrm>
            <a:off x="382588" y="6223000"/>
            <a:ext cx="10729912" cy="635000"/>
          </a:xfrm>
        </p:spPr>
        <p:txBody>
          <a:bodyPr numCol="3">
            <a:noAutofit/>
          </a:bodyPr>
          <a:lstStyle>
            <a:lvl1pPr marL="0" indent="0">
              <a:buNone/>
              <a:defRPr sz="800"/>
            </a:lvl1pPr>
            <a:lvl2pPr>
              <a:defRPr sz="800"/>
            </a:lvl2pPr>
            <a:lvl3pPr>
              <a:defRPr sz="800"/>
            </a:lvl3pPr>
            <a:lvl4pPr>
              <a:defRPr sz="800"/>
            </a:lvl4pPr>
            <a:lvl5pPr>
              <a:defRPr sz="800"/>
            </a:lvl5pPr>
          </a:lstStyle>
          <a:p>
            <a:pPr lvl="0"/>
            <a:r>
              <a:rPr lang="de-DE" dirty="0"/>
              <a:t>Sources</a:t>
            </a:r>
          </a:p>
        </p:txBody>
      </p:sp>
    </p:spTree>
    <p:extLst>
      <p:ext uri="{BB962C8B-B14F-4D97-AF65-F5344CB8AC3E}">
        <p14:creationId xmlns:p14="http://schemas.microsoft.com/office/powerpoint/2010/main" val="4521935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
        <p:nvSpPr>
          <p:cNvPr id="2" name="Textplatzhalter 7">
            <a:extLst>
              <a:ext uri="{FF2B5EF4-FFF2-40B4-BE49-F238E27FC236}">
                <a16:creationId xmlns:a16="http://schemas.microsoft.com/office/drawing/2014/main" id="{AB2AEF6E-29D7-0603-5866-B8D5A2645DB5}"/>
              </a:ext>
            </a:extLst>
          </p:cNvPr>
          <p:cNvSpPr>
            <a:spLocks noGrp="1"/>
          </p:cNvSpPr>
          <p:nvPr>
            <p:ph type="body" sz="quarter" idx="11" hasCustomPrompt="1"/>
          </p:nvPr>
        </p:nvSpPr>
        <p:spPr>
          <a:xfrm>
            <a:off x="382588" y="6223000"/>
            <a:ext cx="10729912" cy="635000"/>
          </a:xfrm>
        </p:spPr>
        <p:txBody>
          <a:bodyPr numCol="3">
            <a:noAutofit/>
          </a:bodyPr>
          <a:lstStyle>
            <a:lvl1pPr marL="0" indent="0">
              <a:buNone/>
              <a:defRPr sz="800"/>
            </a:lvl1pPr>
            <a:lvl2pPr>
              <a:defRPr sz="800"/>
            </a:lvl2pPr>
            <a:lvl3pPr>
              <a:defRPr sz="800"/>
            </a:lvl3pPr>
            <a:lvl4pPr>
              <a:defRPr sz="800"/>
            </a:lvl4pPr>
            <a:lvl5pPr>
              <a:defRPr sz="800"/>
            </a:lvl5pPr>
          </a:lstStyle>
          <a:p>
            <a:pPr lvl="0"/>
            <a:r>
              <a:rPr lang="de-DE" dirty="0"/>
              <a:t>Sources</a:t>
            </a:r>
          </a:p>
        </p:txBody>
      </p:sp>
    </p:spTree>
    <p:extLst>
      <p:ext uri="{BB962C8B-B14F-4D97-AF65-F5344CB8AC3E}">
        <p14:creationId xmlns:p14="http://schemas.microsoft.com/office/powerpoint/2010/main" val="14041449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ndard">
    <p:spTree>
      <p:nvGrpSpPr>
        <p:cNvPr id="1" name=""/>
        <p:cNvGrpSpPr/>
        <p:nvPr/>
      </p:nvGrpSpPr>
      <p:grpSpPr>
        <a:xfrm>
          <a:off x="0" y="0"/>
          <a:ext cx="0" cy="0"/>
          <a:chOff x="0" y="0"/>
          <a:chExt cx="0" cy="0"/>
        </a:xfrm>
      </p:grpSpPr>
      <p:sp>
        <p:nvSpPr>
          <p:cNvPr id="9" name="Title Placeholder 1">
            <a:extLst>
              <a:ext uri="{FF2B5EF4-FFF2-40B4-BE49-F238E27FC236}">
                <a16:creationId xmlns:a16="http://schemas.microsoft.com/office/drawing/2014/main" id="{18BBB40A-34ED-977B-6896-AA360A4DE38A}"/>
              </a:ext>
            </a:extLst>
          </p:cNvPr>
          <p:cNvSpPr>
            <a:spLocks noGrp="1"/>
          </p:cNvSpPr>
          <p:nvPr>
            <p:ph type="title"/>
          </p:nvPr>
        </p:nvSpPr>
        <p:spPr>
          <a:xfrm>
            <a:off x="382905" y="727962"/>
            <a:ext cx="10515600" cy="419804"/>
          </a:xfrm>
          <a:prstGeom prst="rect">
            <a:avLst/>
          </a:prstGeom>
        </p:spPr>
        <p:txBody>
          <a:bodyPr vert="horz" lIns="91440" tIns="45720" rIns="91440" bIns="45720" rtlCol="0" anchor="ctr">
            <a:normAutofit/>
          </a:bodyPr>
          <a:lstStyle/>
          <a:p>
            <a:r>
              <a:rPr lang="de-DE">
                <a:solidFill>
                  <a:schemeClr val="tx1">
                    <a:lumMod val="75000"/>
                    <a:lumOff val="25000"/>
                  </a:schemeClr>
                </a:solidFill>
                <a:latin typeface="Oswald" panose="00000500000000000000" pitchFamily="2" charset="0"/>
              </a:rPr>
              <a:t>Mastertitelformat bearbeiten</a:t>
            </a:r>
            <a:endParaRPr lang="en-US" dirty="0">
              <a:solidFill>
                <a:schemeClr val="tx1">
                  <a:lumMod val="75000"/>
                  <a:lumOff val="25000"/>
                </a:schemeClr>
              </a:solidFill>
              <a:latin typeface="Oswald" panose="00000500000000000000" pitchFamily="2" charset="0"/>
              <a:ea typeface="Open Sans Condensed Light" panose="020B0306030504020204" pitchFamily="34" charset="0"/>
              <a:cs typeface="Open Sans Condensed Light" panose="020B0306030504020204" pitchFamily="34" charset="0"/>
            </a:endParaRPr>
          </a:p>
        </p:txBody>
      </p:sp>
      <p:sp>
        <p:nvSpPr>
          <p:cNvPr id="11" name="Inhaltsplatzhalter 10">
            <a:extLst>
              <a:ext uri="{FF2B5EF4-FFF2-40B4-BE49-F238E27FC236}">
                <a16:creationId xmlns:a16="http://schemas.microsoft.com/office/drawing/2014/main" id="{05364FF8-4533-422D-5E3A-8BB4DECB6937}"/>
              </a:ext>
            </a:extLst>
          </p:cNvPr>
          <p:cNvSpPr>
            <a:spLocks noGrp="1"/>
          </p:cNvSpPr>
          <p:nvPr>
            <p:ph sz="quarter" idx="10"/>
          </p:nvPr>
        </p:nvSpPr>
        <p:spPr>
          <a:xfrm>
            <a:off x="841372" y="1350963"/>
            <a:ext cx="10056815" cy="4778375"/>
          </a:xfrm>
        </p:spPr>
        <p:txBody>
          <a:bodyPr>
            <a:normAutofit/>
          </a:bodyPr>
          <a:lstStyle>
            <a:lvl1pPr>
              <a:defRPr sz="2400"/>
            </a:lvl1pPr>
            <a:lvl2pPr>
              <a:defRPr sz="2000"/>
            </a:lvl2pPr>
            <a:lvl3pPr>
              <a:defRPr sz="1800"/>
            </a:lvl3pPr>
            <a:lvl4pPr>
              <a:defRPr sz="1600"/>
            </a:lvl4pPr>
            <a:lvl5pPr>
              <a:defRPr sz="16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8" name="Textplatzhalter 7">
            <a:extLst>
              <a:ext uri="{FF2B5EF4-FFF2-40B4-BE49-F238E27FC236}">
                <a16:creationId xmlns:a16="http://schemas.microsoft.com/office/drawing/2014/main" id="{630D7BA6-D517-500C-42CE-5F7DF509BA03}"/>
              </a:ext>
            </a:extLst>
          </p:cNvPr>
          <p:cNvSpPr>
            <a:spLocks noGrp="1"/>
          </p:cNvSpPr>
          <p:nvPr>
            <p:ph type="body" sz="quarter" idx="11" hasCustomPrompt="1"/>
          </p:nvPr>
        </p:nvSpPr>
        <p:spPr>
          <a:xfrm>
            <a:off x="382588" y="6223000"/>
            <a:ext cx="10729912" cy="635000"/>
          </a:xfrm>
        </p:spPr>
        <p:txBody>
          <a:bodyPr numCol="3">
            <a:noAutofit/>
          </a:bodyPr>
          <a:lstStyle>
            <a:lvl1pPr marL="0" indent="0">
              <a:buNone/>
              <a:defRPr sz="800"/>
            </a:lvl1pPr>
            <a:lvl2pPr>
              <a:defRPr sz="800"/>
            </a:lvl2pPr>
            <a:lvl3pPr>
              <a:defRPr sz="800"/>
            </a:lvl3pPr>
            <a:lvl4pPr>
              <a:defRPr sz="800"/>
            </a:lvl4pPr>
            <a:lvl5pPr>
              <a:defRPr sz="800"/>
            </a:lvl5pPr>
          </a:lstStyle>
          <a:p>
            <a:pPr lvl="0"/>
            <a:r>
              <a:rPr lang="de-DE" dirty="0"/>
              <a:t>Sources</a:t>
            </a:r>
          </a:p>
        </p:txBody>
      </p:sp>
      <p:sp>
        <p:nvSpPr>
          <p:cNvPr id="2" name="Textplatzhalter 5">
            <a:extLst>
              <a:ext uri="{FF2B5EF4-FFF2-40B4-BE49-F238E27FC236}">
                <a16:creationId xmlns:a16="http://schemas.microsoft.com/office/drawing/2014/main" id="{8285C1BE-97B3-A3EE-FF6E-5A49E23F1471}"/>
              </a:ext>
            </a:extLst>
          </p:cNvPr>
          <p:cNvSpPr>
            <a:spLocks noGrp="1"/>
          </p:cNvSpPr>
          <p:nvPr>
            <p:ph type="body" sz="quarter" idx="12" hasCustomPrompt="1"/>
          </p:nvPr>
        </p:nvSpPr>
        <p:spPr>
          <a:xfrm>
            <a:off x="386599" y="385065"/>
            <a:ext cx="10515599" cy="419804"/>
          </a:xfrm>
        </p:spPr>
        <p:txBody>
          <a:bodyPr>
            <a:noAutofit/>
          </a:bodyPr>
          <a:lstStyle>
            <a:lvl1pPr marL="0" indent="0">
              <a:buNone/>
              <a:defRPr lang="en-US" sz="2000" kern="1200" dirty="0">
                <a:solidFill>
                  <a:schemeClr val="tx1">
                    <a:lumMod val="75000"/>
                    <a:lumOff val="25000"/>
                  </a:schemeClr>
                </a:solidFill>
                <a:latin typeface="Oswald ExtraLight" panose="00000300000000000000" pitchFamily="2" charset="0"/>
                <a:ea typeface="+mj-ea"/>
                <a:cs typeface="+mj-cs"/>
              </a:defRPr>
            </a:lvl1pPr>
          </a:lstStyle>
          <a:p>
            <a:pPr lvl="0"/>
            <a:r>
              <a:rPr lang="de-DE" err="1"/>
              <a:t>Sectiontitle</a:t>
            </a:r>
            <a:endParaRPr lang="en-US"/>
          </a:p>
        </p:txBody>
      </p:sp>
    </p:spTree>
    <p:extLst>
      <p:ext uri="{BB962C8B-B14F-4D97-AF65-F5344CB8AC3E}">
        <p14:creationId xmlns:p14="http://schemas.microsoft.com/office/powerpoint/2010/main" val="28747923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de by side">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0200C05F-8EC2-CE99-743A-0CC8BB7D3C89}"/>
              </a:ext>
            </a:extLst>
          </p:cNvPr>
          <p:cNvSpPr>
            <a:spLocks noGrp="1"/>
          </p:cNvSpPr>
          <p:nvPr>
            <p:ph type="title"/>
          </p:nvPr>
        </p:nvSpPr>
        <p:spPr>
          <a:xfrm>
            <a:off x="382905" y="727962"/>
            <a:ext cx="10515600" cy="419804"/>
          </a:xfrm>
          <a:prstGeom prst="rect">
            <a:avLst/>
          </a:prstGeom>
        </p:spPr>
        <p:txBody>
          <a:bodyPr vert="horz" lIns="91440" tIns="45720" rIns="91440" bIns="45720" rtlCol="0" anchor="ctr">
            <a:normAutofit/>
          </a:bodyPr>
          <a:lstStyle/>
          <a:p>
            <a:r>
              <a:rPr lang="de-DE">
                <a:solidFill>
                  <a:schemeClr val="tx1">
                    <a:lumMod val="75000"/>
                    <a:lumOff val="25000"/>
                  </a:schemeClr>
                </a:solidFill>
                <a:latin typeface="Oswald" panose="00000500000000000000" pitchFamily="2" charset="0"/>
              </a:rPr>
              <a:t>Mastertitelformat bearbeiten</a:t>
            </a:r>
            <a:endParaRPr lang="en-US" dirty="0">
              <a:solidFill>
                <a:schemeClr val="tx1">
                  <a:lumMod val="75000"/>
                  <a:lumOff val="25000"/>
                </a:schemeClr>
              </a:solidFill>
              <a:latin typeface="Oswald" panose="00000500000000000000" pitchFamily="2" charset="0"/>
              <a:ea typeface="Open Sans Condensed Light" panose="020B0306030504020204" pitchFamily="34" charset="0"/>
              <a:cs typeface="Open Sans Condensed Light" panose="020B0306030504020204" pitchFamily="34" charset="0"/>
            </a:endParaRPr>
          </a:p>
        </p:txBody>
      </p:sp>
      <p:sp>
        <p:nvSpPr>
          <p:cNvPr id="11" name="Inhaltsplatzhalter 10">
            <a:extLst>
              <a:ext uri="{FF2B5EF4-FFF2-40B4-BE49-F238E27FC236}">
                <a16:creationId xmlns:a16="http://schemas.microsoft.com/office/drawing/2014/main" id="{BA840236-F352-AB01-99DD-BF5E75C97C6E}"/>
              </a:ext>
            </a:extLst>
          </p:cNvPr>
          <p:cNvSpPr>
            <a:spLocks noGrp="1"/>
          </p:cNvSpPr>
          <p:nvPr>
            <p:ph sz="quarter" idx="10"/>
          </p:nvPr>
        </p:nvSpPr>
        <p:spPr>
          <a:xfrm>
            <a:off x="841373" y="1350963"/>
            <a:ext cx="4802189" cy="4779075"/>
          </a:xfrm>
        </p:spPr>
        <p:txBody>
          <a:bodyPr>
            <a:normAutofit/>
          </a:bodyPr>
          <a:lstStyle>
            <a:lvl1pPr>
              <a:defRPr sz="2400"/>
            </a:lvl1pPr>
            <a:lvl2pPr>
              <a:defRPr sz="2000"/>
            </a:lvl2pPr>
            <a:lvl3pPr>
              <a:defRPr sz="1800"/>
            </a:lvl3pPr>
            <a:lvl4pPr>
              <a:defRPr sz="1600"/>
            </a:lvl4pPr>
            <a:lvl5pPr>
              <a:defRPr sz="16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4" name="Inhaltsplatzhalter 13">
            <a:extLst>
              <a:ext uri="{FF2B5EF4-FFF2-40B4-BE49-F238E27FC236}">
                <a16:creationId xmlns:a16="http://schemas.microsoft.com/office/drawing/2014/main" id="{06FCA2AE-4E9A-9E36-3148-3F4D8F50D1B7}"/>
              </a:ext>
            </a:extLst>
          </p:cNvPr>
          <p:cNvSpPr>
            <a:spLocks noGrp="1"/>
          </p:cNvSpPr>
          <p:nvPr>
            <p:ph sz="quarter" idx="11"/>
          </p:nvPr>
        </p:nvSpPr>
        <p:spPr>
          <a:xfrm>
            <a:off x="6096000" y="1350963"/>
            <a:ext cx="4802188" cy="4779074"/>
          </a:xfrm>
        </p:spPr>
        <p:txBody>
          <a:bodyPr>
            <a:normAutofit/>
          </a:bodyPr>
          <a:lstStyle>
            <a:lvl1pPr>
              <a:defRPr sz="2400"/>
            </a:lvl1pPr>
            <a:lvl2pPr>
              <a:defRPr sz="2000"/>
            </a:lvl2pPr>
            <a:lvl3pPr>
              <a:defRPr sz="1800"/>
            </a:lvl3pPr>
            <a:lvl4pPr>
              <a:defRPr sz="1600"/>
            </a:lvl4pPr>
            <a:lvl5pPr>
              <a:defRPr sz="16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 name="Textplatzhalter 5">
            <a:extLst>
              <a:ext uri="{FF2B5EF4-FFF2-40B4-BE49-F238E27FC236}">
                <a16:creationId xmlns:a16="http://schemas.microsoft.com/office/drawing/2014/main" id="{D5F8ED99-64E0-0F9D-F602-1EF68AEAC148}"/>
              </a:ext>
            </a:extLst>
          </p:cNvPr>
          <p:cNvSpPr>
            <a:spLocks noGrp="1"/>
          </p:cNvSpPr>
          <p:nvPr>
            <p:ph type="body" sz="quarter" idx="12" hasCustomPrompt="1"/>
          </p:nvPr>
        </p:nvSpPr>
        <p:spPr>
          <a:xfrm>
            <a:off x="386599" y="385065"/>
            <a:ext cx="10515599" cy="419804"/>
          </a:xfrm>
        </p:spPr>
        <p:txBody>
          <a:bodyPr>
            <a:noAutofit/>
          </a:bodyPr>
          <a:lstStyle>
            <a:lvl1pPr marL="0" indent="0">
              <a:buNone/>
              <a:defRPr lang="en-US" sz="2000" kern="1200" dirty="0">
                <a:solidFill>
                  <a:schemeClr val="tx1">
                    <a:lumMod val="75000"/>
                    <a:lumOff val="25000"/>
                  </a:schemeClr>
                </a:solidFill>
                <a:latin typeface="Oswald ExtraLight" panose="00000300000000000000" pitchFamily="2" charset="0"/>
                <a:ea typeface="+mj-ea"/>
                <a:cs typeface="+mj-cs"/>
              </a:defRPr>
            </a:lvl1pPr>
          </a:lstStyle>
          <a:p>
            <a:pPr lvl="0"/>
            <a:r>
              <a:rPr lang="de-DE" dirty="0" err="1"/>
              <a:t>Sectiontitle</a:t>
            </a:r>
            <a:endParaRPr lang="en-US" dirty="0"/>
          </a:p>
        </p:txBody>
      </p:sp>
      <p:sp>
        <p:nvSpPr>
          <p:cNvPr id="3" name="Textplatzhalter 7">
            <a:extLst>
              <a:ext uri="{FF2B5EF4-FFF2-40B4-BE49-F238E27FC236}">
                <a16:creationId xmlns:a16="http://schemas.microsoft.com/office/drawing/2014/main" id="{389AF915-F8DC-714E-C7B9-AB70250478F0}"/>
              </a:ext>
            </a:extLst>
          </p:cNvPr>
          <p:cNvSpPr>
            <a:spLocks noGrp="1"/>
          </p:cNvSpPr>
          <p:nvPr>
            <p:ph type="body" sz="quarter" idx="13" hasCustomPrompt="1"/>
          </p:nvPr>
        </p:nvSpPr>
        <p:spPr>
          <a:xfrm>
            <a:off x="382588" y="6223000"/>
            <a:ext cx="10729912" cy="635000"/>
          </a:xfrm>
        </p:spPr>
        <p:txBody>
          <a:bodyPr numCol="3">
            <a:noAutofit/>
          </a:bodyPr>
          <a:lstStyle>
            <a:lvl1pPr marL="0" indent="0">
              <a:buNone/>
              <a:defRPr sz="800"/>
            </a:lvl1pPr>
            <a:lvl2pPr>
              <a:defRPr sz="800"/>
            </a:lvl2pPr>
            <a:lvl3pPr>
              <a:defRPr sz="800"/>
            </a:lvl3pPr>
            <a:lvl4pPr>
              <a:defRPr sz="800"/>
            </a:lvl4pPr>
            <a:lvl5pPr>
              <a:defRPr sz="800"/>
            </a:lvl5pPr>
          </a:lstStyle>
          <a:p>
            <a:pPr lvl="0"/>
            <a:r>
              <a:rPr lang="de-DE" dirty="0"/>
              <a:t>Sources</a:t>
            </a:r>
          </a:p>
        </p:txBody>
      </p:sp>
    </p:spTree>
    <p:extLst>
      <p:ext uri="{BB962C8B-B14F-4D97-AF65-F5344CB8AC3E}">
        <p14:creationId xmlns:p14="http://schemas.microsoft.com/office/powerpoint/2010/main" val="13212028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e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7B0C6BB-F024-7B4F-A916-1E574B1541C8}"/>
              </a:ext>
            </a:extLst>
          </p:cNvPr>
          <p:cNvSpPr>
            <a:spLocks noGrp="1"/>
          </p:cNvSpPr>
          <p:nvPr>
            <p:ph type="body" idx="1"/>
          </p:nvPr>
        </p:nvSpPr>
        <p:spPr>
          <a:xfrm>
            <a:off x="838200" y="1290568"/>
            <a:ext cx="10515600" cy="488639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cxnSp>
        <p:nvCxnSpPr>
          <p:cNvPr id="19" name="Straight Connector 18">
            <a:extLst>
              <a:ext uri="{FF2B5EF4-FFF2-40B4-BE49-F238E27FC236}">
                <a16:creationId xmlns:a16="http://schemas.microsoft.com/office/drawing/2014/main" id="{E4E4E9B8-101E-8C40-885A-F55C07567F21}"/>
              </a:ext>
            </a:extLst>
          </p:cNvPr>
          <p:cNvCxnSpPr>
            <a:cxnSpLocks/>
          </p:cNvCxnSpPr>
          <p:nvPr/>
        </p:nvCxnSpPr>
        <p:spPr bwMode="auto">
          <a:xfrm>
            <a:off x="360000" y="1152000"/>
            <a:ext cx="10560078" cy="0"/>
          </a:xfrm>
          <a:prstGeom prst="line">
            <a:avLst/>
          </a:prstGeom>
          <a:blipFill dpi="0" rotWithShape="0">
            <a:blip r:embed="rId8"/>
            <a:srcRect/>
            <a:tile tx="0" ty="0" sx="100000" sy="100000" flip="none" algn="tl"/>
          </a:blipFill>
          <a:ln w="12700" cap="flat" cmpd="sng" algn="ctr">
            <a:solidFill>
              <a:srgbClr val="7AB51D"/>
            </a:solidFill>
            <a:prstDash val="solid"/>
            <a:round/>
            <a:headEnd type="none" w="med" len="med"/>
            <a:tailEnd type="none" w="med" len="med"/>
          </a:ln>
          <a:effectLst/>
        </p:spPr>
      </p:cxnSp>
      <p:cxnSp>
        <p:nvCxnSpPr>
          <p:cNvPr id="20" name="Straight Connector 19">
            <a:extLst>
              <a:ext uri="{FF2B5EF4-FFF2-40B4-BE49-F238E27FC236}">
                <a16:creationId xmlns:a16="http://schemas.microsoft.com/office/drawing/2014/main" id="{05AE2691-09BB-C647-9FCF-013218485002}"/>
              </a:ext>
            </a:extLst>
          </p:cNvPr>
          <p:cNvCxnSpPr>
            <a:cxnSpLocks/>
          </p:cNvCxnSpPr>
          <p:nvPr/>
        </p:nvCxnSpPr>
        <p:spPr bwMode="auto">
          <a:xfrm>
            <a:off x="360000" y="6226072"/>
            <a:ext cx="11520000" cy="0"/>
          </a:xfrm>
          <a:prstGeom prst="line">
            <a:avLst/>
          </a:prstGeom>
          <a:blipFill dpi="0" rotWithShape="0">
            <a:blip r:embed="rId8"/>
            <a:srcRect/>
            <a:tile tx="0" ty="0" sx="100000" sy="100000" flip="none" algn="tl"/>
          </a:blipFill>
          <a:ln w="12700" cap="flat" cmpd="sng" algn="ctr">
            <a:solidFill>
              <a:srgbClr val="7AB51D"/>
            </a:solidFill>
            <a:prstDash val="solid"/>
            <a:round/>
            <a:headEnd type="none" w="med" len="med"/>
            <a:tailEnd type="none" w="med" len="med"/>
          </a:ln>
          <a:effectLst/>
        </p:spPr>
      </p:cxnSp>
      <p:sp>
        <p:nvSpPr>
          <p:cNvPr id="21" name="Slide Number Placeholder 6">
            <a:extLst>
              <a:ext uri="{FF2B5EF4-FFF2-40B4-BE49-F238E27FC236}">
                <a16:creationId xmlns:a16="http://schemas.microsoft.com/office/drawing/2014/main" id="{D9B11A88-1872-3E4D-8357-93920F91A5D7}"/>
              </a:ext>
            </a:extLst>
          </p:cNvPr>
          <p:cNvSpPr txBox="1">
            <a:spLocks/>
          </p:cNvSpPr>
          <p:nvPr/>
        </p:nvSpPr>
        <p:spPr>
          <a:xfrm>
            <a:off x="9330723" y="6389195"/>
            <a:ext cx="2585551" cy="365000"/>
          </a:xfrm>
          <a:prstGeom prst="rect">
            <a:avLst/>
          </a:prstGeom>
        </p:spPr>
        <p:txBody>
          <a:bodyPr/>
          <a:lstStyle>
            <a:defPPr>
              <a:defRPr lang="en-US"/>
            </a:defPPr>
            <a:lvl1pPr marL="0" algn="r" defTabSz="914400" rtl="0" eaLnBrk="1" latinLnBrk="0" hangingPunct="1">
              <a:defRPr sz="1500" kern="1200">
                <a:solidFill>
                  <a:schemeClr val="tx1"/>
                </a:solidFill>
                <a:latin typeface="Calibri Light" panose="020F030202020403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DAF2FF1-0F85-5948-B45D-85D15C7A6F9F}" type="slidenum">
              <a:rPr lang="en-US" smtClean="0">
                <a:solidFill>
                  <a:schemeClr val="tx1">
                    <a:lumMod val="75000"/>
                    <a:lumOff val="25000"/>
                  </a:schemeClr>
                </a:solidFill>
                <a:latin typeface="+mn-lt"/>
              </a:rPr>
              <a:pPr/>
              <a:t>‹#›</a:t>
            </a:fld>
            <a:endParaRPr lang="en-US" dirty="0">
              <a:solidFill>
                <a:schemeClr val="tx1">
                  <a:lumMod val="75000"/>
                  <a:lumOff val="25000"/>
                </a:schemeClr>
              </a:solidFill>
              <a:latin typeface="+mn-lt"/>
            </a:endParaRPr>
          </a:p>
        </p:txBody>
      </p:sp>
      <p:pic>
        <p:nvPicPr>
          <p:cNvPr id="22" name="Picture 21">
            <a:extLst>
              <a:ext uri="{FF2B5EF4-FFF2-40B4-BE49-F238E27FC236}">
                <a16:creationId xmlns:a16="http://schemas.microsoft.com/office/drawing/2014/main" id="{21B31D17-1F23-BC44-A237-A2155205E11C}"/>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b="34248"/>
          <a:stretch/>
        </p:blipFill>
        <p:spPr>
          <a:xfrm>
            <a:off x="10898505" y="322814"/>
            <a:ext cx="1203716" cy="835550"/>
          </a:xfrm>
          <a:prstGeom prst="rect">
            <a:avLst/>
          </a:prstGeom>
        </p:spPr>
      </p:pic>
      <p:sp>
        <p:nvSpPr>
          <p:cNvPr id="4" name="Title 1">
            <a:extLst>
              <a:ext uri="{FF2B5EF4-FFF2-40B4-BE49-F238E27FC236}">
                <a16:creationId xmlns:a16="http://schemas.microsoft.com/office/drawing/2014/main" id="{2BDFEDE7-E7EF-BA56-C693-D677BAC4656F}"/>
              </a:ext>
            </a:extLst>
          </p:cNvPr>
          <p:cNvSpPr txBox="1">
            <a:spLocks/>
          </p:cNvSpPr>
          <p:nvPr/>
        </p:nvSpPr>
        <p:spPr>
          <a:xfrm>
            <a:off x="-429117" y="3401109"/>
            <a:ext cx="10858748" cy="44246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endParaRPr lang="en-US" dirty="0">
              <a:solidFill>
                <a:schemeClr val="tx1">
                  <a:lumMod val="75000"/>
                  <a:lumOff val="25000"/>
                </a:schemeClr>
              </a:solidFill>
              <a:latin typeface="Oswald" panose="00000500000000000000" pitchFamily="2" charset="0"/>
              <a:ea typeface="Open Sans Condensed Light" panose="020B0306030504020204" pitchFamily="34" charset="0"/>
              <a:cs typeface="Open Sans Condensed Light" panose="020B0306030504020204" pitchFamily="34" charset="0"/>
            </a:endParaRPr>
          </a:p>
        </p:txBody>
      </p:sp>
      <p:sp>
        <p:nvSpPr>
          <p:cNvPr id="5" name="Titelplatzhalter 4">
            <a:extLst>
              <a:ext uri="{FF2B5EF4-FFF2-40B4-BE49-F238E27FC236}">
                <a16:creationId xmlns:a16="http://schemas.microsoft.com/office/drawing/2014/main" id="{FF3EC424-F876-BDCD-A7C1-A5D874A0BF09}"/>
              </a:ext>
            </a:extLst>
          </p:cNvPr>
          <p:cNvSpPr>
            <a:spLocks noGrp="1"/>
          </p:cNvSpPr>
          <p:nvPr>
            <p:ph type="title"/>
          </p:nvPr>
        </p:nvSpPr>
        <p:spPr>
          <a:xfrm>
            <a:off x="371453" y="103805"/>
            <a:ext cx="10515600" cy="1054559"/>
          </a:xfrm>
          <a:prstGeom prst="rect">
            <a:avLst/>
          </a:prstGeom>
        </p:spPr>
        <p:txBody>
          <a:bodyPr vert="horz" lIns="91440" tIns="45720" rIns="91440" bIns="45720" rtlCol="0" anchor="b">
            <a:normAutofit/>
          </a:bodyPr>
          <a:lstStyle/>
          <a:p>
            <a:r>
              <a:rPr lang="de-DE" dirty="0"/>
              <a:t>Mastertitelformat bearbeiten</a:t>
            </a:r>
          </a:p>
        </p:txBody>
      </p:sp>
      <p:sp>
        <p:nvSpPr>
          <p:cNvPr id="2" name="Slide Number Placeholder 6">
            <a:extLst>
              <a:ext uri="{FF2B5EF4-FFF2-40B4-BE49-F238E27FC236}">
                <a16:creationId xmlns:a16="http://schemas.microsoft.com/office/drawing/2014/main" id="{A9FEC449-540F-CE78-4CED-98FA8B5F921B}"/>
              </a:ext>
            </a:extLst>
          </p:cNvPr>
          <p:cNvSpPr txBox="1">
            <a:spLocks/>
          </p:cNvSpPr>
          <p:nvPr/>
        </p:nvSpPr>
        <p:spPr>
          <a:xfrm>
            <a:off x="6618082" y="6460048"/>
            <a:ext cx="4882281" cy="365000"/>
          </a:xfrm>
          <a:prstGeom prst="rect">
            <a:avLst/>
          </a:prstGeom>
        </p:spPr>
        <p:txBody>
          <a:bodyPr/>
          <a:lstStyle>
            <a:defPPr>
              <a:defRPr lang="en-US"/>
            </a:defPPr>
            <a:lvl1pPr marL="0" algn="r" defTabSz="914400" rtl="0" eaLnBrk="1" latinLnBrk="0" hangingPunct="1">
              <a:defRPr sz="1500" kern="1200">
                <a:solidFill>
                  <a:schemeClr val="tx1"/>
                </a:solidFill>
                <a:latin typeface="Calibri Light" panose="020F030202020403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800" noProof="0" dirty="0">
                <a:solidFill>
                  <a:schemeClr val="tx1">
                    <a:lumMod val="65000"/>
                    <a:lumOff val="35000"/>
                  </a:schemeClr>
                </a:solidFill>
              </a:rPr>
              <a:t>Your Name, Date</a:t>
            </a:r>
          </a:p>
          <a:p>
            <a:r>
              <a:rPr lang="en-US" sz="800" noProof="0" dirty="0">
                <a:solidFill>
                  <a:schemeClr val="tx1">
                    <a:lumMod val="65000"/>
                    <a:lumOff val="35000"/>
                  </a:schemeClr>
                </a:solidFill>
              </a:rPr>
              <a:t>Title</a:t>
            </a:r>
            <a:endParaRPr lang="en-US" sz="800" noProof="0" dirty="0">
              <a:solidFill>
                <a:schemeClr val="tx1">
                  <a:lumMod val="65000"/>
                  <a:lumOff val="35000"/>
                </a:schemeClr>
              </a:solidFill>
              <a:latin typeface="+mn-lt"/>
            </a:endParaRPr>
          </a:p>
        </p:txBody>
      </p:sp>
    </p:spTree>
    <p:extLst>
      <p:ext uri="{BB962C8B-B14F-4D97-AF65-F5344CB8AC3E}">
        <p14:creationId xmlns:p14="http://schemas.microsoft.com/office/powerpoint/2010/main" val="380840584"/>
      </p:ext>
    </p:extLst>
  </p:cSld>
  <p:clrMap bg1="lt1" tx1="dk1" bg2="lt2" tx2="dk2" accent1="accent1" accent2="accent2" accent3="accent3" accent4="accent4" accent5="accent5" accent6="accent6" hlink="hlink" folHlink="folHlink"/>
  <p:sldLayoutIdLst>
    <p:sldLayoutId id="2147483649" r:id="rId1"/>
    <p:sldLayoutId id="2147483675" r:id="rId2"/>
    <p:sldLayoutId id="2147483674" r:id="rId3"/>
    <p:sldLayoutId id="2147483671" r:id="rId4"/>
    <p:sldLayoutId id="2147483669" r:id="rId5"/>
    <p:sldLayoutId id="2147483673" r:id="rId6"/>
  </p:sldLayoutIdLst>
  <p:txStyles>
    <p:titleStyle>
      <a:lvl1pPr algn="l" defTabSz="914400" rtl="0" eaLnBrk="1" latinLnBrk="0" hangingPunct="1">
        <a:lnSpc>
          <a:spcPct val="90000"/>
        </a:lnSpc>
        <a:spcBef>
          <a:spcPct val="0"/>
        </a:spcBef>
        <a:buNone/>
        <a:defRPr sz="2800" kern="1200">
          <a:solidFill>
            <a:schemeClr val="tx1">
              <a:lumMod val="65000"/>
              <a:lumOff val="3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b="0" i="0" kern="1200">
          <a:solidFill>
            <a:schemeClr val="tx1">
              <a:lumMod val="65000"/>
              <a:lumOff val="35000"/>
            </a:schemeClr>
          </a:solidFill>
          <a:latin typeface="Calibri Light" panose="020F0302020204030204" pitchFamily="34" charset="0"/>
          <a:ea typeface="+mn-ea"/>
          <a:cs typeface="Calibri Light" panose="020F03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lumMod val="65000"/>
              <a:lumOff val="35000"/>
            </a:schemeClr>
          </a:solidFill>
          <a:latin typeface="Calibri Light" panose="020F0302020204030204" pitchFamily="34" charset="0"/>
          <a:ea typeface="+mn-ea"/>
          <a:cs typeface="Calibri Light" panose="020F03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lumMod val="65000"/>
              <a:lumOff val="35000"/>
            </a:schemeClr>
          </a:solidFill>
          <a:latin typeface="Calibri Light" panose="020F0302020204030204" pitchFamily="34" charset="0"/>
          <a:ea typeface="+mn-ea"/>
          <a:cs typeface="Calibri Light" panose="020F03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lumMod val="65000"/>
              <a:lumOff val="35000"/>
            </a:schemeClr>
          </a:solidFill>
          <a:latin typeface="Calibri Light" panose="020F0302020204030204" pitchFamily="34" charset="0"/>
          <a:ea typeface="+mn-ea"/>
          <a:cs typeface="Calibri Light" panose="020F03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lumMod val="65000"/>
              <a:lumOff val="35000"/>
            </a:schemeClr>
          </a:solidFill>
          <a:latin typeface="Calibri Light" panose="020F0302020204030204" pitchFamily="34" charset="0"/>
          <a:ea typeface="+mn-ea"/>
          <a:cs typeface="Calibri Light" panose="020F03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swald"/>
              </a:rPr>
              <a:t>Feedforward Racing-Line Tracking with an Adaptive Clock</a:t>
            </a:r>
          </a:p>
        </p:txBody>
      </p:sp>
      <p:sp>
        <p:nvSpPr>
          <p:cNvPr id="3" name="Content Placeholder 2"/>
          <p:cNvSpPr>
            <a:spLocks noGrp="1"/>
          </p:cNvSpPr>
          <p:nvPr>
            <p:ph idx="10" sz="quarter"/>
          </p:nvPr>
        </p:nvSpPr>
        <p:spPr/>
        <p:txBody>
          <a:bodyPr/>
          <a:lstStyle/>
          <a:p>
            <a:r>
              <a:rPr sz="2000">
                <a:solidFill>
                  <a:srgbClr val="4472C4"/>
                </a:solidFill>
                <a:latin typeface="Calibri Light"/>
              </a:rPr>
              <a:t>Robust Autonomous Drone Racing under Disturbance</a:t>
            </a:r>
          </a:p>
        </p:txBody>
      </p:sp>
      <p:sp>
        <p:nvSpPr>
          <p:cNvPr id="4" name="Content Placeholder 3"/>
          <p:cNvSpPr>
            <a:spLocks noGrp="1"/>
          </p:cNvSpPr>
          <p:nvPr>
            <p:ph idx="11" sz="quarter"/>
          </p:nvPr>
        </p:nvSpPr>
        <p:spPr/>
        <p:txBody>
          <a:bodyPr/>
          <a:lstStyle/>
          <a:p>
            <a:r>
              <a:rPr sz="1800">
                <a:solidFill>
                  <a:srgbClr val="2E3A48"/>
                </a:solidFill>
                <a:latin typeface="Calibri Light"/>
              </a:rPr>
              <a:t>Ahmet Arda Hiz  ·  Deniz Öztürk</a:t>
            </a:r>
          </a:p>
        </p:txBody>
      </p:sp>
      <p:sp>
        <p:nvSpPr>
          <p:cNvPr id="5" name="Content Placeholder 4"/>
          <p:cNvSpPr>
            <a:spLocks noGrp="1"/>
          </p:cNvSpPr>
          <p:nvPr>
            <p:ph idx="12" sz="quarter"/>
          </p:nvPr>
        </p:nvSpPr>
        <p:spPr/>
        <p:txBody>
          <a:bodyPr/>
          <a:lstStyle/>
          <a:p>
            <a:r>
              <a:rPr sz="1400">
                <a:solidFill>
                  <a:srgbClr val="8A8A8A"/>
                </a:solidFill>
                <a:latin typeface="Calibri Light"/>
              </a:rPr>
              <a:t>Learning Systems and Robotics, TUM  ·  SS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swald"/>
              </a:rPr>
              <a:t>Our idea: fly a precomputed line by the clock</a:t>
            </a:r>
          </a:p>
        </p:txBody>
      </p:sp>
      <p:sp>
        <p:nvSpPr>
          <p:cNvPr id="4" name="Text Placeholder 3"/>
          <p:cNvSpPr>
            <a:spLocks noGrp="1"/>
          </p:cNvSpPr>
          <p:nvPr>
            <p:ph type="body" idx="11" sz="quarter"/>
          </p:nvPr>
        </p:nvSpPr>
        <p:spPr/>
        <p:txBody>
          <a:bodyPr/>
          <a:lstStyle/>
          <a:p>
            <a:r>
              <a:rPr sz="1000">
                <a:solidFill>
                  <a:srgbClr val="8A8A8A"/>
                </a:solidFill>
                <a:latin typeface="Calibri Light"/>
              </a:rPr>
              <a:t>ADR Final Presentation  ·  Hiz &amp; Öztürk</a:t>
            </a:r>
          </a:p>
        </p:txBody>
      </p:sp>
      <p:sp>
        <p:nvSpPr>
          <p:cNvPr id="5" name="Text Placeholder 4"/>
          <p:cNvSpPr>
            <a:spLocks noGrp="1"/>
          </p:cNvSpPr>
          <p:nvPr>
            <p:ph type="body" idx="12" sz="quarter"/>
          </p:nvPr>
        </p:nvSpPr>
        <p:spPr/>
        <p:txBody>
          <a:bodyPr/>
          <a:lstStyle/>
          <a:p>
            <a:r>
              <a:rPr sz="1300" b="1">
                <a:solidFill>
                  <a:srgbClr val="4472C4"/>
                </a:solidFill>
                <a:latin typeface="Oswald"/>
              </a:rPr>
              <a:t>METHODOLOGY / APPROACH</a:t>
            </a:r>
          </a:p>
        </p:txBody>
      </p:sp>
      <p:sp>
        <p:nvSpPr>
          <p:cNvPr id="6" name="TextBox 5"/>
          <p:cNvSpPr txBox="1"/>
          <p:nvPr/>
        </p:nvSpPr>
        <p:spPr>
          <a:xfrm>
            <a:off x="822960" y="1325880"/>
            <a:ext cx="10515600" cy="822960"/>
          </a:xfrm>
          <a:prstGeom prst="rect">
            <a:avLst/>
          </a:prstGeom>
          <a:noFill/>
        </p:spPr>
        <p:txBody>
          <a:bodyPr wrap="square" anchor="t">
            <a:spAutoFit/>
          </a:bodyPr>
          <a:lstStyle/>
          <a:p>
            <a:pPr algn="l">
              <a:spcAft>
                <a:spcPts val="600"/>
              </a:spcAft>
            </a:pPr>
            <a:r>
              <a:rPr sz="1800" b="1">
                <a:solidFill>
                  <a:srgbClr val="2E3A48"/>
                </a:solidFill>
                <a:latin typeface="Calibri Light"/>
              </a:rPr>
              <a:t>Build one time-optimal racing line offline, then just track it — no optimizer in the loop.</a:t>
            </a:r>
          </a:p>
        </p:txBody>
      </p:sp>
      <p:sp>
        <p:nvSpPr>
          <p:cNvPr id="7" name="Rounded Rectangle 6"/>
          <p:cNvSpPr/>
          <p:nvPr/>
        </p:nvSpPr>
        <p:spPr>
          <a:xfrm>
            <a:off x="822960" y="3246120"/>
            <a:ext cx="1828800" cy="749808"/>
          </a:xfrm>
          <a:prstGeom prst="roundRect">
            <a:avLst/>
          </a:prstGeom>
          <a:solidFill>
            <a:srgbClr val="F1F3F6"/>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E3A48"/>
                </a:solidFill>
                <a:latin typeface="Calibri Light"/>
              </a:rPr>
              <a:t>Observation</a:t>
            </a:r>
          </a:p>
        </p:txBody>
      </p:sp>
      <p:sp>
        <p:nvSpPr>
          <p:cNvPr id="8" name="Rounded Rectangle 7"/>
          <p:cNvSpPr/>
          <p:nvPr/>
        </p:nvSpPr>
        <p:spPr>
          <a:xfrm>
            <a:off x="2962656" y="3246120"/>
            <a:ext cx="1828800" cy="749808"/>
          </a:xfrm>
          <a:prstGeom prst="roundRect">
            <a:avLst/>
          </a:prstGeom>
          <a:solidFill>
            <a:srgbClr val="FFFFFF"/>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E3A48"/>
                </a:solidFill>
                <a:latin typeface="Calibri Light"/>
              </a:rPr>
              <a:t>Warp line</a:t>
            </a:r>
          </a:p>
          <a:p>
            <a:pPr algn="ctr"/>
            <a:r>
              <a:rPr sz="1200" b="1">
                <a:solidFill>
                  <a:srgbClr val="2E3A48"/>
                </a:solidFill>
                <a:latin typeface="Calibri Light"/>
              </a:rPr>
              <a:t>to reveal</a:t>
            </a:r>
          </a:p>
        </p:txBody>
      </p:sp>
      <p:sp>
        <p:nvSpPr>
          <p:cNvPr id="9" name="Rounded Rectangle 8"/>
          <p:cNvSpPr/>
          <p:nvPr/>
        </p:nvSpPr>
        <p:spPr>
          <a:xfrm>
            <a:off x="5102352" y="3246120"/>
            <a:ext cx="1828800" cy="749808"/>
          </a:xfrm>
          <a:prstGeom prst="roundRect">
            <a:avLst/>
          </a:prstGeom>
          <a:solidFill>
            <a:srgbClr val="FFFFFF"/>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E3A48"/>
                </a:solidFill>
                <a:latin typeface="Calibri Light"/>
              </a:rPr>
              <a:t>Adaptive</a:t>
            </a:r>
          </a:p>
          <a:p>
            <a:pPr algn="ctr"/>
            <a:r>
              <a:rPr sz="1200" b="1">
                <a:solidFill>
                  <a:srgbClr val="2E3A48"/>
                </a:solidFill>
                <a:latin typeface="Calibri Light"/>
              </a:rPr>
              <a:t>clock</a:t>
            </a:r>
          </a:p>
        </p:txBody>
      </p:sp>
      <p:sp>
        <p:nvSpPr>
          <p:cNvPr id="10" name="Rounded Rectangle 9"/>
          <p:cNvSpPr/>
          <p:nvPr/>
        </p:nvSpPr>
        <p:spPr>
          <a:xfrm>
            <a:off x="7242048" y="3246120"/>
            <a:ext cx="1828800" cy="749808"/>
          </a:xfrm>
          <a:prstGeom prst="roundRect">
            <a:avLst/>
          </a:prstGeom>
          <a:solidFill>
            <a:srgbClr val="FFFFFF"/>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E3A48"/>
                </a:solidFill>
                <a:latin typeface="Calibri Light"/>
              </a:rPr>
              <a:t>Feedforward</a:t>
            </a:r>
          </a:p>
          <a:p>
            <a:pPr algn="ctr"/>
            <a:r>
              <a:rPr sz="1200" b="1">
                <a:solidFill>
                  <a:srgbClr val="2E3A48"/>
                </a:solidFill>
                <a:latin typeface="Calibri Light"/>
              </a:rPr>
              <a:t>+ PD</a:t>
            </a:r>
          </a:p>
        </p:txBody>
      </p:sp>
      <p:sp>
        <p:nvSpPr>
          <p:cNvPr id="11" name="Rounded Rectangle 10"/>
          <p:cNvSpPr/>
          <p:nvPr/>
        </p:nvSpPr>
        <p:spPr>
          <a:xfrm>
            <a:off x="9381744" y="3246120"/>
            <a:ext cx="1828800" cy="749808"/>
          </a:xfrm>
          <a:prstGeom prst="roundRect">
            <a:avLst/>
          </a:prstGeom>
          <a:solidFill>
            <a:srgbClr val="F1F3F6"/>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E3A48"/>
                </a:solidFill>
                <a:latin typeface="Calibri Light"/>
              </a:rPr>
              <a:t>Attitude ctrl</a:t>
            </a:r>
          </a:p>
          <a:p>
            <a:pPr algn="ctr"/>
            <a:r>
              <a:rPr sz="1200" b="1">
                <a:solidFill>
                  <a:srgbClr val="2E3A48"/>
                </a:solidFill>
                <a:latin typeface="Calibri Light"/>
              </a:rPr>
              <a:t>+ drone</a:t>
            </a:r>
          </a:p>
        </p:txBody>
      </p:sp>
      <p:cxnSp>
        <p:nvCxnSpPr>
          <p:cNvPr id="12" name="Connector 11"/>
          <p:cNvCxnSpPr/>
          <p:nvPr/>
        </p:nvCxnSpPr>
        <p:spPr>
          <a:xfrm>
            <a:off x="2651760" y="3621024"/>
            <a:ext cx="310896" cy="0"/>
          </a:xfrm>
          <a:prstGeom prst="line">
            <a:avLst/>
          </a:prstGeom>
          <a:ln w="22225">
            <a:solidFill>
              <a:srgbClr val="2E4053"/>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91456" y="3621024"/>
            <a:ext cx="310896" cy="0"/>
          </a:xfrm>
          <a:prstGeom prst="line">
            <a:avLst/>
          </a:prstGeom>
          <a:ln w="22225">
            <a:solidFill>
              <a:srgbClr val="2E4053"/>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931152" y="3621024"/>
            <a:ext cx="310896" cy="0"/>
          </a:xfrm>
          <a:prstGeom prst="line">
            <a:avLst/>
          </a:prstGeom>
          <a:ln w="22225">
            <a:solidFill>
              <a:srgbClr val="2E4053"/>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070848" y="3621024"/>
            <a:ext cx="310896" cy="0"/>
          </a:xfrm>
          <a:prstGeom prst="line">
            <a:avLst/>
          </a:prstGeom>
          <a:ln w="22225">
            <a:solidFill>
              <a:srgbClr val="2E405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962656" y="2148840"/>
            <a:ext cx="1828800" cy="658368"/>
          </a:xfrm>
          <a:prstGeom prst="roundRect">
            <a:avLst/>
          </a:prstGeom>
          <a:solidFill>
            <a:srgbClr val="EAEF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E3A48"/>
                </a:solidFill>
                <a:latin typeface="Calibri Light"/>
              </a:rPr>
              <a:t>Offline</a:t>
            </a:r>
          </a:p>
          <a:p>
            <a:pPr algn="ctr"/>
            <a:r>
              <a:rPr sz="1200" b="1">
                <a:solidFill>
                  <a:srgbClr val="2E3A48"/>
                </a:solidFill>
                <a:latin typeface="Calibri Light"/>
              </a:rPr>
              <a:t>racing line</a:t>
            </a:r>
          </a:p>
        </p:txBody>
      </p:sp>
      <p:cxnSp>
        <p:nvCxnSpPr>
          <p:cNvPr id="17" name="Connector 16"/>
          <p:cNvCxnSpPr/>
          <p:nvPr/>
        </p:nvCxnSpPr>
        <p:spPr>
          <a:xfrm>
            <a:off x="3877056" y="2807208"/>
            <a:ext cx="0" cy="438912"/>
          </a:xfrm>
          <a:prstGeom prst="line">
            <a:avLst/>
          </a:prstGeom>
          <a:ln w="22225">
            <a:solidFill>
              <a:srgbClr val="4472C4"/>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96144" y="3995928"/>
            <a:ext cx="0" cy="411480"/>
          </a:xfrm>
          <a:prstGeom prst="line">
            <a:avLst/>
          </a:prstGeom>
          <a:ln w="19050">
            <a:solidFill>
              <a:srgbClr val="8A8A8A"/>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737360" y="4407408"/>
            <a:ext cx="8558784" cy="0"/>
          </a:xfrm>
          <a:prstGeom prst="line">
            <a:avLst/>
          </a:prstGeom>
          <a:ln w="19050">
            <a:solidFill>
              <a:srgbClr val="8A8A8A"/>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737360" y="3995928"/>
            <a:ext cx="0" cy="411480"/>
          </a:xfrm>
          <a:prstGeom prst="line">
            <a:avLst/>
          </a:prstGeom>
          <a:ln w="19050">
            <a:solidFill>
              <a:srgbClr val="8A8A8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962656" y="4389120"/>
            <a:ext cx="4572000" cy="274320"/>
          </a:xfrm>
          <a:prstGeom prst="rect">
            <a:avLst/>
          </a:prstGeom>
          <a:noFill/>
        </p:spPr>
        <p:txBody>
          <a:bodyPr wrap="none">
            <a:spAutoFit/>
          </a:bodyPr>
          <a:lstStyle/>
          <a:p>
            <a:r>
              <a:rPr sz="1100" i="1">
                <a:solidFill>
                  <a:srgbClr val="8A8A8A"/>
                </a:solidFill>
                <a:latin typeface="Calibri Light"/>
              </a:rPr>
              <a:t>state feedback, 50 Hz</a:t>
            </a:r>
          </a:p>
        </p:txBody>
      </p:sp>
      <p:sp>
        <p:nvSpPr>
          <p:cNvPr id="22" name="TextBox 21"/>
          <p:cNvSpPr txBox="1"/>
          <p:nvPr/>
        </p:nvSpPr>
        <p:spPr>
          <a:xfrm>
            <a:off x="822960" y="5074920"/>
            <a:ext cx="10515600" cy="822960"/>
          </a:xfrm>
          <a:prstGeom prst="rect">
            <a:avLst/>
          </a:prstGeom>
          <a:noFill/>
        </p:spPr>
        <p:txBody>
          <a:bodyPr wrap="square" anchor="t">
            <a:spAutoFit/>
          </a:bodyPr>
          <a:lstStyle/>
          <a:p>
            <a:pPr algn="l">
              <a:spcAft>
                <a:spcPts val="600"/>
              </a:spcAft>
            </a:pPr>
            <a:r>
              <a:rPr sz="1400" b="0">
                <a:solidFill>
                  <a:srgbClr val="8A8A8A"/>
                </a:solidFill>
                <a:latin typeface="Calibri Light"/>
              </a:rPr>
              <a:t>Why not online MPC or RL? MPC needs a solver in the loop and was hard to push below 8 s; RL needs training and is harder to inspect.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swald"/>
              </a:rPr>
              <a:t>A time-optimal racing line</a:t>
            </a:r>
          </a:p>
        </p:txBody>
      </p:sp>
      <p:sp>
        <p:nvSpPr>
          <p:cNvPr id="4" name="Text Placeholder 3"/>
          <p:cNvSpPr>
            <a:spLocks noGrp="1"/>
          </p:cNvSpPr>
          <p:nvPr>
            <p:ph type="body" idx="11" sz="quarter"/>
          </p:nvPr>
        </p:nvSpPr>
        <p:spPr/>
        <p:txBody>
          <a:bodyPr/>
          <a:lstStyle/>
          <a:p>
            <a:r>
              <a:rPr sz="1000">
                <a:solidFill>
                  <a:srgbClr val="8A8A8A"/>
                </a:solidFill>
                <a:latin typeface="Calibri Light"/>
              </a:rPr>
              <a:t>ADR Final Presentation  ·  Hiz &amp; Öztürk</a:t>
            </a:r>
          </a:p>
        </p:txBody>
      </p:sp>
      <p:sp>
        <p:nvSpPr>
          <p:cNvPr id="5" name="Text Placeholder 4"/>
          <p:cNvSpPr>
            <a:spLocks noGrp="1"/>
          </p:cNvSpPr>
          <p:nvPr>
            <p:ph type="body" idx="12" sz="quarter"/>
          </p:nvPr>
        </p:nvSpPr>
        <p:spPr/>
        <p:txBody>
          <a:bodyPr/>
          <a:lstStyle/>
          <a:p>
            <a:r>
              <a:rPr sz="1300" b="1">
                <a:solidFill>
                  <a:srgbClr val="4472C4"/>
                </a:solidFill>
                <a:latin typeface="Oswald"/>
              </a:rPr>
              <a:t>METHODOLOGY / APPROACH</a:t>
            </a:r>
          </a:p>
        </p:txBody>
      </p:sp>
      <p:sp>
        <p:nvSpPr>
          <p:cNvPr id="6" name="Rectangle 5"/>
          <p:cNvSpPr/>
          <p:nvPr/>
        </p:nvSpPr>
        <p:spPr>
          <a:xfrm>
            <a:off x="822960" y="1463040"/>
            <a:ext cx="5212080" cy="4114800"/>
          </a:xfrm>
          <a:prstGeom prst="rect">
            <a:avLst/>
          </a:prstGeom>
          <a:solidFill>
            <a:srgbClr val="F1F3F6"/>
          </a:solidFill>
          <a:ln w="15875">
            <a:solidFill>
              <a:srgbClr val="4472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i="1">
                <a:solidFill>
                  <a:srgbClr val="8A8A8A"/>
                </a:solidFill>
                <a:latin typeface="Calibri Light"/>
              </a:rPr>
              <a:t>Figure: racing line
(racing_line_sim.png / racing_line_3d.png)
colored by planned speed</a:t>
            </a:r>
          </a:p>
        </p:txBody>
      </p:sp>
      <p:sp>
        <p:nvSpPr>
          <p:cNvPr id="7" name="Rectangle 6"/>
          <p:cNvSpPr/>
          <p:nvPr/>
        </p:nvSpPr>
        <p:spPr>
          <a:xfrm>
            <a:off x="6309360" y="1463040"/>
            <a:ext cx="5029200" cy="2377440"/>
          </a:xfrm>
          <a:prstGeom prst="rect">
            <a:avLst/>
          </a:prstGeom>
          <a:solidFill>
            <a:srgbClr val="F1F3F6"/>
          </a:solidFill>
          <a:ln w="15875">
            <a:solidFill>
              <a:srgbClr val="4472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i="1">
                <a:solidFill>
                  <a:srgbClr val="8A8A8A"/>
                </a:solidFill>
                <a:latin typeface="Calibri Light"/>
              </a:rPr>
              <a:t>Figure: speed profile
(speed_profile.png)</a:t>
            </a:r>
          </a:p>
        </p:txBody>
      </p:sp>
      <p:sp>
        <p:nvSpPr>
          <p:cNvPr id="8" name="TextBox 7"/>
          <p:cNvSpPr txBox="1"/>
          <p:nvPr/>
        </p:nvSpPr>
        <p:spPr>
          <a:xfrm>
            <a:off x="6309360" y="3977639"/>
            <a:ext cx="5029200" cy="1645920"/>
          </a:xfrm>
          <a:prstGeom prst="rect">
            <a:avLst/>
          </a:prstGeom>
          <a:noFill/>
        </p:spPr>
        <p:txBody>
          <a:bodyPr wrap="square" anchor="t">
            <a:spAutoFit/>
          </a:bodyPr>
          <a:lstStyle/>
          <a:p>
            <a:pPr algn="l">
              <a:spcAft>
                <a:spcPts val="600"/>
              </a:spcAft>
            </a:pPr>
            <a:r>
              <a:rPr sz="1500" b="0">
                <a:solidFill>
                  <a:srgbClr val="2E3A48"/>
                </a:solidFill>
                <a:latin typeface="Calibri Light"/>
              </a:rPr>
              <a:t>•  Smooth spline through the gates, crossed straight through each opening.</a:t>
            </a:r>
          </a:p>
          <a:p>
            <a:pPr algn="l">
              <a:spcAft>
                <a:spcPts val="600"/>
              </a:spcAft>
            </a:pPr>
            <a:r>
              <a:rPr sz="1500" b="0">
                <a:solidFill>
                  <a:srgbClr val="2E3A48"/>
                </a:solidFill>
                <a:latin typeface="Calibri Light"/>
              </a:rPr>
              <a:t>•  One acceleration budget, split between turning and speeding up:</a:t>
            </a:r>
          </a:p>
          <a:p>
            <a:pPr algn="l">
              <a:spcAft>
                <a:spcPts val="600"/>
              </a:spcAft>
            </a:pPr>
            <a:r>
              <a:rPr sz="1500" b="0">
                <a:solidFill>
                  <a:srgbClr val="8A8A8A"/>
                </a:solidFill>
                <a:latin typeface="Calibri Light"/>
              </a:rPr>
              <a:t>slow at gates and corners, fast on the straights.</a:t>
            </a:r>
          </a:p>
          <a:p>
            <a:pPr algn="l">
              <a:spcAft>
                <a:spcPts val="600"/>
              </a:spcAft>
            </a:pPr>
            <a:r>
              <a:rPr sz="1500" b="1">
                <a:solidFill>
                  <a:srgbClr val="ED7D31"/>
                </a:solidFill>
                <a:latin typeface="Calibri Light"/>
              </a:rPr>
              <a:t>•  Planned lap ~6.35 s, peak ~3.6 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swald"/>
              </a:rPr>
              <a:t>Reacting to a moved gate: warp, don’t replan</a:t>
            </a:r>
          </a:p>
        </p:txBody>
      </p:sp>
      <p:sp>
        <p:nvSpPr>
          <p:cNvPr id="4" name="Text Placeholder 3"/>
          <p:cNvSpPr>
            <a:spLocks noGrp="1"/>
          </p:cNvSpPr>
          <p:nvPr>
            <p:ph type="body" idx="11" sz="quarter"/>
          </p:nvPr>
        </p:nvSpPr>
        <p:spPr/>
        <p:txBody>
          <a:bodyPr/>
          <a:lstStyle/>
          <a:p>
            <a:r>
              <a:rPr sz="1000">
                <a:solidFill>
                  <a:srgbClr val="8A8A8A"/>
                </a:solidFill>
                <a:latin typeface="Calibri Light"/>
              </a:rPr>
              <a:t>ADR Final Presentation  ·  Hiz &amp; Öztürk</a:t>
            </a:r>
          </a:p>
        </p:txBody>
      </p:sp>
      <p:sp>
        <p:nvSpPr>
          <p:cNvPr id="5" name="Text Placeholder 4"/>
          <p:cNvSpPr>
            <a:spLocks noGrp="1"/>
          </p:cNvSpPr>
          <p:nvPr>
            <p:ph type="body" idx="12" sz="quarter"/>
          </p:nvPr>
        </p:nvSpPr>
        <p:spPr/>
        <p:txBody>
          <a:bodyPr/>
          <a:lstStyle/>
          <a:p>
            <a:r>
              <a:rPr sz="1300" b="1">
                <a:solidFill>
                  <a:srgbClr val="4472C4"/>
                </a:solidFill>
                <a:latin typeface="Oswald"/>
              </a:rPr>
              <a:t>METHODOLOGY / APPROACH</a:t>
            </a:r>
          </a:p>
        </p:txBody>
      </p:sp>
      <p:sp>
        <p:nvSpPr>
          <p:cNvPr id="6" name="Rounded Rectangle 5"/>
          <p:cNvSpPr/>
          <p:nvPr/>
        </p:nvSpPr>
        <p:spPr>
          <a:xfrm>
            <a:off x="2743200" y="2788920"/>
            <a:ext cx="54864" cy="1554480"/>
          </a:xfrm>
          <a:prstGeom prst="round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0">
                <a:solidFill>
                  <a:srgbClr val="2E3A48"/>
                </a:solidFill>
                <a:latin typeface="Calibri Light"/>
              </a:rPr>
              <a:t/>
            </a:r>
          </a:p>
        </p:txBody>
      </p:sp>
      <p:sp>
        <p:nvSpPr>
          <p:cNvPr id="7" name="Rounded Rectangle 6"/>
          <p:cNvSpPr/>
          <p:nvPr/>
        </p:nvSpPr>
        <p:spPr>
          <a:xfrm>
            <a:off x="3794760" y="2606039"/>
            <a:ext cx="54864" cy="155448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0">
                <a:solidFill>
                  <a:srgbClr val="2E3A48"/>
                </a:solidFill>
                <a:latin typeface="Calibri Light"/>
              </a:rPr>
              <a:t/>
            </a:r>
          </a:p>
        </p:txBody>
      </p:sp>
      <p:cxnSp>
        <p:nvCxnSpPr>
          <p:cNvPr id="8" name="Connector 7"/>
          <p:cNvCxnSpPr/>
          <p:nvPr/>
        </p:nvCxnSpPr>
        <p:spPr>
          <a:xfrm flipV="1">
            <a:off x="1005840" y="3611879"/>
            <a:ext cx="1737360" cy="91441"/>
          </a:xfrm>
          <a:prstGeom prst="line">
            <a:avLst/>
          </a:prstGeom>
          <a:ln w="25400">
            <a:solidFill>
              <a:srgbClr val="8A8A8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43200" y="3611879"/>
            <a:ext cx="2651760" cy="45721"/>
          </a:xfrm>
          <a:prstGeom prst="line">
            <a:avLst/>
          </a:prstGeom>
          <a:ln w="25400">
            <a:solidFill>
              <a:srgbClr val="8A8A8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005840" y="3429000"/>
            <a:ext cx="2788920" cy="274320"/>
          </a:xfrm>
          <a:prstGeom prst="line">
            <a:avLst/>
          </a:prstGeom>
          <a:ln w="31750">
            <a:solidFill>
              <a:srgbClr val="4472C4"/>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794760" y="3429000"/>
            <a:ext cx="1600200" cy="91440"/>
          </a:xfrm>
          <a:prstGeom prst="line">
            <a:avLst/>
          </a:prstGeom>
          <a:ln w="31750">
            <a:solidFill>
              <a:srgbClr val="4472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617720" y="4251960"/>
            <a:ext cx="164592" cy="164592"/>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0">
                <a:solidFill>
                  <a:srgbClr val="2E3A48"/>
                </a:solidFill>
                <a:latin typeface="Calibri Light"/>
              </a:rPr>
              <a:t/>
            </a:r>
          </a:p>
        </p:txBody>
      </p:sp>
      <p:sp>
        <p:nvSpPr>
          <p:cNvPr id="13" name="TextBox 12"/>
          <p:cNvSpPr txBox="1"/>
          <p:nvPr/>
        </p:nvSpPr>
        <p:spPr>
          <a:xfrm>
            <a:off x="2331720" y="4526280"/>
            <a:ext cx="2926080" cy="274320"/>
          </a:xfrm>
          <a:prstGeom prst="rect">
            <a:avLst/>
          </a:prstGeom>
          <a:noFill/>
        </p:spPr>
        <p:txBody>
          <a:bodyPr wrap="none">
            <a:spAutoFit/>
          </a:bodyPr>
          <a:lstStyle/>
          <a:p>
            <a:r>
              <a:rPr sz="1200">
                <a:solidFill>
                  <a:srgbClr val="8A8A8A"/>
                </a:solidFill>
                <a:latin typeface="Calibri Light"/>
              </a:rPr>
              <a:t>nominal</a:t>
            </a:r>
            <a:r>
              <a:rPr sz="1200">
                <a:solidFill>
                  <a:srgbClr val="ED7D31"/>
                </a:solidFill>
                <a:latin typeface="Calibri Light"/>
              </a:rPr>
              <a:t>   → true</a:t>
            </a:r>
          </a:p>
        </p:txBody>
      </p:sp>
      <p:sp>
        <p:nvSpPr>
          <p:cNvPr id="14" name="TextBox 13"/>
          <p:cNvSpPr txBox="1"/>
          <p:nvPr/>
        </p:nvSpPr>
        <p:spPr>
          <a:xfrm>
            <a:off x="6309360" y="1737360"/>
            <a:ext cx="5029200" cy="3657600"/>
          </a:xfrm>
          <a:prstGeom prst="rect">
            <a:avLst/>
          </a:prstGeom>
          <a:noFill/>
        </p:spPr>
        <p:txBody>
          <a:bodyPr wrap="square" anchor="t">
            <a:spAutoFit/>
          </a:bodyPr>
          <a:lstStyle/>
          <a:p>
            <a:pPr algn="l">
              <a:spcAft>
                <a:spcPts val="600"/>
              </a:spcAft>
            </a:pPr>
            <a:r>
              <a:rPr sz="1700" b="1">
                <a:solidFill>
                  <a:srgbClr val="2E3A48"/>
                </a:solidFill>
                <a:latin typeface="Calibri Light"/>
              </a:rPr>
              <a:t>•  Do not rebuild the line.</a:t>
            </a:r>
          </a:p>
          <a:p>
            <a:pPr algn="l">
              <a:spcAft>
                <a:spcPts val="600"/>
              </a:spcAft>
            </a:pPr>
            <a:r>
              <a:rPr sz="1500" b="0">
                <a:solidFill>
                  <a:srgbClr val="2E3A48"/>
                </a:solidFill>
                <a:latin typeface="Calibri Light"/>
              </a:rPr>
              <a:t>•  Slide the stored line onto the true gate, with a smooth blend between gates.</a:t>
            </a:r>
          </a:p>
          <a:p>
            <a:pPr algn="l">
              <a:spcAft>
                <a:spcPts val="600"/>
              </a:spcAft>
            </a:pPr>
            <a:r>
              <a:rPr sz="1500" b="0">
                <a:solidFill>
                  <a:srgbClr val="2E3A48"/>
                </a:solidFill>
                <a:latin typeface="Calibri Light"/>
              </a:rPr>
              <a:t>•  Push it clear of obstacles and gate posts.</a:t>
            </a:r>
          </a:p>
          <a:p>
            <a:pPr algn="l">
              <a:spcAft>
                <a:spcPts val="600"/>
              </a:spcAft>
            </a:pPr>
            <a:r>
              <a:rPr sz="1500" b="1">
                <a:solidFill>
                  <a:srgbClr val="ED7D31"/>
                </a:solidFill>
                <a:latin typeface="Calibri Light"/>
              </a:rPr>
              <a:t>•  The shape stays — only the position moves.</a:t>
            </a:r>
          </a:p>
          <a:p>
            <a:pPr algn="l">
              <a:spcAft>
                <a:spcPts val="600"/>
              </a:spcAft>
            </a:pPr>
            <a:r>
              <a:rPr sz="1400" b="0">
                <a:solidFill>
                  <a:srgbClr val="8A8A8A"/>
                </a:solidFill>
                <a:latin typeface="Calibri Light"/>
              </a:rPr>
              <a:t>•  Cost is a few vector operations, not a re-solve.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swald"/>
              </a:rPr>
              <a:t>The adaptive clock: never arrive off-center</a:t>
            </a:r>
          </a:p>
        </p:txBody>
      </p:sp>
      <p:sp>
        <p:nvSpPr>
          <p:cNvPr id="4" name="Text Placeholder 3"/>
          <p:cNvSpPr>
            <a:spLocks noGrp="1"/>
          </p:cNvSpPr>
          <p:nvPr>
            <p:ph type="body" idx="11" sz="quarter"/>
          </p:nvPr>
        </p:nvSpPr>
        <p:spPr/>
        <p:txBody>
          <a:bodyPr/>
          <a:lstStyle/>
          <a:p>
            <a:r>
              <a:rPr sz="1000">
                <a:solidFill>
                  <a:srgbClr val="8A8A8A"/>
                </a:solidFill>
                <a:latin typeface="Calibri Light"/>
              </a:rPr>
              <a:t>ADR Final Presentation  ·  Hiz &amp; Öztürk</a:t>
            </a:r>
          </a:p>
        </p:txBody>
      </p:sp>
      <p:sp>
        <p:nvSpPr>
          <p:cNvPr id="5" name="Text Placeholder 4"/>
          <p:cNvSpPr>
            <a:spLocks noGrp="1"/>
          </p:cNvSpPr>
          <p:nvPr>
            <p:ph type="body" idx="12" sz="quarter"/>
          </p:nvPr>
        </p:nvSpPr>
        <p:spPr/>
        <p:txBody>
          <a:bodyPr/>
          <a:lstStyle/>
          <a:p>
            <a:r>
              <a:rPr sz="1300" b="1">
                <a:solidFill>
                  <a:srgbClr val="4472C4"/>
                </a:solidFill>
                <a:latin typeface="Oswald"/>
              </a:rPr>
              <a:t>METHODOLOGY / APPROACH</a:t>
            </a:r>
          </a:p>
        </p:txBody>
      </p:sp>
      <p:cxnSp>
        <p:nvCxnSpPr>
          <p:cNvPr id="6" name="Connector 5"/>
          <p:cNvCxnSpPr/>
          <p:nvPr/>
        </p:nvCxnSpPr>
        <p:spPr>
          <a:xfrm>
            <a:off x="1051560" y="5257800"/>
            <a:ext cx="4160520" cy="0"/>
          </a:xfrm>
          <a:prstGeom prst="line">
            <a:avLst/>
          </a:prstGeom>
          <a:ln w="15875">
            <a:solidFill>
              <a:srgbClr val="2E3A4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51560" y="2468880"/>
            <a:ext cx="0" cy="2788920"/>
          </a:xfrm>
          <a:prstGeom prst="line">
            <a:avLst/>
          </a:prstGeom>
          <a:ln w="15875">
            <a:solidFill>
              <a:srgbClr val="2E3A4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2651760" y="2560320"/>
            <a:ext cx="1005840" cy="2697479"/>
          </a:xfrm>
          <a:prstGeom prst="rect">
            <a:avLst/>
          </a:prstGeom>
          <a:solidFill>
            <a:srgbClr val="FD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V="1">
            <a:off x="1051560" y="2651760"/>
            <a:ext cx="3840480" cy="2606040"/>
          </a:xfrm>
          <a:prstGeom prst="line">
            <a:avLst/>
          </a:prstGeom>
          <a:ln w="22225">
            <a:solidFill>
              <a:srgbClr val="8A8A8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051560" y="3794760"/>
            <a:ext cx="1600200" cy="1463040"/>
          </a:xfrm>
          <a:prstGeom prst="line">
            <a:avLst/>
          </a:prstGeom>
          <a:ln w="34925">
            <a:solidFill>
              <a:srgbClr val="ED7D31"/>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651760" y="3474720"/>
            <a:ext cx="1005840" cy="320040"/>
          </a:xfrm>
          <a:prstGeom prst="line">
            <a:avLst/>
          </a:prstGeom>
          <a:ln w="34925">
            <a:solidFill>
              <a:srgbClr val="ED7D31"/>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657600" y="2788920"/>
            <a:ext cx="1234440" cy="685800"/>
          </a:xfrm>
          <a:prstGeom prst="line">
            <a:avLst/>
          </a:prstGeom>
          <a:ln w="34925">
            <a:solidFill>
              <a:srgbClr val="ED7D31"/>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977639" y="2514600"/>
            <a:ext cx="1645920" cy="256032"/>
          </a:xfrm>
          <a:prstGeom prst="rect">
            <a:avLst/>
          </a:prstGeom>
          <a:noFill/>
        </p:spPr>
        <p:txBody>
          <a:bodyPr wrap="none">
            <a:spAutoFit/>
          </a:bodyPr>
          <a:lstStyle/>
          <a:p>
            <a:r>
              <a:rPr sz="1100" b="0">
                <a:solidFill>
                  <a:srgbClr val="8A8A8A"/>
                </a:solidFill>
                <a:latin typeface="Calibri Light"/>
              </a:rPr>
              <a:t>fixed clock</a:t>
            </a:r>
          </a:p>
        </p:txBody>
      </p:sp>
      <p:sp>
        <p:nvSpPr>
          <p:cNvPr id="14" name="TextBox 13"/>
          <p:cNvSpPr txBox="1"/>
          <p:nvPr/>
        </p:nvSpPr>
        <p:spPr>
          <a:xfrm>
            <a:off x="4114800" y="3200400"/>
            <a:ext cx="1645920" cy="256032"/>
          </a:xfrm>
          <a:prstGeom prst="rect">
            <a:avLst/>
          </a:prstGeom>
          <a:noFill/>
        </p:spPr>
        <p:txBody>
          <a:bodyPr wrap="none">
            <a:spAutoFit/>
          </a:bodyPr>
          <a:lstStyle/>
          <a:p>
            <a:r>
              <a:rPr sz="1100" b="1">
                <a:solidFill>
                  <a:srgbClr val="ED7D31"/>
                </a:solidFill>
                <a:latin typeface="Calibri Light"/>
              </a:rPr>
              <a:t>adaptive clock</a:t>
            </a:r>
          </a:p>
        </p:txBody>
      </p:sp>
      <p:sp>
        <p:nvSpPr>
          <p:cNvPr id="15" name="TextBox 14"/>
          <p:cNvSpPr txBox="1"/>
          <p:nvPr/>
        </p:nvSpPr>
        <p:spPr>
          <a:xfrm>
            <a:off x="2606040" y="5029200"/>
            <a:ext cx="1645920" cy="256032"/>
          </a:xfrm>
          <a:prstGeom prst="rect">
            <a:avLst/>
          </a:prstGeom>
          <a:noFill/>
        </p:spPr>
        <p:txBody>
          <a:bodyPr wrap="none">
            <a:spAutoFit/>
          </a:bodyPr>
          <a:lstStyle/>
          <a:p>
            <a:r>
              <a:rPr sz="1000" b="0">
                <a:solidFill>
                  <a:srgbClr val="2E3A48"/>
                </a:solidFill>
                <a:latin typeface="Calibri Light"/>
              </a:rPr>
              <a:t>near gate</a:t>
            </a:r>
          </a:p>
        </p:txBody>
      </p:sp>
      <p:sp>
        <p:nvSpPr>
          <p:cNvPr id="16" name="TextBox 15"/>
          <p:cNvSpPr txBox="1"/>
          <p:nvPr/>
        </p:nvSpPr>
        <p:spPr>
          <a:xfrm>
            <a:off x="2377440" y="5394960"/>
            <a:ext cx="1645920" cy="256032"/>
          </a:xfrm>
          <a:prstGeom prst="rect">
            <a:avLst/>
          </a:prstGeom>
          <a:noFill/>
        </p:spPr>
        <p:txBody>
          <a:bodyPr wrap="none">
            <a:spAutoFit/>
          </a:bodyPr>
          <a:lstStyle/>
          <a:p>
            <a:r>
              <a:rPr sz="1000" b="0">
                <a:solidFill>
                  <a:srgbClr val="2E3A48"/>
                </a:solidFill>
                <a:latin typeface="Calibri Light"/>
              </a:rPr>
              <a:t>real time</a:t>
            </a:r>
          </a:p>
        </p:txBody>
      </p:sp>
      <p:sp>
        <p:nvSpPr>
          <p:cNvPr id="17" name="TextBox 16"/>
          <p:cNvSpPr txBox="1"/>
          <p:nvPr/>
        </p:nvSpPr>
        <p:spPr>
          <a:xfrm>
            <a:off x="640080" y="2331720"/>
            <a:ext cx="1645920" cy="256032"/>
          </a:xfrm>
          <a:prstGeom prst="rect">
            <a:avLst/>
          </a:prstGeom>
          <a:noFill/>
        </p:spPr>
        <p:txBody>
          <a:bodyPr wrap="none">
            <a:spAutoFit/>
          </a:bodyPr>
          <a:lstStyle/>
          <a:p>
            <a:r>
              <a:rPr sz="1000" b="0">
                <a:solidFill>
                  <a:srgbClr val="2E3A48"/>
                </a:solidFill>
                <a:latin typeface="Calibri Light"/>
              </a:rPr>
              <a:t>progress</a:t>
            </a:r>
          </a:p>
        </p:txBody>
      </p:sp>
      <p:sp>
        <p:nvSpPr>
          <p:cNvPr id="18" name="TextBox 17"/>
          <p:cNvSpPr txBox="1"/>
          <p:nvPr/>
        </p:nvSpPr>
        <p:spPr>
          <a:xfrm>
            <a:off x="6309360" y="1737360"/>
            <a:ext cx="5029200" cy="3657600"/>
          </a:xfrm>
          <a:prstGeom prst="rect">
            <a:avLst/>
          </a:prstGeom>
          <a:noFill/>
        </p:spPr>
        <p:txBody>
          <a:bodyPr wrap="square" anchor="t">
            <a:spAutoFit/>
          </a:bodyPr>
          <a:lstStyle/>
          <a:p>
            <a:pPr algn="l">
              <a:spcAft>
                <a:spcPts val="600"/>
              </a:spcAft>
            </a:pPr>
            <a:r>
              <a:rPr sz="1700" b="1">
                <a:solidFill>
                  <a:srgbClr val="2E3A48"/>
                </a:solidFill>
                <a:latin typeface="Calibri Light"/>
              </a:rPr>
              <a:t>•  The reference is played by a clock.</a:t>
            </a:r>
          </a:p>
          <a:p>
            <a:pPr algn="l">
              <a:spcAft>
                <a:spcPts val="600"/>
              </a:spcAft>
            </a:pPr>
            <a:r>
              <a:rPr sz="1500" b="0">
                <a:solidFill>
                  <a:srgbClr val="2E3A48"/>
                </a:solidFill>
                <a:latin typeface="Calibri Light"/>
              </a:rPr>
              <a:t>•  Near a gate, if the drone lags (the gate moved), the clock slows or stops and waits.</a:t>
            </a:r>
          </a:p>
          <a:p>
            <a:pPr algn="l">
              <a:spcAft>
                <a:spcPts val="600"/>
              </a:spcAft>
            </a:pPr>
            <a:r>
              <a:rPr sz="1500" b="0">
                <a:solidFill>
                  <a:srgbClr val="2E3A48"/>
                </a:solidFill>
                <a:latin typeface="Calibri Light"/>
              </a:rPr>
              <a:t>•  It catches up, then the clock resumes.</a:t>
            </a:r>
          </a:p>
          <a:p>
            <a:pPr algn="l">
              <a:spcAft>
                <a:spcPts val="600"/>
              </a:spcAft>
            </a:pPr>
            <a:r>
              <a:rPr sz="1500" b="1">
                <a:solidFill>
                  <a:srgbClr val="ED7D31"/>
                </a:solidFill>
                <a:latin typeface="Calibri Light"/>
              </a:rPr>
              <a:t>•  The drone never crosses a gate ahead of where it can hold the opening.</a:t>
            </a:r>
          </a:p>
          <a:p>
            <a:pPr algn="l">
              <a:spcAft>
                <a:spcPts val="600"/>
              </a:spcAft>
            </a:pPr>
            <a:r>
              <a:rPr sz="1400" b="0">
                <a:solidFill>
                  <a:srgbClr val="8A8A8A"/>
                </a:solidFill>
                <a:latin typeface="Calibri Light"/>
              </a:rPr>
              <a:t>This is what turns a fast line into a reliable 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swald"/>
              </a:rPr>
              <a:t>Results — speed</a:t>
            </a:r>
          </a:p>
        </p:txBody>
      </p:sp>
      <p:sp>
        <p:nvSpPr>
          <p:cNvPr id="4" name="Text Placeholder 3"/>
          <p:cNvSpPr>
            <a:spLocks noGrp="1"/>
          </p:cNvSpPr>
          <p:nvPr>
            <p:ph type="body" idx="11" sz="quarter"/>
          </p:nvPr>
        </p:nvSpPr>
        <p:spPr/>
        <p:txBody>
          <a:bodyPr/>
          <a:lstStyle/>
          <a:p>
            <a:r>
              <a:rPr sz="1000">
                <a:solidFill>
                  <a:srgbClr val="8A8A8A"/>
                </a:solidFill>
                <a:latin typeface="Calibri Light"/>
              </a:rPr>
              <a:t>ADR Final Presentation  ·  Hiz &amp; Öztürk</a:t>
            </a:r>
          </a:p>
        </p:txBody>
      </p:sp>
      <p:sp>
        <p:nvSpPr>
          <p:cNvPr id="5" name="Text Placeholder 4"/>
          <p:cNvSpPr>
            <a:spLocks noGrp="1"/>
          </p:cNvSpPr>
          <p:nvPr>
            <p:ph type="body" idx="12" sz="quarter"/>
          </p:nvPr>
        </p:nvSpPr>
        <p:spPr/>
        <p:txBody>
          <a:bodyPr/>
          <a:lstStyle/>
          <a:p>
            <a:r>
              <a:rPr sz="1300" b="1">
                <a:solidFill>
                  <a:srgbClr val="4472C4"/>
                </a:solidFill>
                <a:latin typeface="Oswald"/>
              </a:rPr>
              <a:t>PROJECT RESULTS</a:t>
            </a:r>
          </a:p>
        </p:txBody>
      </p:sp>
      <p:sp>
        <p:nvSpPr>
          <p:cNvPr id="6" name="Rounded Rectangle 5"/>
          <p:cNvSpPr/>
          <p:nvPr/>
        </p:nvSpPr>
        <p:spPr>
          <a:xfrm>
            <a:off x="822960" y="1463040"/>
            <a:ext cx="5120640" cy="1280160"/>
          </a:xfrm>
          <a:prstGeom prst="roundRect">
            <a:avLst/>
          </a:prstGeom>
          <a:solidFill>
            <a:srgbClr val="EAEF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4800" b="1">
                <a:solidFill>
                  <a:srgbClr val="2E4053"/>
                </a:solidFill>
                <a:latin typeface="Oswald"/>
              </a:rPr>
              <a:t>6.89 s</a:t>
            </a:r>
          </a:p>
        </p:txBody>
      </p:sp>
      <p:sp>
        <p:nvSpPr>
          <p:cNvPr id="7" name="TextBox 6"/>
          <p:cNvSpPr txBox="1"/>
          <p:nvPr/>
        </p:nvSpPr>
        <p:spPr>
          <a:xfrm>
            <a:off x="822960" y="2743200"/>
            <a:ext cx="5120640" cy="457200"/>
          </a:xfrm>
          <a:prstGeom prst="rect">
            <a:avLst/>
          </a:prstGeom>
          <a:noFill/>
        </p:spPr>
        <p:txBody>
          <a:bodyPr wrap="square" anchor="t">
            <a:spAutoFit/>
          </a:bodyPr>
          <a:lstStyle/>
          <a:p>
            <a:pPr algn="ctr">
              <a:spcAft>
                <a:spcPts val="600"/>
              </a:spcAft>
            </a:pPr>
            <a:r>
              <a:rPr sz="1400" b="0">
                <a:solidFill>
                  <a:srgbClr val="8A8A8A"/>
                </a:solidFill>
                <a:latin typeface="Calibri Light"/>
              </a:rPr>
              <a:t>in simulation  ·  full official evaluation</a:t>
            </a:r>
          </a:p>
        </p:txBody>
      </p:sp>
      <p:sp>
        <p:nvSpPr>
          <p:cNvPr id="8" name="Rounded Rectangle 7"/>
          <p:cNvSpPr/>
          <p:nvPr/>
        </p:nvSpPr>
        <p:spPr>
          <a:xfrm>
            <a:off x="6217920" y="1463040"/>
            <a:ext cx="5120640" cy="1280160"/>
          </a:xfrm>
          <a:prstGeom prst="roundRect">
            <a:avLst/>
          </a:prstGeom>
          <a:solidFill>
            <a:srgbClr val="FDEFE3"/>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4800" b="1">
                <a:solidFill>
                  <a:srgbClr val="ED7D31"/>
                </a:solidFill>
                <a:latin typeface="Oswald"/>
              </a:rPr>
              <a:t>9.55 s</a:t>
            </a:r>
          </a:p>
        </p:txBody>
      </p:sp>
      <p:sp>
        <p:nvSpPr>
          <p:cNvPr id="9" name="TextBox 8"/>
          <p:cNvSpPr txBox="1"/>
          <p:nvPr/>
        </p:nvSpPr>
        <p:spPr>
          <a:xfrm>
            <a:off x="6217920" y="2743200"/>
            <a:ext cx="5120640" cy="548640"/>
          </a:xfrm>
          <a:prstGeom prst="rect">
            <a:avLst/>
          </a:prstGeom>
          <a:noFill/>
        </p:spPr>
        <p:txBody>
          <a:bodyPr wrap="square" anchor="t">
            <a:spAutoFit/>
          </a:bodyPr>
          <a:lstStyle/>
          <a:p>
            <a:pPr algn="ctr">
              <a:spcAft>
                <a:spcPts val="600"/>
              </a:spcAft>
            </a:pPr>
            <a:r>
              <a:rPr sz="1400" b="0">
                <a:solidFill>
                  <a:srgbClr val="8A8A8A"/>
                </a:solidFill>
                <a:latin typeface="Calibri Light"/>
              </a:rPr>
              <a:t>on the real drone (predecessor MPC controller,</a:t>
            </a:r>
          </a:p>
          <a:p>
            <a:pPr algn="ctr">
              <a:spcAft>
                <a:spcPts val="600"/>
              </a:spcAft>
            </a:pPr>
            <a:r>
              <a:rPr sz="1400" b="0">
                <a:solidFill>
                  <a:srgbClr val="8A8A8A"/>
                </a:solidFill>
                <a:latin typeface="Calibri Light"/>
              </a:rPr>
              <a:t>last lab session — matched its simulation)</a:t>
            </a:r>
          </a:p>
        </p:txBody>
      </p:sp>
      <p:sp>
        <p:nvSpPr>
          <p:cNvPr id="10" name="Rectangle 9"/>
          <p:cNvSpPr/>
          <p:nvPr/>
        </p:nvSpPr>
        <p:spPr>
          <a:xfrm>
            <a:off x="822960" y="3566160"/>
            <a:ext cx="5120640" cy="2011680"/>
          </a:xfrm>
          <a:prstGeom prst="rect">
            <a:avLst/>
          </a:prstGeom>
          <a:solidFill>
            <a:srgbClr val="F1F3F6"/>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i="1">
                <a:solidFill>
                  <a:srgbClr val="8A8A8A"/>
                </a:solidFill>
                <a:latin typeface="Calibri Light"/>
              </a:rPr>
              <a:t>▶  Video: real lab run
(controller v10_5_max)</a:t>
            </a:r>
          </a:p>
        </p:txBody>
      </p:sp>
      <p:sp>
        <p:nvSpPr>
          <p:cNvPr id="11" name="Rectangle 10"/>
          <p:cNvSpPr/>
          <p:nvPr/>
        </p:nvSpPr>
        <p:spPr>
          <a:xfrm>
            <a:off x="6217920" y="3566160"/>
            <a:ext cx="5120640" cy="2011680"/>
          </a:xfrm>
          <a:prstGeom prst="rect">
            <a:avLst/>
          </a:prstGeom>
          <a:solidFill>
            <a:srgbClr val="F1F3F6"/>
          </a:solidFill>
          <a:ln w="15875">
            <a:solidFill>
              <a:srgbClr val="4472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i="1">
                <a:solidFill>
                  <a:srgbClr val="8A8A8A"/>
                </a:solidFill>
                <a:latin typeface="Calibri Light"/>
              </a:rPr>
              <a:t>▶  GIF: simulation run
(this controller)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swald"/>
              </a:rPr>
              <a:t>Results — robustness</a:t>
            </a:r>
          </a:p>
        </p:txBody>
      </p:sp>
      <p:sp>
        <p:nvSpPr>
          <p:cNvPr id="4" name="Text Placeholder 3"/>
          <p:cNvSpPr>
            <a:spLocks noGrp="1"/>
          </p:cNvSpPr>
          <p:nvPr>
            <p:ph type="body" idx="11" sz="quarter"/>
          </p:nvPr>
        </p:nvSpPr>
        <p:spPr/>
        <p:txBody>
          <a:bodyPr/>
          <a:lstStyle/>
          <a:p>
            <a:r>
              <a:rPr sz="1000">
                <a:solidFill>
                  <a:srgbClr val="8A8A8A"/>
                </a:solidFill>
                <a:latin typeface="Calibri Light"/>
              </a:rPr>
              <a:t>ADR Final Presentation  ·  Hiz &amp; Öztürk</a:t>
            </a:r>
          </a:p>
        </p:txBody>
      </p:sp>
      <p:sp>
        <p:nvSpPr>
          <p:cNvPr id="5" name="Text Placeholder 4"/>
          <p:cNvSpPr>
            <a:spLocks noGrp="1"/>
          </p:cNvSpPr>
          <p:nvPr>
            <p:ph type="body" idx="12" sz="quarter"/>
          </p:nvPr>
        </p:nvSpPr>
        <p:spPr/>
        <p:txBody>
          <a:bodyPr/>
          <a:lstStyle/>
          <a:p>
            <a:r>
              <a:rPr sz="1300" b="1">
                <a:solidFill>
                  <a:srgbClr val="4472C4"/>
                </a:solidFill>
                <a:latin typeface="Oswald"/>
              </a:rPr>
              <a:t>PROJECT RESULTS</a:t>
            </a:r>
          </a:p>
        </p:txBody>
      </p:sp>
      <p:sp>
        <p:nvSpPr>
          <p:cNvPr id="6" name="TextBox 5"/>
          <p:cNvSpPr txBox="1"/>
          <p:nvPr/>
        </p:nvSpPr>
        <p:spPr>
          <a:xfrm>
            <a:off x="822960" y="1371600"/>
            <a:ext cx="5120640" cy="365760"/>
          </a:xfrm>
          <a:prstGeom prst="rect">
            <a:avLst/>
          </a:prstGeom>
          <a:noFill/>
        </p:spPr>
        <p:txBody>
          <a:bodyPr wrap="square" anchor="t">
            <a:spAutoFit/>
          </a:bodyPr>
          <a:lstStyle/>
          <a:p>
            <a:pPr algn="l">
              <a:spcAft>
                <a:spcPts val="600"/>
              </a:spcAft>
            </a:pPr>
            <a:r>
              <a:rPr sz="1500" b="1">
                <a:solidFill>
                  <a:srgbClr val="2E3A48"/>
                </a:solidFill>
                <a:latin typeface="Calibri Light"/>
              </a:rPr>
              <a:t>Ours vs. the online MPC controller (simulation)</a:t>
            </a:r>
          </a:p>
        </p:txBody>
      </p:sp>
      <p:graphicFrame>
        <p:nvGraphicFramePr>
          <p:cNvPr id="7" name="Table 6"/>
          <p:cNvGraphicFramePr>
            <a:graphicFrameLocks noGrp="1"/>
          </p:cNvGraphicFramePr>
          <p:nvPr/>
        </p:nvGraphicFramePr>
        <p:xfrm>
          <a:off x="822960" y="1828800"/>
          <a:ext cx="5120640" cy="1097280"/>
        </p:xfrm>
        <a:graphic>
          <a:graphicData uri="http://schemas.openxmlformats.org/drawingml/2006/table">
            <a:tbl>
              <a:tblPr firstRow="1" bandRow="1">
                <a:tableStyleId>{5C22544A-7EE6-4342-B048-85BDC9FD1C3A}</a:tableStyleId>
              </a:tblPr>
              <a:tblGrid>
                <a:gridCol w="2377440"/>
                <a:gridCol w="822960"/>
                <a:gridCol w="914400"/>
                <a:gridCol w="1005840"/>
              </a:tblGrid>
              <a:tr h="365760">
                <a:tc>
                  <a:txBody>
                    <a:bodyPr/>
                    <a:lstStyle/>
                    <a:p>
                      <a:pPr algn="l"/>
                      <a:r>
                        <a:rPr sz="1300" b="1">
                          <a:solidFill>
                            <a:srgbClr val="FFFFFF"/>
                          </a:solidFill>
                          <a:latin typeface="Calibri Light"/>
                        </a:rPr>
                        <a:t>Controller</a:t>
                      </a:r>
                    </a:p>
                  </a:txBody>
                  <a:tcPr marT="25400" marB="25400" anchor="ctr">
                    <a:solidFill>
                      <a:srgbClr val="2E4053"/>
                    </a:solidFill>
                  </a:tcPr>
                </a:tc>
                <a:tc>
                  <a:txBody>
                    <a:bodyPr/>
                    <a:lstStyle/>
                    <a:p>
                      <a:pPr algn="ctr"/>
                      <a:r>
                        <a:rPr sz="1300" b="1">
                          <a:solidFill>
                            <a:srgbClr val="FFFFFF"/>
                          </a:solidFill>
                          <a:latin typeface="Calibri Light"/>
                        </a:rPr>
                        <a:t>Solver</a:t>
                      </a:r>
                    </a:p>
                  </a:txBody>
                  <a:tcPr marT="25400" marB="25400" anchor="ctr">
                    <a:solidFill>
                      <a:srgbClr val="2E4053"/>
                    </a:solidFill>
                  </a:tcPr>
                </a:tc>
                <a:tc>
                  <a:txBody>
                    <a:bodyPr/>
                    <a:lstStyle/>
                    <a:p>
                      <a:pPr algn="ctr"/>
                      <a:r>
                        <a:rPr sz="1300" b="1">
                          <a:solidFill>
                            <a:srgbClr val="FFFFFF"/>
                          </a:solidFill>
                          <a:latin typeface="Calibri Light"/>
                        </a:rPr>
                        <a:t>Success</a:t>
                      </a:r>
                    </a:p>
                  </a:txBody>
                  <a:tcPr marT="25400" marB="25400" anchor="ctr">
                    <a:solidFill>
                      <a:srgbClr val="2E4053"/>
                    </a:solidFill>
                  </a:tcPr>
                </a:tc>
                <a:tc>
                  <a:txBody>
                    <a:bodyPr/>
                    <a:lstStyle/>
                    <a:p>
                      <a:pPr algn="ctr"/>
                      <a:r>
                        <a:rPr sz="1300" b="1">
                          <a:solidFill>
                            <a:srgbClr val="FFFFFF"/>
                          </a:solidFill>
                          <a:latin typeface="Calibri Light"/>
                        </a:rPr>
                        <a:t>Lap (s)</a:t>
                      </a:r>
                    </a:p>
                  </a:txBody>
                  <a:tcPr marT="25400" marB="25400" anchor="ctr">
                    <a:solidFill>
                      <a:srgbClr val="2E4053"/>
                    </a:solidFill>
                  </a:tcPr>
                </a:tc>
              </a:tr>
              <a:tr h="365760">
                <a:tc>
                  <a:txBody>
                    <a:bodyPr/>
                    <a:lstStyle/>
                    <a:p>
                      <a:pPr algn="l"/>
                      <a:r>
                        <a:rPr sz="1300" b="0">
                          <a:solidFill>
                            <a:srgbClr val="2E3A48"/>
                          </a:solidFill>
                          <a:latin typeface="Calibri Light"/>
                        </a:rPr>
                        <a:t>Feedforward tracker (ours)</a:t>
                      </a:r>
                    </a:p>
                  </a:txBody>
                  <a:tcPr marT="25400" marB="25400" anchor="ctr">
                    <a:solidFill>
                      <a:srgbClr val="FFFFFF"/>
                    </a:solidFill>
                  </a:tcPr>
                </a:tc>
                <a:tc>
                  <a:txBody>
                    <a:bodyPr/>
                    <a:lstStyle/>
                    <a:p>
                      <a:pPr algn="ctr"/>
                      <a:r>
                        <a:rPr sz="1300" b="0">
                          <a:solidFill>
                            <a:srgbClr val="2E3A48"/>
                          </a:solidFill>
                          <a:latin typeface="Calibri Light"/>
                        </a:rPr>
                        <a:t>no</a:t>
                      </a:r>
                    </a:p>
                  </a:txBody>
                  <a:tcPr marT="25400" marB="25400" anchor="ctr">
                    <a:solidFill>
                      <a:srgbClr val="FFFFFF"/>
                    </a:solidFill>
                  </a:tcPr>
                </a:tc>
                <a:tc>
                  <a:txBody>
                    <a:bodyPr/>
                    <a:lstStyle/>
                    <a:p>
                      <a:pPr algn="ctr"/>
                      <a:r>
                        <a:rPr sz="1300" b="0">
                          <a:solidFill>
                            <a:srgbClr val="2E3A48"/>
                          </a:solidFill>
                          <a:latin typeface="Calibri Light"/>
                        </a:rPr>
                        <a:t>20/20</a:t>
                      </a:r>
                    </a:p>
                  </a:txBody>
                  <a:tcPr marT="25400" marB="25400" anchor="ctr">
                    <a:solidFill>
                      <a:srgbClr val="FFFFFF"/>
                    </a:solidFill>
                  </a:tcPr>
                </a:tc>
                <a:tc>
                  <a:txBody>
                    <a:bodyPr/>
                    <a:lstStyle/>
                    <a:p>
                      <a:pPr algn="ctr"/>
                      <a:r>
                        <a:rPr sz="1300" b="0">
                          <a:solidFill>
                            <a:srgbClr val="2E3A48"/>
                          </a:solidFill>
                          <a:latin typeface="Calibri Light"/>
                        </a:rPr>
                        <a:t>6.89</a:t>
                      </a:r>
                    </a:p>
                  </a:txBody>
                  <a:tcPr marT="25400" marB="25400" anchor="ctr">
                    <a:solidFill>
                      <a:srgbClr val="FFFFFF"/>
                    </a:solidFill>
                  </a:tcPr>
                </a:tc>
              </a:tr>
              <a:tr h="365760">
                <a:tc>
                  <a:txBody>
                    <a:bodyPr/>
                    <a:lstStyle/>
                    <a:p>
                      <a:pPr algn="l"/>
                      <a:r>
                        <a:rPr sz="1300" b="0">
                          <a:solidFill>
                            <a:srgbClr val="2E3A48"/>
                          </a:solidFill>
                          <a:latin typeface="Calibri Light"/>
                        </a:rPr>
                        <a:t>Online MPC</a:t>
                      </a:r>
                    </a:p>
                  </a:txBody>
                  <a:tcPr marT="25400" marB="25400" anchor="ctr">
                    <a:solidFill>
                      <a:srgbClr val="F1F3F6"/>
                    </a:solidFill>
                  </a:tcPr>
                </a:tc>
                <a:tc>
                  <a:txBody>
                    <a:bodyPr/>
                    <a:lstStyle/>
                    <a:p>
                      <a:pPr algn="ctr"/>
                      <a:r>
                        <a:rPr sz="1300" b="0">
                          <a:solidFill>
                            <a:srgbClr val="2E3A48"/>
                          </a:solidFill>
                          <a:latin typeface="Calibri Light"/>
                        </a:rPr>
                        <a:t>yes</a:t>
                      </a:r>
                    </a:p>
                  </a:txBody>
                  <a:tcPr marT="25400" marB="25400" anchor="ctr">
                    <a:solidFill>
                      <a:srgbClr val="F1F3F6"/>
                    </a:solidFill>
                  </a:tcPr>
                </a:tc>
                <a:tc>
                  <a:txBody>
                    <a:bodyPr/>
                    <a:lstStyle/>
                    <a:p>
                      <a:pPr algn="ctr"/>
                      <a:r>
                        <a:rPr sz="1300" b="0">
                          <a:solidFill>
                            <a:srgbClr val="2E3A48"/>
                          </a:solidFill>
                          <a:latin typeface="Calibri Light"/>
                        </a:rPr>
                        <a:t>17/20</a:t>
                      </a:r>
                    </a:p>
                  </a:txBody>
                  <a:tcPr marT="25400" marB="25400" anchor="ctr">
                    <a:solidFill>
                      <a:srgbClr val="F1F3F6"/>
                    </a:solidFill>
                  </a:tcPr>
                </a:tc>
                <a:tc>
                  <a:txBody>
                    <a:bodyPr/>
                    <a:lstStyle/>
                    <a:p>
                      <a:pPr algn="ctr"/>
                      <a:r>
                        <a:rPr sz="1300" b="0">
                          <a:solidFill>
                            <a:srgbClr val="2E3A48"/>
                          </a:solidFill>
                          <a:latin typeface="Calibri Light"/>
                        </a:rPr>
                        <a:t>9.55</a:t>
                      </a:r>
                    </a:p>
                  </a:txBody>
                  <a:tcPr marT="25400" marB="25400" anchor="ctr">
                    <a:solidFill>
                      <a:srgbClr val="F1F3F6"/>
                    </a:solidFill>
                  </a:tcPr>
                </a:tc>
              </a:tr>
            </a:tbl>
          </a:graphicData>
        </a:graphic>
      </p:graphicFrame>
      <p:sp>
        <p:nvSpPr>
          <p:cNvPr id="8" name="TextBox 7"/>
          <p:cNvSpPr txBox="1"/>
          <p:nvPr/>
        </p:nvSpPr>
        <p:spPr>
          <a:xfrm>
            <a:off x="6217920" y="1371600"/>
            <a:ext cx="5120640" cy="365760"/>
          </a:xfrm>
          <a:prstGeom prst="rect">
            <a:avLst/>
          </a:prstGeom>
          <a:noFill/>
        </p:spPr>
        <p:txBody>
          <a:bodyPr wrap="square" anchor="t">
            <a:spAutoFit/>
          </a:bodyPr>
          <a:lstStyle/>
          <a:p>
            <a:pPr algn="l">
              <a:spcAft>
                <a:spcPts val="600"/>
              </a:spcAft>
            </a:pPr>
            <a:r>
              <a:rPr sz="1500" b="1">
                <a:solidFill>
                  <a:srgbClr val="2E3A48"/>
                </a:solidFill>
                <a:latin typeface="Calibri Light"/>
              </a:rPr>
              <a:t>What each part buys (official evaluation)</a:t>
            </a:r>
          </a:p>
        </p:txBody>
      </p:sp>
      <p:graphicFrame>
        <p:nvGraphicFramePr>
          <p:cNvPr id="9" name="Table 8"/>
          <p:cNvGraphicFramePr>
            <a:graphicFrameLocks noGrp="1"/>
          </p:cNvGraphicFramePr>
          <p:nvPr/>
        </p:nvGraphicFramePr>
        <p:xfrm>
          <a:off x="6217920" y="1828800"/>
          <a:ext cx="5120640" cy="1463040"/>
        </p:xfrm>
        <a:graphic>
          <a:graphicData uri="http://schemas.openxmlformats.org/drawingml/2006/table">
            <a:tbl>
              <a:tblPr firstRow="1" bandRow="1">
                <a:tableStyleId>{5C22544A-7EE6-4342-B048-85BDC9FD1C3A}</a:tableStyleId>
              </a:tblPr>
              <a:tblGrid>
                <a:gridCol w="3108960"/>
                <a:gridCol w="1005840"/>
                <a:gridCol w="1005840"/>
              </a:tblGrid>
              <a:tr h="365760">
                <a:tc>
                  <a:txBody>
                    <a:bodyPr/>
                    <a:lstStyle/>
                    <a:p>
                      <a:pPr algn="l"/>
                      <a:r>
                        <a:rPr sz="1300" b="1">
                          <a:solidFill>
                            <a:srgbClr val="FFFFFF"/>
                          </a:solidFill>
                          <a:latin typeface="Calibri Light"/>
                        </a:rPr>
                        <a:t>Configuration</a:t>
                      </a:r>
                    </a:p>
                  </a:txBody>
                  <a:tcPr marT="25400" marB="25400" anchor="ctr">
                    <a:solidFill>
                      <a:srgbClr val="2E4053"/>
                    </a:solidFill>
                  </a:tcPr>
                </a:tc>
                <a:tc>
                  <a:txBody>
                    <a:bodyPr/>
                    <a:lstStyle/>
                    <a:p>
                      <a:pPr algn="ctr"/>
                      <a:r>
                        <a:rPr sz="1300" b="1">
                          <a:solidFill>
                            <a:srgbClr val="FFFFFF"/>
                          </a:solidFill>
                          <a:latin typeface="Calibri Light"/>
                        </a:rPr>
                        <a:t>Success</a:t>
                      </a:r>
                    </a:p>
                  </a:txBody>
                  <a:tcPr marT="25400" marB="25400" anchor="ctr">
                    <a:solidFill>
                      <a:srgbClr val="2E4053"/>
                    </a:solidFill>
                  </a:tcPr>
                </a:tc>
                <a:tc>
                  <a:txBody>
                    <a:bodyPr/>
                    <a:lstStyle/>
                    <a:p>
                      <a:pPr algn="ctr"/>
                      <a:r>
                        <a:rPr sz="1300" b="1">
                          <a:solidFill>
                            <a:srgbClr val="FFFFFF"/>
                          </a:solidFill>
                          <a:latin typeface="Calibri Light"/>
                        </a:rPr>
                        <a:t>Lap (s)</a:t>
                      </a:r>
                    </a:p>
                  </a:txBody>
                  <a:tcPr marT="25400" marB="25400" anchor="ctr">
                    <a:solidFill>
                      <a:srgbClr val="2E4053"/>
                    </a:solidFill>
                  </a:tcPr>
                </a:tc>
              </a:tr>
              <a:tr h="365760">
                <a:tc>
                  <a:txBody>
                    <a:bodyPr/>
                    <a:lstStyle/>
                    <a:p>
                      <a:pPr algn="l"/>
                      <a:r>
                        <a:rPr sz="1300" b="0">
                          <a:solidFill>
                            <a:srgbClr val="2E3A48"/>
                          </a:solidFill>
                          <a:latin typeface="Calibri Light"/>
                        </a:rPr>
                        <a:t>Adaptive clock + push-out</a:t>
                      </a:r>
                    </a:p>
                  </a:txBody>
                  <a:tcPr marT="25400" marB="25400" anchor="ctr">
                    <a:solidFill>
                      <a:srgbClr val="FFFFFF"/>
                    </a:solidFill>
                  </a:tcPr>
                </a:tc>
                <a:tc>
                  <a:txBody>
                    <a:bodyPr/>
                    <a:lstStyle/>
                    <a:p>
                      <a:pPr algn="ctr"/>
                      <a:r>
                        <a:rPr sz="1300" b="0">
                          <a:solidFill>
                            <a:srgbClr val="2E3A48"/>
                          </a:solidFill>
                          <a:latin typeface="Calibri Light"/>
                        </a:rPr>
                        <a:t>19/20</a:t>
                      </a:r>
                    </a:p>
                  </a:txBody>
                  <a:tcPr marT="25400" marB="25400" anchor="ctr">
                    <a:solidFill>
                      <a:srgbClr val="FFFFFF"/>
                    </a:solidFill>
                  </a:tcPr>
                </a:tc>
                <a:tc>
                  <a:txBody>
                    <a:bodyPr/>
                    <a:lstStyle/>
                    <a:p>
                      <a:pPr algn="ctr"/>
                      <a:r>
                        <a:rPr sz="1300" b="0">
                          <a:solidFill>
                            <a:srgbClr val="2E3A48"/>
                          </a:solidFill>
                          <a:latin typeface="Calibri Light"/>
                        </a:rPr>
                        <a:t>7.13</a:t>
                      </a:r>
                    </a:p>
                  </a:txBody>
                  <a:tcPr marT="25400" marB="25400" anchor="ctr">
                    <a:solidFill>
                      <a:srgbClr val="FFFFFF"/>
                    </a:solidFill>
                  </a:tcPr>
                </a:tc>
              </a:tr>
              <a:tr h="365760">
                <a:tc>
                  <a:txBody>
                    <a:bodyPr/>
                    <a:lstStyle/>
                    <a:p>
                      <a:pPr algn="l"/>
                      <a:r>
                        <a:rPr sz="1300" b="0">
                          <a:solidFill>
                            <a:srgbClr val="2E3A48"/>
                          </a:solidFill>
                          <a:latin typeface="Calibri Light"/>
                        </a:rPr>
                        <a:t>+ two-thirds-rate clock</a:t>
                      </a:r>
                    </a:p>
                  </a:txBody>
                  <a:tcPr marT="25400" marB="25400" anchor="ctr">
                    <a:solidFill>
                      <a:srgbClr val="F1F3F6"/>
                    </a:solidFill>
                  </a:tcPr>
                </a:tc>
                <a:tc>
                  <a:txBody>
                    <a:bodyPr/>
                    <a:lstStyle/>
                    <a:p>
                      <a:pPr algn="ctr"/>
                      <a:r>
                        <a:rPr sz="1300" b="0">
                          <a:solidFill>
                            <a:srgbClr val="2E3A48"/>
                          </a:solidFill>
                          <a:latin typeface="Calibri Light"/>
                        </a:rPr>
                        <a:t>19/20</a:t>
                      </a:r>
                    </a:p>
                  </a:txBody>
                  <a:tcPr marT="25400" marB="25400" anchor="ctr">
                    <a:solidFill>
                      <a:srgbClr val="F1F3F6"/>
                    </a:solidFill>
                  </a:tcPr>
                </a:tc>
                <a:tc>
                  <a:txBody>
                    <a:bodyPr/>
                    <a:lstStyle/>
                    <a:p>
                      <a:pPr algn="ctr"/>
                      <a:r>
                        <a:rPr sz="1300" b="0">
                          <a:solidFill>
                            <a:srgbClr val="2E3A48"/>
                          </a:solidFill>
                          <a:latin typeface="Calibri Light"/>
                        </a:rPr>
                        <a:t>6.92</a:t>
                      </a:r>
                    </a:p>
                  </a:txBody>
                  <a:tcPr marT="25400" marB="25400" anchor="ctr">
                    <a:solidFill>
                      <a:srgbClr val="F1F3F6"/>
                    </a:solidFill>
                  </a:tcPr>
                </a:tc>
              </a:tr>
              <a:tr h="365760">
                <a:tc>
                  <a:txBody>
                    <a:bodyPr/>
                    <a:lstStyle/>
                    <a:p>
                      <a:pPr algn="l"/>
                      <a:r>
                        <a:rPr sz="1300" b="0">
                          <a:solidFill>
                            <a:srgbClr val="2E3A48"/>
                          </a:solidFill>
                          <a:latin typeface="Calibri Light"/>
                        </a:rPr>
                        <a:t>+ tuned budget &amp; gate radius</a:t>
                      </a:r>
                    </a:p>
                  </a:txBody>
                  <a:tcPr marT="25400" marB="25400" anchor="ctr">
                    <a:solidFill>
                      <a:srgbClr val="FFFFFF"/>
                    </a:solidFill>
                  </a:tcPr>
                </a:tc>
                <a:tc>
                  <a:txBody>
                    <a:bodyPr/>
                    <a:lstStyle/>
                    <a:p>
                      <a:pPr algn="ctr"/>
                      <a:r>
                        <a:rPr sz="1300" b="0">
                          <a:solidFill>
                            <a:srgbClr val="2E3A48"/>
                          </a:solidFill>
                          <a:latin typeface="Calibri Light"/>
                        </a:rPr>
                        <a:t>20/20</a:t>
                      </a:r>
                    </a:p>
                  </a:txBody>
                  <a:tcPr marT="25400" marB="25400" anchor="ctr">
                    <a:solidFill>
                      <a:srgbClr val="FFFFFF"/>
                    </a:solidFill>
                  </a:tcPr>
                </a:tc>
                <a:tc>
                  <a:txBody>
                    <a:bodyPr/>
                    <a:lstStyle/>
                    <a:p>
                      <a:pPr algn="ctr"/>
                      <a:r>
                        <a:rPr sz="1300" b="0">
                          <a:solidFill>
                            <a:srgbClr val="2E3A48"/>
                          </a:solidFill>
                          <a:latin typeface="Calibri Light"/>
                        </a:rPr>
                        <a:t>6.89</a:t>
                      </a:r>
                    </a:p>
                  </a:txBody>
                  <a:tcPr marT="25400" marB="25400" anchor="ctr">
                    <a:solidFill>
                      <a:srgbClr val="FFFFFF"/>
                    </a:solidFill>
                  </a:tcPr>
                </a:tc>
              </a:tr>
            </a:tbl>
          </a:graphicData>
        </a:graphic>
      </p:graphicFrame>
      <p:sp>
        <p:nvSpPr>
          <p:cNvPr id="10" name="TextBox 9"/>
          <p:cNvSpPr txBox="1"/>
          <p:nvPr/>
        </p:nvSpPr>
        <p:spPr>
          <a:xfrm>
            <a:off x="822960" y="4297680"/>
            <a:ext cx="10515600" cy="1188720"/>
          </a:xfrm>
          <a:prstGeom prst="rect">
            <a:avLst/>
          </a:prstGeom>
          <a:noFill/>
        </p:spPr>
        <p:txBody>
          <a:bodyPr wrap="square" anchor="t">
            <a:spAutoFit/>
          </a:bodyPr>
          <a:lstStyle/>
          <a:p>
            <a:pPr algn="l">
              <a:spcAft>
                <a:spcPts val="600"/>
              </a:spcAft>
            </a:pPr>
            <a:r>
              <a:rPr sz="1600" b="1">
                <a:solidFill>
                  <a:srgbClr val="ED7D31"/>
                </a:solidFill>
                <a:latin typeface="Calibri Light"/>
              </a:rPr>
              <a:t>•  2.6 s faster than the MPC controller, finishes more runs, and needs no solver.</a:t>
            </a:r>
          </a:p>
          <a:p>
            <a:pPr algn="l">
              <a:spcAft>
                <a:spcPts val="600"/>
              </a:spcAft>
            </a:pPr>
            <a:r>
              <a:rPr sz="1500" b="0">
                <a:solidFill>
                  <a:srgbClr val="8A8A8A"/>
                </a:solidFill>
                <a:latin typeface="Calibri Light"/>
              </a:rPr>
              <a:t>•  Low run-to-run spread: the line is the same every run — only the small warp and the clock change.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swald"/>
              </a:rPr>
              <a:t>How we got here</a:t>
            </a:r>
          </a:p>
        </p:txBody>
      </p:sp>
      <p:sp>
        <p:nvSpPr>
          <p:cNvPr id="4" name="Text Placeholder 3"/>
          <p:cNvSpPr>
            <a:spLocks noGrp="1"/>
          </p:cNvSpPr>
          <p:nvPr>
            <p:ph type="body" idx="11" sz="quarter"/>
          </p:nvPr>
        </p:nvSpPr>
        <p:spPr/>
        <p:txBody>
          <a:bodyPr/>
          <a:lstStyle/>
          <a:p>
            <a:r>
              <a:rPr sz="1000">
                <a:solidFill>
                  <a:srgbClr val="8A8A8A"/>
                </a:solidFill>
                <a:latin typeface="Calibri Light"/>
              </a:rPr>
              <a:t>ADR Final Presentation  ·  Hiz &amp; Öztürk</a:t>
            </a:r>
          </a:p>
        </p:txBody>
      </p:sp>
      <p:sp>
        <p:nvSpPr>
          <p:cNvPr id="5" name="Text Placeholder 4"/>
          <p:cNvSpPr>
            <a:spLocks noGrp="1"/>
          </p:cNvSpPr>
          <p:nvPr>
            <p:ph type="body" idx="12" sz="quarter"/>
          </p:nvPr>
        </p:nvSpPr>
        <p:spPr/>
        <p:txBody>
          <a:bodyPr/>
          <a:lstStyle/>
          <a:p>
            <a:r>
              <a:rPr sz="1300" b="1">
                <a:solidFill>
                  <a:srgbClr val="4472C4"/>
                </a:solidFill>
                <a:latin typeface="Oswald"/>
              </a:rPr>
              <a:t>PROJECT TIMELINE</a:t>
            </a:r>
          </a:p>
        </p:txBody>
      </p:sp>
      <p:cxnSp>
        <p:nvCxnSpPr>
          <p:cNvPr id="6" name="Connector 5"/>
          <p:cNvCxnSpPr/>
          <p:nvPr/>
        </p:nvCxnSpPr>
        <p:spPr>
          <a:xfrm>
            <a:off x="822960" y="3383280"/>
            <a:ext cx="10515600" cy="0"/>
          </a:xfrm>
          <a:prstGeom prst="line">
            <a:avLst/>
          </a:prstGeom>
          <a:ln w="38100">
            <a:solidFill>
              <a:srgbClr val="4472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89304" y="3300984"/>
            <a:ext cx="164592" cy="164592"/>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2240280"/>
            <a:ext cx="2103120" cy="960120"/>
          </a:xfrm>
          <a:prstGeom prst="rect">
            <a:avLst/>
          </a:prstGeom>
          <a:noFill/>
        </p:spPr>
        <p:txBody>
          <a:bodyPr wrap="square">
            <a:spAutoFit/>
          </a:bodyPr>
          <a:lstStyle/>
          <a:p>
            <a:pPr algn="ctr"/>
            <a:r>
              <a:rPr sz="1200" b="1">
                <a:solidFill>
                  <a:srgbClr val="2E3A48"/>
                </a:solidFill>
                <a:latin typeface="Calibri Light"/>
              </a:rPr>
              <a:t>Global planner</a:t>
            </a:r>
          </a:p>
          <a:p>
            <a:pPr algn="ctr"/>
            <a:r>
              <a:rPr sz="1200" b="0">
                <a:solidFill>
                  <a:srgbClr val="2E3A48"/>
                </a:solidFill>
                <a:latin typeface="Calibri Light"/>
              </a:rPr>
              <a:t>+ spline</a:t>
            </a:r>
          </a:p>
        </p:txBody>
      </p:sp>
      <p:sp>
        <p:nvSpPr>
          <p:cNvPr id="9" name="Oval 8"/>
          <p:cNvSpPr/>
          <p:nvPr/>
        </p:nvSpPr>
        <p:spPr>
          <a:xfrm>
            <a:off x="3575304" y="3300984"/>
            <a:ext cx="164592" cy="164592"/>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06040" y="3566160"/>
            <a:ext cx="2103120" cy="960120"/>
          </a:xfrm>
          <a:prstGeom prst="rect">
            <a:avLst/>
          </a:prstGeom>
          <a:noFill/>
        </p:spPr>
        <p:txBody>
          <a:bodyPr wrap="square">
            <a:spAutoFit/>
          </a:bodyPr>
          <a:lstStyle/>
          <a:p>
            <a:pPr algn="ctr"/>
            <a:r>
              <a:rPr sz="1200" b="1">
                <a:solidFill>
                  <a:srgbClr val="2E3A48"/>
                </a:solidFill>
                <a:latin typeface="Calibri Light"/>
              </a:rPr>
              <a:t>Time-optimal MPC</a:t>
            </a:r>
          </a:p>
          <a:p>
            <a:pPr algn="ctr"/>
            <a:r>
              <a:rPr sz="1200" b="0">
                <a:solidFill>
                  <a:srgbClr val="2E3A48"/>
                </a:solidFill>
                <a:latin typeface="Calibri Light"/>
              </a:rPr>
              <a:t>(solver in loop)</a:t>
            </a:r>
          </a:p>
        </p:txBody>
      </p:sp>
      <p:sp>
        <p:nvSpPr>
          <p:cNvPr id="11" name="Oval 10"/>
          <p:cNvSpPr/>
          <p:nvPr/>
        </p:nvSpPr>
        <p:spPr>
          <a:xfrm>
            <a:off x="5861304" y="3300984"/>
            <a:ext cx="164592" cy="164592"/>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92040" y="2240280"/>
            <a:ext cx="2103120" cy="960120"/>
          </a:xfrm>
          <a:prstGeom prst="rect">
            <a:avLst/>
          </a:prstGeom>
          <a:noFill/>
        </p:spPr>
        <p:txBody>
          <a:bodyPr wrap="square">
            <a:spAutoFit/>
          </a:bodyPr>
          <a:lstStyle/>
          <a:p>
            <a:pPr algn="ctr"/>
            <a:r>
              <a:rPr sz="1200" b="1">
                <a:solidFill>
                  <a:srgbClr val="2E3A48"/>
                </a:solidFill>
                <a:latin typeface="Calibri Light"/>
              </a:rPr>
              <a:t>MPC flagship</a:t>
            </a:r>
          </a:p>
          <a:p>
            <a:pPr algn="ctr"/>
            <a:r>
              <a:rPr sz="1200" b="0">
                <a:solidFill>
                  <a:srgbClr val="2E3A48"/>
                </a:solidFill>
                <a:latin typeface="Calibri Light"/>
              </a:rPr>
              <a:t>→ flown on hardware</a:t>
            </a:r>
          </a:p>
          <a:p>
            <a:pPr algn="ctr"/>
            <a:r>
              <a:rPr sz="1200" b="0">
                <a:solidFill>
                  <a:srgbClr val="2E3A48"/>
                </a:solidFill>
                <a:latin typeface="Calibri Light"/>
              </a:rPr>
              <a:t>9.55 s</a:t>
            </a:r>
          </a:p>
        </p:txBody>
      </p:sp>
      <p:sp>
        <p:nvSpPr>
          <p:cNvPr id="13" name="Oval 12"/>
          <p:cNvSpPr/>
          <p:nvPr/>
        </p:nvSpPr>
        <p:spPr>
          <a:xfrm>
            <a:off x="8147304" y="3300984"/>
            <a:ext cx="164592" cy="164592"/>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3566160"/>
            <a:ext cx="2103120" cy="960120"/>
          </a:xfrm>
          <a:prstGeom prst="rect">
            <a:avLst/>
          </a:prstGeom>
          <a:noFill/>
        </p:spPr>
        <p:txBody>
          <a:bodyPr wrap="square">
            <a:spAutoFit/>
          </a:bodyPr>
          <a:lstStyle/>
          <a:p>
            <a:pPr algn="ctr"/>
            <a:r>
              <a:rPr sz="1200" b="1">
                <a:solidFill>
                  <a:srgbClr val="2E3A48"/>
                </a:solidFill>
                <a:latin typeface="Calibri Light"/>
              </a:rPr>
              <a:t>Rethink: offline line</a:t>
            </a:r>
          </a:p>
          <a:p>
            <a:pPr algn="ctr"/>
            <a:r>
              <a:rPr sz="1200" b="0">
                <a:solidFill>
                  <a:srgbClr val="2E3A48"/>
                </a:solidFill>
                <a:latin typeface="Calibri Light"/>
              </a:rPr>
              <a:t>+ adaptive clock</a:t>
            </a:r>
          </a:p>
        </p:txBody>
      </p:sp>
      <p:sp>
        <p:nvSpPr>
          <p:cNvPr id="15" name="Oval 14"/>
          <p:cNvSpPr/>
          <p:nvPr/>
        </p:nvSpPr>
        <p:spPr>
          <a:xfrm>
            <a:off x="10433304" y="3300984"/>
            <a:ext cx="164592" cy="164592"/>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240280"/>
            <a:ext cx="2103120" cy="960120"/>
          </a:xfrm>
          <a:prstGeom prst="rect">
            <a:avLst/>
          </a:prstGeom>
          <a:noFill/>
        </p:spPr>
        <p:txBody>
          <a:bodyPr wrap="square">
            <a:spAutoFit/>
          </a:bodyPr>
          <a:lstStyle/>
          <a:p>
            <a:pPr algn="ctr"/>
            <a:r>
              <a:rPr sz="1200" b="1">
                <a:solidFill>
                  <a:srgbClr val="2E3A48"/>
                </a:solidFill>
                <a:latin typeface="Calibri Light"/>
              </a:rPr>
              <a:t>This controller</a:t>
            </a:r>
          </a:p>
          <a:p>
            <a:pPr algn="ctr"/>
            <a:r>
              <a:rPr sz="1200" b="0">
                <a:solidFill>
                  <a:srgbClr val="2E3A48"/>
                </a:solidFill>
                <a:latin typeface="Calibri Light"/>
              </a:rPr>
              <a:t>6.89 s, 20/20 sim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swald"/>
              </a:rPr>
              <a:t>Discussion</a:t>
            </a:r>
          </a:p>
        </p:txBody>
      </p:sp>
      <p:sp>
        <p:nvSpPr>
          <p:cNvPr id="4" name="Text Placeholder 3"/>
          <p:cNvSpPr>
            <a:spLocks noGrp="1"/>
          </p:cNvSpPr>
          <p:nvPr>
            <p:ph type="body" idx="11" sz="quarter"/>
          </p:nvPr>
        </p:nvSpPr>
        <p:spPr/>
        <p:txBody>
          <a:bodyPr/>
          <a:lstStyle/>
          <a:p>
            <a:r>
              <a:rPr sz="1000">
                <a:solidFill>
                  <a:srgbClr val="8A8A8A"/>
                </a:solidFill>
                <a:latin typeface="Calibri Light"/>
              </a:rPr>
              <a:t>ADR Final Presentation  ·  Hiz &amp; Öztürk</a:t>
            </a:r>
          </a:p>
        </p:txBody>
      </p:sp>
      <p:sp>
        <p:nvSpPr>
          <p:cNvPr id="5" name="Text Placeholder 4"/>
          <p:cNvSpPr>
            <a:spLocks noGrp="1"/>
          </p:cNvSpPr>
          <p:nvPr>
            <p:ph type="body" idx="12" sz="quarter"/>
          </p:nvPr>
        </p:nvSpPr>
        <p:spPr/>
        <p:txBody>
          <a:bodyPr/>
          <a:lstStyle/>
          <a:p>
            <a:r>
              <a:rPr sz="1300" b="1">
                <a:solidFill>
                  <a:srgbClr val="4472C4"/>
                </a:solidFill>
                <a:latin typeface="Oswald"/>
              </a:rPr>
              <a:t>DISCUSSION</a:t>
            </a:r>
          </a:p>
        </p:txBody>
      </p:sp>
      <p:sp>
        <p:nvSpPr>
          <p:cNvPr id="6" name="TextBox 5"/>
          <p:cNvSpPr txBox="1"/>
          <p:nvPr/>
        </p:nvSpPr>
        <p:spPr>
          <a:xfrm>
            <a:off x="822960" y="1463040"/>
            <a:ext cx="5212080" cy="4023360"/>
          </a:xfrm>
          <a:prstGeom prst="rect">
            <a:avLst/>
          </a:prstGeom>
          <a:noFill/>
        </p:spPr>
        <p:txBody>
          <a:bodyPr wrap="square" anchor="t">
            <a:spAutoFit/>
          </a:bodyPr>
          <a:lstStyle/>
          <a:p>
            <a:pPr algn="l">
              <a:spcAft>
                <a:spcPts val="600"/>
              </a:spcAft>
            </a:pPr>
            <a:r>
              <a:rPr sz="1600" b="1">
                <a:solidFill>
                  <a:srgbClr val="4472C4"/>
                </a:solidFill>
                <a:latin typeface="Calibri Light"/>
              </a:rPr>
              <a:t>Versus the literature</a:t>
            </a:r>
          </a:p>
          <a:p>
            <a:pPr algn="l">
              <a:spcAft>
                <a:spcPts val="600"/>
              </a:spcAft>
            </a:pPr>
            <a:r>
              <a:rPr sz="1400" b="0">
                <a:solidFill>
                  <a:srgbClr val="2E3A48"/>
                </a:solidFill>
                <a:latin typeface="Calibri Light"/>
              </a:rPr>
              <a:t>•  MPCC++ and RL champions are very fast, but need a solver in the loop or offline training.</a:t>
            </a:r>
          </a:p>
          <a:p>
            <a:pPr algn="l">
              <a:spcAft>
                <a:spcPts val="600"/>
              </a:spcAft>
            </a:pPr>
            <a:r>
              <a:rPr sz="1400" b="0">
                <a:solidFill>
                  <a:srgbClr val="2E3A48"/>
                </a:solidFill>
                <a:latin typeface="Calibri Light"/>
              </a:rPr>
              <a:t>•  We trade a little optimality for a controller that is cheap, deterministic and easy to tune.</a:t>
            </a:r>
          </a:p>
          <a:p>
            <a:pPr algn="l">
              <a:spcAft>
                <a:spcPts val="600"/>
              </a:spcAft>
            </a:pPr>
            <a:r>
              <a:rPr sz="1600" b="1">
                <a:solidFill>
                  <a:srgbClr val="548B43"/>
                </a:solidFill>
                <a:latin typeface="Calibri Light"/>
              </a:rPr>
              <a:t>Advantages</a:t>
            </a:r>
          </a:p>
          <a:p>
            <a:pPr algn="l">
              <a:spcAft>
                <a:spcPts val="600"/>
              </a:spcAft>
            </a:pPr>
            <a:r>
              <a:rPr sz="1400" b="0">
                <a:solidFill>
                  <a:srgbClr val="2E3A48"/>
                </a:solidFill>
                <a:latin typeface="Calibri Light"/>
              </a:rPr>
              <a:t>•  No solver, fixed per-step cost — safe at 50 Hz on modest hardware.</a:t>
            </a:r>
          </a:p>
          <a:p>
            <a:pPr algn="l">
              <a:spcAft>
                <a:spcPts val="600"/>
              </a:spcAft>
            </a:pPr>
            <a:r>
              <a:rPr sz="1400" b="0">
                <a:solidFill>
                  <a:srgbClr val="2E3A48"/>
                </a:solidFill>
                <a:latin typeface="Calibri Light"/>
              </a:rPr>
              <a:t>•  Shape and timing are separate, so each is tuned on its own; low run-to-run spread.</a:t>
            </a:r>
          </a:p>
        </p:txBody>
      </p:sp>
      <p:sp>
        <p:nvSpPr>
          <p:cNvPr id="7" name="TextBox 6"/>
          <p:cNvSpPr txBox="1"/>
          <p:nvPr/>
        </p:nvSpPr>
        <p:spPr>
          <a:xfrm>
            <a:off x="6217920" y="1463040"/>
            <a:ext cx="5120640" cy="4023360"/>
          </a:xfrm>
          <a:prstGeom prst="rect">
            <a:avLst/>
          </a:prstGeom>
          <a:noFill/>
        </p:spPr>
        <p:txBody>
          <a:bodyPr wrap="square" anchor="t">
            <a:spAutoFit/>
          </a:bodyPr>
          <a:lstStyle/>
          <a:p>
            <a:pPr algn="l">
              <a:spcAft>
                <a:spcPts val="600"/>
              </a:spcAft>
            </a:pPr>
            <a:r>
              <a:rPr sz="1600" b="1">
                <a:solidFill>
                  <a:srgbClr val="ED7D31"/>
                </a:solidFill>
                <a:latin typeface="Calibri Light"/>
              </a:rPr>
              <a:t>Limitations</a:t>
            </a:r>
          </a:p>
          <a:p>
            <a:pPr algn="l">
              <a:spcAft>
                <a:spcPts val="600"/>
              </a:spcAft>
            </a:pPr>
            <a:r>
              <a:rPr sz="1400" b="0">
                <a:solidFill>
                  <a:srgbClr val="2E3A48"/>
                </a:solidFill>
                <a:latin typeface="Calibri Light"/>
              </a:rPr>
              <a:t>•  The warp fixes gate position, not gate yaw.</a:t>
            </a:r>
          </a:p>
          <a:p>
            <a:pPr algn="l">
              <a:spcAft>
                <a:spcPts val="600"/>
              </a:spcAft>
            </a:pPr>
            <a:r>
              <a:rPr sz="1400" b="0">
                <a:solidFill>
                  <a:srgbClr val="2E3A48"/>
                </a:solidFill>
                <a:latin typeface="Calibri Light"/>
              </a:rPr>
              <a:t>•  The offline line is tuned per track.</a:t>
            </a:r>
          </a:p>
          <a:p>
            <a:pPr algn="l">
              <a:spcAft>
                <a:spcPts val="600"/>
              </a:spcAft>
            </a:pPr>
            <a:r>
              <a:rPr sz="1400" b="0">
                <a:solidFill>
                  <a:srgbClr val="2E3A48"/>
                </a:solidFill>
                <a:latin typeface="Calibri Light"/>
              </a:rPr>
              <a:t>•  This controller is not yet flown on hardware (predecessor was).</a:t>
            </a:r>
          </a:p>
          <a:p>
            <a:pPr algn="l">
              <a:spcAft>
                <a:spcPts val="600"/>
              </a:spcAft>
            </a:pPr>
            <a:r>
              <a:rPr sz="1600" b="1">
                <a:solidFill>
                  <a:srgbClr val="4472C4"/>
                </a:solidFill>
                <a:latin typeface="Calibri Light"/>
              </a:rPr>
              <a:t>Future work</a:t>
            </a:r>
          </a:p>
          <a:p>
            <a:pPr algn="l">
              <a:spcAft>
                <a:spcPts val="600"/>
              </a:spcAft>
            </a:pPr>
            <a:r>
              <a:rPr sz="1400" b="0">
                <a:solidFill>
                  <a:srgbClr val="2E3A48"/>
                </a:solidFill>
                <a:latin typeface="Calibri Light"/>
              </a:rPr>
              <a:t>•  Warp the revealed yaw; auto-fit the offline offsets; run a hardware 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swald"/>
              </a:rPr>
              <a:t>Takeaway</a:t>
            </a:r>
          </a:p>
        </p:txBody>
      </p:sp>
      <p:sp>
        <p:nvSpPr>
          <p:cNvPr id="4" name="Text Placeholder 3"/>
          <p:cNvSpPr>
            <a:spLocks noGrp="1"/>
          </p:cNvSpPr>
          <p:nvPr>
            <p:ph type="body" idx="11" sz="quarter"/>
          </p:nvPr>
        </p:nvSpPr>
        <p:spPr/>
        <p:txBody>
          <a:bodyPr/>
          <a:lstStyle/>
          <a:p>
            <a:r>
              <a:rPr sz="1000">
                <a:solidFill>
                  <a:srgbClr val="8A8A8A"/>
                </a:solidFill>
                <a:latin typeface="Calibri Light"/>
              </a:rPr>
              <a:t>ADR Final Presentation  ·  Hiz &amp; Öztürk</a:t>
            </a:r>
          </a:p>
        </p:txBody>
      </p:sp>
      <p:sp>
        <p:nvSpPr>
          <p:cNvPr id="5" name="Text Placeholder 4"/>
          <p:cNvSpPr>
            <a:spLocks noGrp="1"/>
          </p:cNvSpPr>
          <p:nvPr>
            <p:ph type="body" idx="12" sz="quarter"/>
          </p:nvPr>
        </p:nvSpPr>
        <p:spPr/>
        <p:txBody>
          <a:bodyPr/>
          <a:lstStyle/>
          <a:p>
            <a:r>
              <a:rPr sz="1300" b="1">
                <a:solidFill>
                  <a:srgbClr val="4472C4"/>
                </a:solidFill>
                <a:latin typeface="Oswald"/>
              </a:rPr>
              <a:t>CONCLUSION</a:t>
            </a:r>
          </a:p>
        </p:txBody>
      </p:sp>
      <p:sp>
        <p:nvSpPr>
          <p:cNvPr id="6" name="Rounded Rectangle 5"/>
          <p:cNvSpPr/>
          <p:nvPr/>
        </p:nvSpPr>
        <p:spPr>
          <a:xfrm>
            <a:off x="1280160" y="2011680"/>
            <a:ext cx="9601200" cy="1371600"/>
          </a:xfrm>
          <a:prstGeom prst="roundRect">
            <a:avLst/>
          </a:prstGeom>
          <a:solidFill>
            <a:srgbClr val="EAEFF7"/>
          </a:solidFill>
          <a:ln w="1587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2200" b="1">
                <a:solidFill>
                  <a:srgbClr val="2E4053"/>
                </a:solidFill>
                <a:latin typeface="Oswald"/>
              </a:rPr>
              <a:t>Split the problem: a fixed shape + an adaptive clock</a:t>
            </a:r>
          </a:p>
          <a:p>
            <a:pPr algn="ctr"/>
            <a:r>
              <a:rPr sz="2200" b="1">
                <a:solidFill>
                  <a:srgbClr val="2E4053"/>
                </a:solidFill>
                <a:latin typeface="Oswald"/>
              </a:rPr>
              <a:t>→ fast and reliable without a solver.</a:t>
            </a:r>
          </a:p>
        </p:txBody>
      </p:sp>
      <p:sp>
        <p:nvSpPr>
          <p:cNvPr id="7" name="TextBox 6"/>
          <p:cNvSpPr txBox="1"/>
          <p:nvPr/>
        </p:nvSpPr>
        <p:spPr>
          <a:xfrm>
            <a:off x="1280160" y="3749039"/>
            <a:ext cx="9601200" cy="1097280"/>
          </a:xfrm>
          <a:prstGeom prst="rect">
            <a:avLst/>
          </a:prstGeom>
          <a:noFill/>
        </p:spPr>
        <p:txBody>
          <a:bodyPr wrap="square" anchor="t">
            <a:spAutoFit/>
          </a:bodyPr>
          <a:lstStyle/>
          <a:p>
            <a:pPr algn="ctr">
              <a:spcAft>
                <a:spcPts val="600"/>
              </a:spcAft>
            </a:pPr>
            <a:r>
              <a:rPr sz="2000" b="1">
                <a:solidFill>
                  <a:srgbClr val="ED7D31"/>
                </a:solidFill>
                <a:latin typeface="Calibri Light"/>
              </a:rPr>
              <a:t>6.89 s  ·  20/20 in simulation      |      9.55 s on the real drone</a:t>
            </a:r>
          </a:p>
        </p:txBody>
      </p:sp>
      <p:sp>
        <p:nvSpPr>
          <p:cNvPr id="8" name="TextBox 7"/>
          <p:cNvSpPr txBox="1"/>
          <p:nvPr/>
        </p:nvSpPr>
        <p:spPr>
          <a:xfrm>
            <a:off x="1280160" y="4754880"/>
            <a:ext cx="9601200" cy="548640"/>
          </a:xfrm>
          <a:prstGeom prst="rect">
            <a:avLst/>
          </a:prstGeom>
          <a:noFill/>
        </p:spPr>
        <p:txBody>
          <a:bodyPr wrap="square" anchor="t">
            <a:spAutoFit/>
          </a:bodyPr>
          <a:lstStyle/>
          <a:p>
            <a:pPr algn="ctr">
              <a:spcAft>
                <a:spcPts val="600"/>
              </a:spcAft>
            </a:pPr>
            <a:r>
              <a:rPr sz="1600" b="0">
                <a:solidFill>
                  <a:srgbClr val="8A8A8A"/>
                </a:solidFill>
                <a:latin typeface="Calibri Light"/>
              </a:rPr>
              <a:t>Thank you — questions?</a:t>
            </a:r>
          </a:p>
        </p:txBody>
      </p:sp>
    </p:spTree>
  </p:cSld>
  <p:clrMapOvr>
    <a:masterClrMapping/>
  </p:clrMapOvr>
</p:sld>
</file>

<file path=ppt/theme/theme1.xml><?xml version="1.0" encoding="utf-8"?>
<a:theme xmlns:a="http://schemas.openxmlformats.org/drawingml/2006/main" name="LSY_template_2025_v3">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Benutzerdefiniert 1">
      <a:majorFont>
        <a:latin typeface="Oswald"/>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15875">
          <a:solidFill>
            <a:schemeClr val="bg1">
              <a:lumMod val="50000"/>
            </a:schemeClr>
          </a:solidFill>
          <a:prstDash val="dash"/>
          <a:headEnd type="oval" w="sm" len="sm"/>
          <a:tailEnd type="stealth" w="lg" len="lg"/>
        </a:ln>
      </a:spPr>
      <a:bodyPr rtlCol="0" anchor="ctr"/>
      <a:lstStyle>
        <a:defPPr algn="ctr">
          <a:defRPr dirty="0"/>
        </a:defPPr>
      </a:lstStyle>
      <a:style>
        <a:lnRef idx="1">
          <a:schemeClr val="accent1"/>
        </a:lnRef>
        <a:fillRef idx="0">
          <a:schemeClr val="accent1"/>
        </a:fillRef>
        <a:effectRef idx="0">
          <a:schemeClr val="accent1"/>
        </a:effectRef>
        <a:fontRef idx="minor">
          <a:schemeClr val="tx1"/>
        </a:fontRef>
      </a:style>
    </a:spDef>
  </a:objectDefaults>
  <a:extraClrSchemeLst/>
  <a:extLst>
    <a:ext uri="{05A4C25C-085E-4340-85A3-A5531E510DB2}">
      <thm15:themeFamily xmlns:thm15="http://schemas.microsoft.com/office/thememl/2012/main" name="LSY_template_2025_v3" id="{72C4A47F-C597-453D-A4D8-A8C5A5E25664}" vid="{2B9D18F7-30E7-4838-8BA8-E950BFA62F8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LSY_template_2025_v3</Template>
  <TotalTime>2</TotalTime>
  <Words>253</Words>
  <Application>Microsoft Office PowerPoint</Application>
  <PresentationFormat>Widescreen</PresentationFormat>
  <Paragraphs>8</Paragraphs>
  <Slides>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Arial</vt:lpstr>
      <vt:lpstr>Calibri</vt:lpstr>
      <vt:lpstr>Calibri Light</vt:lpstr>
      <vt:lpstr>Oswald</vt:lpstr>
      <vt:lpstr>Oswald ExtraLight</vt:lpstr>
      <vt:lpstr>LSY_template_2025_v3</vt:lpstr>
      <vt:lpstr>Progress Presentation: Guidelines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Marcel Rath</dc:creator>
  <cp:lastModifiedBy>Marcel Rath</cp:lastModifiedBy>
  <cp:revision>13</cp:revision>
  <dcterms:created xsi:type="dcterms:W3CDTF">2025-11-18T15:10:33Z</dcterms:created>
  <dcterms:modified xsi:type="dcterms:W3CDTF">2026-06-23T12:38:53Z</dcterms:modified>
</cp:coreProperties>
</file>